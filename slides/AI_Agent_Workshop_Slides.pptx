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welcome. Set expectations: fully hands-on, nobody needs prior agent-building experience, and by 4:00 PM everyone will have run a real agent they built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niche skill for one track — it's relevant whether you end up doing robotics, general ML, or security work. Frame it as: today you're not learning a toy, you're doing the thing companies are currently hiring for, and the numbers back that up — the postings are growing much faster than the talent pool.
Sources: Statista (Growth in AI job postings by specialized skill), jobsbyculture.com (Agentic AI hiring boom 2026), Belitsoft AI agent development forecast 2026 (citing Gartner), Second Talent (Global AI talent shortage statistics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word is 'decide.' In a plain LLM call, you write 100% of the control flow. In an agent, the model itself decides at runtime whether it needs more information before it can answer. That handoff of control is the entire idea — everything else today is detail on top of that one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split that matters most. The intelligence layer is essentially rented — you call an API, Groq runs the model. Almost everything you personally build today is the agentic layer. That's the difference between 'I called an API' and 'I built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this straight onto today's tracks so it's not abstract: the drone agent retrieves a report and decides a priority; the study-group agents chain draft → critique → revise; the cybersecurity agent retrieves login events and decides which ones are suspicious. Same four verbs, three different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 this directly at the Cybersecurity cohort. Today's 'Catch the Intruder' track uses an agent defensively — but as you build it, also think adversarially: what if one of those login-attempt strings were crafted to make the agent do something other than what you intended? You don't need to solve that today, just start noticing it as a category of bug, not just 'wrong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acknowledge the landscape exists (LlamaIndex, raw SDKs, newer frameworks) without detouring into a comparison — the point is LangChain is the most transferable thing to learn today, not that it's the only option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vocabulary — chat model, message, tool, bind_tools, tool_calls — is the exact set of words you'll point at over and over in the code in a minute. Worth saying explicitly: 'there are only four new concepts here, everything else is plain Python you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slide before you switch to walking the actual code live. Tell them: 'I'm going to open the real files now — phase by phase — and everything after this slide is the same five lines of loop logic, so once phase 1 clicks, phases 2 through 4 are just "what got added," not new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this is the file they should have already run before today. If anyone's showing a FAIL right now, this is the moment to fix it, not during the build block. Briefly show the four check_* function names and the pass/fail print style so they recognize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 everything later is a variation of this exact loop. Walk the docstring specifically: 'the model has never seen this function's code, it only ever reads this one sentence to decide when to call it.' Show what happens if you ask it something that doesn't need the tool at all (tool_calls comes back empty) versus something that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'nothing else changed' point explicit — maybe even scroll both files side by side for a second. The takeaway they should walk away with: adding a capability to their track project later is just 'write a function, decorate it, add it to a list,' not a bigger architectural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phases 1–2, where messages = [...] was rebuilt fresh every call — that's why those agents 'forgot' everything instantly. Ask rhetorically: 'what's the simplest possible way to make something remember? Don't throw it away.' That's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pattern every track project actually needs — processing a whole queue of drone reports / login attempts / whatever, not just one item. Point at the QUEUE_EMPTY sentinel as the concrete example of 'how do you tell the agent it's done' — this is the one thing that trips people up when they build their own version, so name it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whichever story matches your own background for the live-code demo at 2:30. Mention the AI track is the most technically ambitious (3 agents) and has a documented fallback to 2 agents if a group is short on time — so nobody should avoid it out of fear of running out of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short pause here for stragglers to get their key. This is also the moment to mention phase_00_setup/check_environment.py again as the way to confirm the key actually works before 2:45.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 mixed-skill room explicitly: 'if you don't finish, that's fine — jump to whichever phase matches your remaining time, phase_00 through phase_04 each work standalone.' Point at the reference_solution/ folder as a 'look here if truly stuck,' not a 'copy this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this as a reveal, not something you mention earlier — let it land. Say something like: 'Everything you've looked at for the last 30 minutes was built this way. If an agent can build the material for teaching you to build agents, think about what's possible once you're the one steering it.' Ties straight back to slide 2 — this isn't a hypothetical hiring trend, it's how this exact session got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follow-up to the reveal on the previous slide -- 'here's literally the method I used.' Frame it as: the skill that actually matters isn't typing code fast, it's giving an agent enough context and enough structure up front that it doesn't need fixing later. Mention explicitly that you often dictate the initial prompt by voice -- the point is capturing everything you know about the problem, not writing elegant prose. This applies to real client/team work, not just today's toy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connection explicitly: this is the exact same phase-based, dependency-ordered thinking as today's phase_00 -&gt; phase_04 boilerplate, just scaled up to real, large projects. The reason this works isn't magic -- it's that the agent always knows which phase it's in, what 'done' means for that phase, and it never has to hold the entire project in its head at once. Encourage them to try this on their own next project, even a class assignment: describe the whole problem, ask for a PLAN.md and a TASKS.md before writing a line of code, then work through it phase by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2:30 live-code demo here. Remind them the cheat sheet is what to keep open on a second screen/phone while building, not something to read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3557"/>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2A9D8F">
              <a:alpha val="12000"/>
            </a:srgbClr>
          </a:solidFill>
          <a:ln/>
        </p:spPr>
      </p:sp>
      <p:sp>
        <p:nvSpPr>
          <p:cNvPr id="3" name="Shape 1"/>
          <p:cNvSpPr/>
          <p:nvPr/>
        </p:nvSpPr>
        <p:spPr>
          <a:xfrm>
            <a:off x="-2103120" y="4480560"/>
            <a:ext cx="3840480" cy="3840480"/>
          </a:xfrm>
          <a:prstGeom prst="ellipse">
            <a:avLst/>
          </a:prstGeom>
          <a:solidFill>
            <a:srgbClr val="2A9D8F">
              <a:alpha val="10000"/>
            </a:srgbClr>
          </a:solidFill>
          <a:ln/>
        </p:spPr>
      </p:sp>
      <p:sp>
        <p:nvSpPr>
          <p:cNvPr id="4" name="Text 2"/>
          <p:cNvSpPr txBox="1"/>
          <p:nvPr/>
        </p:nvSpPr>
        <p:spPr>
          <a:xfrm>
            <a:off x="822960" y="2148840"/>
            <a:ext cx="10515600" cy="1005840"/>
          </a:xfrm>
          <a:prstGeom prst="rect">
            <a:avLst/>
          </a:prstGeom>
          <a:noFill/>
          <a:ln/>
        </p:spPr>
        <p:txBody>
          <a:bodyPr wrap="square" lIns="0" tIns="0" rIns="0" bIns="0" rtlCol="0" anchor="ctr"/>
          <a:lstStyle/>
          <a:p>
            <a:pPr algn="l" indent="0" marL="0">
              <a:buNone/>
            </a:pPr>
            <a:r>
              <a:rPr lang="en-US" sz="4000" b="1" dirty="0">
                <a:solidFill>
                  <a:srgbClr val="FFFFFF"/>
                </a:solidFill>
                <a:latin typeface="Bookman Old Style" pitchFamily="34" charset="0"/>
                <a:ea typeface="Bookman Old Style" pitchFamily="34" charset="-122"/>
                <a:cs typeface="Bookman Old Style" pitchFamily="34" charset="-120"/>
              </a:rPr>
              <a:t>AI AGENT DEVELOPMENT WORKSHOP</a:t>
            </a:r>
            <a:endParaRPr lang="en-US" sz="4000" dirty="0"/>
          </a:p>
        </p:txBody>
      </p:sp>
      <p:sp>
        <p:nvSpPr>
          <p:cNvPr id="5" name="Text 3"/>
          <p:cNvSpPr txBox="1"/>
          <p:nvPr/>
        </p:nvSpPr>
        <p:spPr>
          <a:xfrm>
            <a:off x="822960" y="3063240"/>
            <a:ext cx="10515600" cy="548640"/>
          </a:xfrm>
          <a:prstGeom prst="rect">
            <a:avLst/>
          </a:prstGeom>
          <a:noFill/>
          <a:ln/>
        </p:spPr>
        <p:txBody>
          <a:bodyPr wrap="square" lIns="0" tIns="0" rIns="0" bIns="0" rtlCol="0" anchor="ctr"/>
          <a:lstStyle/>
          <a:p>
            <a:pPr algn="l" indent="0" marL="0">
              <a:buNone/>
            </a:pPr>
            <a:r>
              <a:rPr lang="en-US" sz="2000" i="1" dirty="0">
                <a:solidFill>
                  <a:srgbClr val="D6E4F0"/>
                </a:solidFill>
                <a:latin typeface="Calibri" pitchFamily="34" charset="0"/>
                <a:ea typeface="Calibri" pitchFamily="34" charset="-122"/>
                <a:cs typeface="Calibri" pitchFamily="34" charset="-120"/>
              </a:rPr>
              <a:t>Building your first LLM agent — LangChain + Groq</a:t>
            </a:r>
            <a:endParaRPr lang="en-US" sz="2000" dirty="0"/>
          </a:p>
        </p:txBody>
      </p:sp>
      <p:sp>
        <p:nvSpPr>
          <p:cNvPr id="6" name="Shape 4"/>
          <p:cNvSpPr/>
          <p:nvPr/>
        </p:nvSpPr>
        <p:spPr>
          <a:xfrm>
            <a:off x="822960" y="4160520"/>
            <a:ext cx="146304" cy="146304"/>
          </a:xfrm>
          <a:prstGeom prst="ellipse">
            <a:avLst/>
          </a:prstGeom>
          <a:solidFill>
            <a:srgbClr val="2A9D8F"/>
          </a:solidFill>
          <a:ln/>
        </p:spPr>
      </p:sp>
      <p:sp>
        <p:nvSpPr>
          <p:cNvPr id="7" name="Text 5"/>
          <p:cNvSpPr txBox="1"/>
          <p:nvPr/>
        </p:nvSpPr>
        <p:spPr>
          <a:xfrm>
            <a:off x="1097280" y="4041648"/>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Ing. Luis Felipe Hernández Mora  ·  Universidad de Costa Rica</a:t>
            </a:r>
            <a:endParaRPr lang="en-US" sz="1400" dirty="0"/>
          </a:p>
        </p:txBody>
      </p:sp>
      <p:sp>
        <p:nvSpPr>
          <p:cNvPr id="8" name="Text 6"/>
          <p:cNvSpPr txBox="1"/>
          <p:nvPr/>
        </p:nvSpPr>
        <p:spPr>
          <a:xfrm>
            <a:off x="1097280" y="4315968"/>
            <a:ext cx="8229600" cy="365760"/>
          </a:xfrm>
          <a:prstGeom prst="rect">
            <a:avLst/>
          </a:prstGeom>
          <a:noFill/>
          <a:ln/>
        </p:spPr>
        <p:txBody>
          <a:bodyPr wrap="square" lIns="0" tIns="0" rIns="0" bIns="0" rtlCol="0" anchor="ctr"/>
          <a:lstStyle/>
          <a:p>
            <a:pPr algn="l" indent="0" marL="0">
              <a:buNone/>
            </a:pPr>
            <a:r>
              <a:rPr lang="en-US" sz="1300" dirty="0">
                <a:solidFill>
                  <a:srgbClr val="D6E4F0"/>
                </a:solidFill>
                <a:latin typeface="Calibri" pitchFamily="34" charset="0"/>
                <a:ea typeface="Calibri" pitchFamily="34" charset="-122"/>
                <a:cs typeface="Calibri" pitchFamily="34" charset="-120"/>
              </a:rPr>
              <a:t>Guest session · Amrita University · Sept 9,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D3557"/>
                </a:solidFill>
                <a:latin typeface="Bookman Old Style" pitchFamily="34" charset="0"/>
                <a:ea typeface="Bookman Old Style" pitchFamily="34" charset="-122"/>
                <a:cs typeface="Bookman Old Style" pitchFamily="34" charset="-120"/>
              </a:rPr>
              <a:t>Why this matters</a:t>
            </a:r>
            <a:endParaRPr lang="en-US" sz="3200" dirty="0"/>
          </a:p>
        </p:txBody>
      </p:sp>
      <p:sp>
        <p:nvSpPr>
          <p:cNvPr id="3" name="Shape 1"/>
          <p:cNvSpPr/>
          <p:nvPr/>
        </p:nvSpPr>
        <p:spPr>
          <a:xfrm>
            <a:off x="548640" y="1600200"/>
            <a:ext cx="548640" cy="548640"/>
          </a:xfrm>
          <a:prstGeom prst="ellipse">
            <a:avLst/>
          </a:prstGeom>
          <a:solidFill>
            <a:srgbClr val="1D3557"/>
          </a:solidFill>
          <a:ln/>
        </p:spPr>
      </p:sp>
      <p:sp>
        <p:nvSpPr>
          <p:cNvPr id="4" name="Text 2"/>
          <p:cNvSpPr txBox="1"/>
          <p:nvPr/>
        </p:nvSpPr>
        <p:spPr>
          <a:xfrm>
            <a:off x="548640" y="16002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RO</a:t>
            </a:r>
            <a:endParaRPr lang="en-US" sz="1400" dirty="0"/>
          </a:p>
        </p:txBody>
      </p:sp>
      <p:sp>
        <p:nvSpPr>
          <p:cNvPr id="5" name="Text 3"/>
          <p:cNvSpPr txBox="1"/>
          <p:nvPr/>
        </p:nvSpPr>
        <p:spPr>
          <a:xfrm>
            <a:off x="1298448" y="1572768"/>
            <a:ext cx="5212080" cy="320040"/>
          </a:xfrm>
          <a:prstGeom prst="rect">
            <a:avLst/>
          </a:prstGeom>
          <a:noFill/>
          <a:ln/>
        </p:spPr>
        <p:txBody>
          <a:bodyPr wrap="square" lIns="0" tIns="0" rIns="0" bIns="0" rtlCol="0" anchor="ctr"/>
          <a:lstStyle/>
          <a:p>
            <a:pPr algn="l" indent="0" marL="0">
              <a:buNone/>
            </a:pPr>
            <a:r>
              <a:rPr lang="en-US" sz="1600" b="1" dirty="0">
                <a:solidFill>
                  <a:srgbClr val="1D3557"/>
                </a:solidFill>
                <a:latin typeface="Calibri" pitchFamily="34" charset="0"/>
                <a:ea typeface="Calibri" pitchFamily="34" charset="-122"/>
                <a:cs typeface="Calibri" pitchFamily="34" charset="-120"/>
              </a:rPr>
              <a:t>Robotics</a:t>
            </a:r>
            <a:endParaRPr lang="en-US" sz="1600" dirty="0"/>
          </a:p>
        </p:txBody>
      </p:sp>
      <p:sp>
        <p:nvSpPr>
          <p:cNvPr id="6" name="Text 4"/>
          <p:cNvSpPr txBox="1"/>
          <p:nvPr/>
        </p:nvSpPr>
        <p:spPr>
          <a:xfrm>
            <a:off x="1298448" y="1892808"/>
            <a:ext cx="5303520" cy="685800"/>
          </a:xfrm>
          <a:prstGeom prst="rect">
            <a:avLst/>
          </a:prstGeom>
          <a:noFill/>
          <a:ln/>
        </p:spPr>
        <p:txBody>
          <a:bodyPr wrap="square" lIns="0" tIns="0" rIns="0" bIns="0"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Pairing classical control with LLM-driven decisions</a:t>
            </a:r>
            <a:endParaRPr lang="en-US" sz="1250" dirty="0"/>
          </a:p>
        </p:txBody>
      </p:sp>
      <p:sp>
        <p:nvSpPr>
          <p:cNvPr id="7" name="Shape 5"/>
          <p:cNvSpPr/>
          <p:nvPr/>
        </p:nvSpPr>
        <p:spPr>
          <a:xfrm>
            <a:off x="548640" y="2971800"/>
            <a:ext cx="548640" cy="548640"/>
          </a:xfrm>
          <a:prstGeom prst="ellipse">
            <a:avLst/>
          </a:prstGeom>
          <a:solidFill>
            <a:srgbClr val="1D3557"/>
          </a:solidFill>
          <a:ln/>
        </p:spPr>
      </p:sp>
      <p:sp>
        <p:nvSpPr>
          <p:cNvPr id="8" name="Text 6"/>
          <p:cNvSpPr txBox="1"/>
          <p:nvPr/>
        </p:nvSpPr>
        <p:spPr>
          <a:xfrm>
            <a:off x="548640" y="29718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AI</a:t>
            </a:r>
            <a:endParaRPr lang="en-US" sz="1400" dirty="0"/>
          </a:p>
        </p:txBody>
      </p:sp>
      <p:sp>
        <p:nvSpPr>
          <p:cNvPr id="9" name="Text 7"/>
          <p:cNvSpPr txBox="1"/>
          <p:nvPr/>
        </p:nvSpPr>
        <p:spPr>
          <a:xfrm>
            <a:off x="1298448" y="2944368"/>
            <a:ext cx="5212080" cy="320040"/>
          </a:xfrm>
          <a:prstGeom prst="rect">
            <a:avLst/>
          </a:prstGeom>
          <a:noFill/>
          <a:ln/>
        </p:spPr>
        <p:txBody>
          <a:bodyPr wrap="square" lIns="0" tIns="0" rIns="0" bIns="0" rtlCol="0" anchor="ctr"/>
          <a:lstStyle/>
          <a:p>
            <a:pPr algn="l" indent="0" marL="0">
              <a:buNone/>
            </a:pPr>
            <a:r>
              <a:rPr lang="en-US" sz="1600" b="1" dirty="0">
                <a:solidFill>
                  <a:srgbClr val="1D3557"/>
                </a:solidFill>
                <a:latin typeface="Calibri" pitchFamily="34" charset="0"/>
                <a:ea typeface="Calibri" pitchFamily="34" charset="-122"/>
                <a:cs typeface="Calibri" pitchFamily="34" charset="-120"/>
              </a:rPr>
              <a:t>AI / ML</a:t>
            </a:r>
            <a:endParaRPr lang="en-US" sz="1600" dirty="0"/>
          </a:p>
        </p:txBody>
      </p:sp>
      <p:sp>
        <p:nvSpPr>
          <p:cNvPr id="10" name="Text 8"/>
          <p:cNvSpPr txBox="1"/>
          <p:nvPr/>
        </p:nvSpPr>
        <p:spPr>
          <a:xfrm>
            <a:off x="1298448" y="3264408"/>
            <a:ext cx="5303520" cy="685800"/>
          </a:xfrm>
          <a:prstGeom prst="rect">
            <a:avLst/>
          </a:prstGeom>
          <a:noFill/>
          <a:ln/>
        </p:spPr>
        <p:txBody>
          <a:bodyPr wrap="square" lIns="0" tIns="0" rIns="0" bIns="0"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The role is shifting from “train a model” to “build an agent around one”</a:t>
            </a:r>
            <a:endParaRPr lang="en-US" sz="1250" dirty="0"/>
          </a:p>
        </p:txBody>
      </p:sp>
      <p:sp>
        <p:nvSpPr>
          <p:cNvPr id="11" name="Shape 9"/>
          <p:cNvSpPr/>
          <p:nvPr/>
        </p:nvSpPr>
        <p:spPr>
          <a:xfrm>
            <a:off x="548640" y="4343400"/>
            <a:ext cx="548640" cy="548640"/>
          </a:xfrm>
          <a:prstGeom prst="ellipse">
            <a:avLst/>
          </a:prstGeom>
          <a:solidFill>
            <a:srgbClr val="1D3557"/>
          </a:solidFill>
          <a:ln/>
        </p:spPr>
      </p:sp>
      <p:sp>
        <p:nvSpPr>
          <p:cNvPr id="12" name="Text 10"/>
          <p:cNvSpPr txBox="1"/>
          <p:nvPr/>
        </p:nvSpPr>
        <p:spPr>
          <a:xfrm>
            <a:off x="548640" y="43434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CY</a:t>
            </a:r>
            <a:endParaRPr lang="en-US" sz="1400" dirty="0"/>
          </a:p>
        </p:txBody>
      </p:sp>
      <p:sp>
        <p:nvSpPr>
          <p:cNvPr id="13" name="Text 11"/>
          <p:cNvSpPr txBox="1"/>
          <p:nvPr/>
        </p:nvSpPr>
        <p:spPr>
          <a:xfrm>
            <a:off x="1298448" y="4315968"/>
            <a:ext cx="5212080" cy="320040"/>
          </a:xfrm>
          <a:prstGeom prst="rect">
            <a:avLst/>
          </a:prstGeom>
          <a:noFill/>
          <a:ln/>
        </p:spPr>
        <p:txBody>
          <a:bodyPr wrap="square" lIns="0" tIns="0" rIns="0" bIns="0" rtlCol="0" anchor="ctr"/>
          <a:lstStyle/>
          <a:p>
            <a:pPr algn="l" indent="0" marL="0">
              <a:buNone/>
            </a:pPr>
            <a:r>
              <a:rPr lang="en-US" sz="1600" b="1" dirty="0">
                <a:solidFill>
                  <a:srgbClr val="1D3557"/>
                </a:solidFill>
                <a:latin typeface="Calibri" pitchFamily="34" charset="0"/>
                <a:ea typeface="Calibri" pitchFamily="34" charset="-122"/>
                <a:cs typeface="Calibri" pitchFamily="34" charset="-120"/>
              </a:rPr>
              <a:t>Cybersecurity</a:t>
            </a:r>
            <a:endParaRPr lang="en-US" sz="1600" dirty="0"/>
          </a:p>
        </p:txBody>
      </p:sp>
      <p:sp>
        <p:nvSpPr>
          <p:cNvPr id="14" name="Text 12"/>
          <p:cNvSpPr txBox="1"/>
          <p:nvPr/>
        </p:nvSpPr>
        <p:spPr>
          <a:xfrm>
            <a:off x="1298448" y="4636008"/>
            <a:ext cx="5303520" cy="685800"/>
          </a:xfrm>
          <a:prstGeom prst="rect">
            <a:avLst/>
          </a:prstGeom>
          <a:noFill/>
          <a:ln/>
        </p:spPr>
        <p:txBody>
          <a:bodyPr wrap="square" lIns="0" tIns="0" rIns="0" bIns="0"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Both defending against agents, and building them for defense</a:t>
            </a:r>
            <a:endParaRPr lang="en-US" sz="1250" dirty="0"/>
          </a:p>
        </p:txBody>
      </p:sp>
      <p:sp>
        <p:nvSpPr>
          <p:cNvPr id="15" name="Shape 13"/>
          <p:cNvSpPr/>
          <p:nvPr/>
        </p:nvSpPr>
        <p:spPr>
          <a:xfrm>
            <a:off x="7086600" y="1554480"/>
            <a:ext cx="4480560" cy="4572000"/>
          </a:xfrm>
          <a:prstGeom prst="roundRect">
            <a:avLst>
              <a:gd name="adj" fmla="val 2449"/>
            </a:avLst>
          </a:prstGeom>
          <a:solidFill>
            <a:srgbClr val="F1F5F9"/>
          </a:solidFill>
          <a:ln/>
          <a:effectLst>
            <a:outerShdw sx="100000" sy="100000" kx="0" ky="0" algn="bl" rotWithShape="0" blurRad="76200" dist="25400" dir="5400000">
              <a:srgbClr val="1D3557">
                <a:alpha val="16000"/>
              </a:srgbClr>
            </a:outerShdw>
          </a:effectLst>
        </p:spPr>
      </p:sp>
      <p:sp>
        <p:nvSpPr>
          <p:cNvPr id="16" name="Text 14"/>
          <p:cNvSpPr txBox="1"/>
          <p:nvPr/>
        </p:nvSpPr>
        <p:spPr>
          <a:xfrm>
            <a:off x="7360920" y="1755648"/>
            <a:ext cx="3931920" cy="320040"/>
          </a:xfrm>
          <a:prstGeom prst="rect">
            <a:avLst/>
          </a:prstGeom>
          <a:noFill/>
          <a:ln/>
        </p:spPr>
        <p:txBody>
          <a:bodyPr wrap="square" lIns="0" tIns="0" rIns="0" bIns="0" rtlCol="0" anchor="ctr"/>
          <a:lstStyle/>
          <a:p>
            <a:pPr algn="l" indent="0" marL="0">
              <a:buNone/>
            </a:pPr>
            <a:r>
              <a:rPr lang="en-US" sz="1300" b="1" dirty="0">
                <a:solidFill>
                  <a:srgbClr val="6B7280"/>
                </a:solidFill>
                <a:latin typeface="Calibri" pitchFamily="34" charset="0"/>
                <a:ea typeface="Calibri" pitchFamily="34" charset="-122"/>
                <a:cs typeface="Calibri" pitchFamily="34" charset="-120"/>
              </a:rPr>
              <a:t>The numbers</a:t>
            </a:r>
            <a:endParaRPr lang="en-US" sz="1300" dirty="0"/>
          </a:p>
        </p:txBody>
      </p:sp>
      <p:sp>
        <p:nvSpPr>
          <p:cNvPr id="17" name="Text 15"/>
          <p:cNvSpPr txBox="1"/>
          <p:nvPr/>
        </p:nvSpPr>
        <p:spPr>
          <a:xfrm>
            <a:off x="7360920" y="2148840"/>
            <a:ext cx="3931920" cy="566928"/>
          </a:xfrm>
          <a:prstGeom prst="rect">
            <a:avLst/>
          </a:prstGeom>
          <a:noFill/>
          <a:ln/>
        </p:spPr>
        <p:txBody>
          <a:bodyPr wrap="square" lIns="0" tIns="0" rIns="0" bIns="0" rtlCol="0" anchor="ctr"/>
          <a:lstStyle/>
          <a:p>
            <a:pPr algn="l" indent="0" marL="0">
              <a:buNone/>
            </a:pPr>
            <a:r>
              <a:rPr lang="en-US" sz="3400" b="1" dirty="0">
                <a:solidFill>
                  <a:srgbClr val="2A9D8F"/>
                </a:solidFill>
                <a:latin typeface="Calibri" pitchFamily="34" charset="0"/>
                <a:ea typeface="Calibri" pitchFamily="34" charset="-122"/>
                <a:cs typeface="Calibri" pitchFamily="34" charset="-120"/>
              </a:rPr>
              <a:t>~280%</a:t>
            </a:r>
            <a:endParaRPr lang="en-US" sz="3400" dirty="0"/>
          </a:p>
        </p:txBody>
      </p:sp>
      <p:sp>
        <p:nvSpPr>
          <p:cNvPr id="18" name="Text 16"/>
          <p:cNvSpPr txBox="1"/>
          <p:nvPr/>
        </p:nvSpPr>
        <p:spPr>
          <a:xfrm>
            <a:off x="7360920" y="2679192"/>
            <a:ext cx="3977640" cy="685800"/>
          </a:xfrm>
          <a:prstGeom prst="rect">
            <a:avLst/>
          </a:prstGeom>
          <a:noFill/>
          <a:ln/>
        </p:spPr>
        <p:txBody>
          <a:bodyPr wrap="square" lIns="0" tIns="0" rIns="0" bIns="0" rtlCol="0" anchor="ctr"/>
          <a:lstStyle/>
          <a:p>
            <a:pPr algn="l" indent="0" marL="0">
              <a:buNone/>
            </a:pPr>
            <a:r>
              <a:rPr lang="en-US" sz="1200" dirty="0">
                <a:solidFill>
                  <a:srgbClr val="3A3A3A"/>
                </a:solidFill>
                <a:latin typeface="Calibri" pitchFamily="34" charset="0"/>
                <a:ea typeface="Calibri" pitchFamily="34" charset="-122"/>
                <a:cs typeface="Calibri" pitchFamily="34" charset="-120"/>
              </a:rPr>
              <a:t>growth in “Agentic AI” job postings, 2024 → 2025</a:t>
            </a:r>
            <a:endParaRPr lang="en-US" sz="1200" dirty="0"/>
          </a:p>
        </p:txBody>
      </p:sp>
      <p:sp>
        <p:nvSpPr>
          <p:cNvPr id="19" name="Text 17"/>
          <p:cNvSpPr txBox="1"/>
          <p:nvPr/>
        </p:nvSpPr>
        <p:spPr>
          <a:xfrm>
            <a:off x="7360920" y="3502152"/>
            <a:ext cx="3931920" cy="566928"/>
          </a:xfrm>
          <a:prstGeom prst="rect">
            <a:avLst/>
          </a:prstGeom>
          <a:noFill/>
          <a:ln/>
        </p:spPr>
        <p:txBody>
          <a:bodyPr wrap="square" lIns="0" tIns="0" rIns="0" bIns="0" rtlCol="0" anchor="ctr"/>
          <a:lstStyle/>
          <a:p>
            <a:pPr algn="l" indent="0" marL="0">
              <a:buNone/>
            </a:pPr>
            <a:r>
              <a:rPr lang="en-US" sz="3400" b="1" dirty="0">
                <a:solidFill>
                  <a:srgbClr val="2A9D8F"/>
                </a:solidFill>
                <a:latin typeface="Calibri" pitchFamily="34" charset="0"/>
                <a:ea typeface="Calibri" pitchFamily="34" charset="-122"/>
                <a:cs typeface="Calibri" pitchFamily="34" charset="-120"/>
              </a:rPr>
              <a:t>40%</a:t>
            </a:r>
            <a:endParaRPr lang="en-US" sz="3400" dirty="0"/>
          </a:p>
        </p:txBody>
      </p:sp>
      <p:sp>
        <p:nvSpPr>
          <p:cNvPr id="20" name="Text 18"/>
          <p:cNvSpPr txBox="1"/>
          <p:nvPr/>
        </p:nvSpPr>
        <p:spPr>
          <a:xfrm>
            <a:off x="7360920" y="4032504"/>
            <a:ext cx="3977640" cy="685800"/>
          </a:xfrm>
          <a:prstGeom prst="rect">
            <a:avLst/>
          </a:prstGeom>
          <a:noFill/>
          <a:ln/>
        </p:spPr>
        <p:txBody>
          <a:bodyPr wrap="square" lIns="0" tIns="0" rIns="0" bIns="0" rtlCol="0" anchor="ctr"/>
          <a:lstStyle/>
          <a:p>
            <a:pPr algn="l" indent="0" marL="0">
              <a:buNone/>
            </a:pPr>
            <a:r>
              <a:rPr lang="en-US" sz="1200" dirty="0">
                <a:solidFill>
                  <a:srgbClr val="3A3A3A"/>
                </a:solidFill>
                <a:latin typeface="Calibri" pitchFamily="34" charset="0"/>
                <a:ea typeface="Calibri" pitchFamily="34" charset="-122"/>
                <a:cs typeface="Calibri" pitchFamily="34" charset="-120"/>
              </a:rPr>
              <a:t>of enterprise apps expected to include task-specific agents by end of 2026 (Gartner)</a:t>
            </a:r>
            <a:endParaRPr lang="en-US" sz="1200" dirty="0"/>
          </a:p>
        </p:txBody>
      </p:sp>
      <p:sp>
        <p:nvSpPr>
          <p:cNvPr id="21" name="Text 19"/>
          <p:cNvSpPr txBox="1"/>
          <p:nvPr/>
        </p:nvSpPr>
        <p:spPr>
          <a:xfrm>
            <a:off x="7360920" y="4855464"/>
            <a:ext cx="3931920" cy="566928"/>
          </a:xfrm>
          <a:prstGeom prst="rect">
            <a:avLst/>
          </a:prstGeom>
          <a:noFill/>
          <a:ln/>
        </p:spPr>
        <p:txBody>
          <a:bodyPr wrap="square" lIns="0" tIns="0" rIns="0" bIns="0" rtlCol="0" anchor="ctr"/>
          <a:lstStyle/>
          <a:p>
            <a:pPr algn="l" indent="0" marL="0">
              <a:buNone/>
            </a:pPr>
            <a:r>
              <a:rPr lang="en-US" sz="3400" b="1" dirty="0">
                <a:solidFill>
                  <a:srgbClr val="2A9D8F"/>
                </a:solidFill>
                <a:latin typeface="Calibri" pitchFamily="34" charset="0"/>
                <a:ea typeface="Calibri" pitchFamily="34" charset="-122"/>
                <a:cs typeface="Calibri" pitchFamily="34" charset="-120"/>
              </a:rPr>
              <a:t>3.4×</a:t>
            </a:r>
            <a:endParaRPr lang="en-US" sz="3400" dirty="0"/>
          </a:p>
        </p:txBody>
      </p:sp>
      <p:sp>
        <p:nvSpPr>
          <p:cNvPr id="22" name="Text 20"/>
          <p:cNvSpPr txBox="1"/>
          <p:nvPr/>
        </p:nvSpPr>
        <p:spPr>
          <a:xfrm>
            <a:off x="7360920" y="5385816"/>
            <a:ext cx="3977640" cy="685800"/>
          </a:xfrm>
          <a:prstGeom prst="rect">
            <a:avLst/>
          </a:prstGeom>
          <a:noFill/>
          <a:ln/>
        </p:spPr>
        <p:txBody>
          <a:bodyPr wrap="square" lIns="0" tIns="0" rIns="0" bIns="0" rtlCol="0" anchor="ctr"/>
          <a:lstStyle/>
          <a:p>
            <a:pPr algn="l" indent="0" marL="0">
              <a:buNone/>
            </a:pPr>
            <a:r>
              <a:rPr lang="en-US" sz="1200" dirty="0">
                <a:solidFill>
                  <a:srgbClr val="3A3A3A"/>
                </a:solidFill>
                <a:latin typeface="Calibri" pitchFamily="34" charset="0"/>
                <a:ea typeface="Calibri" pitchFamily="34" charset="-122"/>
                <a:cs typeface="Calibri" pitchFamily="34" charset="-120"/>
              </a:rPr>
              <a:t>open AI-related roles for every qualified candidate right now</a:t>
            </a:r>
            <a:endParaRPr lang="en-US" sz="1200" dirty="0"/>
          </a:p>
        </p:txBody>
      </p:sp>
      <p:sp>
        <p:nvSpPr>
          <p:cNvPr id="23" name="Text 21"/>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24" name="Text 22"/>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2 / 21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D3557"/>
                </a:solidFill>
                <a:latin typeface="Bookman Old Style" pitchFamily="34" charset="0"/>
                <a:ea typeface="Bookman Old Style" pitchFamily="34" charset="-122"/>
                <a:cs typeface="Bookman Old Style" pitchFamily="34" charset="-120"/>
              </a:rPr>
              <a:t>What is an agent? (vs. a plain LLM call)</a:t>
            </a:r>
            <a:endParaRPr lang="en-US" sz="3200" dirty="0"/>
          </a:p>
        </p:txBody>
      </p:sp>
      <p:sp>
        <p:nvSpPr>
          <p:cNvPr id="3" name="Shape 1"/>
          <p:cNvSpPr/>
          <p:nvPr/>
        </p:nvSpPr>
        <p:spPr>
          <a:xfrm>
            <a:off x="548640" y="1600200"/>
            <a:ext cx="5120640" cy="4297680"/>
          </a:xfrm>
          <a:prstGeom prst="roundRect">
            <a:avLst>
              <a:gd name="adj" fmla="val 2553"/>
            </a:avLst>
          </a:prstGeom>
          <a:solidFill>
            <a:srgbClr val="F1F5F9"/>
          </a:solidFill>
          <a:ln/>
          <a:effectLst>
            <a:outerShdw sx="100000" sy="100000" kx="0" ky="0" algn="bl" rotWithShape="0" blurRad="76200" dist="25400" dir="5400000">
              <a:srgbClr val="1D3557">
                <a:alpha val="16000"/>
              </a:srgbClr>
            </a:outerShdw>
          </a:effectLst>
        </p:spPr>
      </p:sp>
      <p:sp>
        <p:nvSpPr>
          <p:cNvPr id="4" name="Text 2"/>
          <p:cNvSpPr txBox="1"/>
          <p:nvPr/>
        </p:nvSpPr>
        <p:spPr>
          <a:xfrm>
            <a:off x="822960" y="1828800"/>
            <a:ext cx="4572000" cy="365760"/>
          </a:xfrm>
          <a:prstGeom prst="rect">
            <a:avLst/>
          </a:prstGeom>
          <a:noFill/>
          <a:ln/>
        </p:spPr>
        <p:txBody>
          <a:bodyPr wrap="square" lIns="0" tIns="0" rIns="0" bIns="0" rtlCol="0" anchor="ctr"/>
          <a:lstStyle/>
          <a:p>
            <a:pPr algn="l" indent="0" marL="0">
              <a:buNone/>
            </a:pPr>
            <a:r>
              <a:rPr lang="en-US" sz="1700" b="1" dirty="0">
                <a:solidFill>
                  <a:srgbClr val="6B7280"/>
                </a:solidFill>
                <a:latin typeface="Calibri" pitchFamily="34" charset="0"/>
                <a:ea typeface="Calibri" pitchFamily="34" charset="-122"/>
                <a:cs typeface="Calibri" pitchFamily="34" charset="-120"/>
              </a:rPr>
              <a:t>A plain LLM call</a:t>
            </a:r>
            <a:endParaRPr lang="en-US" sz="1700" dirty="0"/>
          </a:p>
        </p:txBody>
      </p:sp>
      <p:sp>
        <p:nvSpPr>
          <p:cNvPr id="5" name="Text 3"/>
          <p:cNvSpPr txBox="1"/>
          <p:nvPr/>
        </p:nvSpPr>
        <p:spPr>
          <a:xfrm>
            <a:off x="822960" y="2514600"/>
            <a:ext cx="4572000" cy="502920"/>
          </a:xfrm>
          <a:prstGeom prst="rect">
            <a:avLst/>
          </a:prstGeom>
          <a:noFill/>
          <a:ln/>
        </p:spPr>
        <p:txBody>
          <a:bodyPr wrap="square" lIns="0" tIns="0" rIns="0" bIns="0" rtlCol="0" anchor="ctr"/>
          <a:lstStyle/>
          <a:p>
            <a:pPr algn="ctr" indent="0" marL="0">
              <a:buNone/>
            </a:pPr>
            <a:r>
              <a:rPr lang="en-US" sz="1900" b="1" dirty="0">
                <a:solidFill>
                  <a:srgbClr val="1D3557"/>
                </a:solidFill>
                <a:latin typeface="Calibri" pitchFamily="34" charset="0"/>
                <a:ea typeface="Calibri" pitchFamily="34" charset="-122"/>
                <a:cs typeface="Calibri" pitchFamily="34" charset="-120"/>
              </a:rPr>
              <a:t>Prompt in</a:t>
            </a:r>
            <a:endParaRPr lang="en-US" sz="1900" dirty="0"/>
          </a:p>
        </p:txBody>
      </p:sp>
      <p:sp>
        <p:nvSpPr>
          <p:cNvPr id="6" name="Text 4"/>
          <p:cNvSpPr txBox="1"/>
          <p:nvPr/>
        </p:nvSpPr>
        <p:spPr>
          <a:xfrm>
            <a:off x="822960" y="3063240"/>
            <a:ext cx="4572000" cy="27432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7" name="Text 5"/>
          <p:cNvSpPr txBox="1"/>
          <p:nvPr/>
        </p:nvSpPr>
        <p:spPr>
          <a:xfrm>
            <a:off x="822960" y="3355848"/>
            <a:ext cx="4572000" cy="502920"/>
          </a:xfrm>
          <a:prstGeom prst="rect">
            <a:avLst/>
          </a:prstGeom>
          <a:noFill/>
          <a:ln/>
        </p:spPr>
        <p:txBody>
          <a:bodyPr wrap="square" lIns="0" tIns="0" rIns="0" bIns="0" rtlCol="0" anchor="ctr"/>
          <a:lstStyle/>
          <a:p>
            <a:pPr algn="ctr" indent="0" marL="0">
              <a:buNone/>
            </a:pPr>
            <a:r>
              <a:rPr lang="en-US" sz="1900" b="1" dirty="0">
                <a:solidFill>
                  <a:srgbClr val="1D3557"/>
                </a:solidFill>
                <a:latin typeface="Calibri" pitchFamily="34" charset="0"/>
                <a:ea typeface="Calibri" pitchFamily="34" charset="-122"/>
                <a:cs typeface="Calibri" pitchFamily="34" charset="-120"/>
              </a:rPr>
              <a:t>LLM</a:t>
            </a:r>
            <a:endParaRPr lang="en-US" sz="1900" dirty="0"/>
          </a:p>
        </p:txBody>
      </p:sp>
      <p:sp>
        <p:nvSpPr>
          <p:cNvPr id="8" name="Text 6"/>
          <p:cNvSpPr txBox="1"/>
          <p:nvPr/>
        </p:nvSpPr>
        <p:spPr>
          <a:xfrm>
            <a:off x="822960" y="3904488"/>
            <a:ext cx="4572000" cy="27432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822960" y="4197096"/>
            <a:ext cx="4572000" cy="502920"/>
          </a:xfrm>
          <a:prstGeom prst="rect">
            <a:avLst/>
          </a:prstGeom>
          <a:noFill/>
          <a:ln/>
        </p:spPr>
        <p:txBody>
          <a:bodyPr wrap="square" lIns="0" tIns="0" rIns="0" bIns="0" rtlCol="0" anchor="ctr"/>
          <a:lstStyle/>
          <a:p>
            <a:pPr algn="ctr" indent="0" marL="0">
              <a:buNone/>
            </a:pPr>
            <a:r>
              <a:rPr lang="en-US" sz="1900" b="1" dirty="0">
                <a:solidFill>
                  <a:srgbClr val="1D3557"/>
                </a:solidFill>
                <a:latin typeface="Calibri" pitchFamily="34" charset="0"/>
                <a:ea typeface="Calibri" pitchFamily="34" charset="-122"/>
                <a:cs typeface="Calibri" pitchFamily="34" charset="-120"/>
              </a:rPr>
              <a:t>Text out</a:t>
            </a:r>
            <a:endParaRPr lang="en-US" sz="1900" dirty="0"/>
          </a:p>
        </p:txBody>
      </p:sp>
      <p:sp>
        <p:nvSpPr>
          <p:cNvPr id="10" name="Text 8"/>
          <p:cNvSpPr txBox="1"/>
          <p:nvPr/>
        </p:nvSpPr>
        <p:spPr>
          <a:xfrm>
            <a:off x="822960" y="5349240"/>
            <a:ext cx="4572000"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One shot. Fixed. You write 100% of the control flow.</a:t>
            </a:r>
            <a:endParaRPr lang="en-US" sz="1300" dirty="0"/>
          </a:p>
        </p:txBody>
      </p:sp>
      <p:sp>
        <p:nvSpPr>
          <p:cNvPr id="11" name="Shape 9"/>
          <p:cNvSpPr/>
          <p:nvPr/>
        </p:nvSpPr>
        <p:spPr>
          <a:xfrm>
            <a:off x="5989320" y="1600200"/>
            <a:ext cx="5623560" cy="4297680"/>
          </a:xfrm>
          <a:prstGeom prst="roundRect">
            <a:avLst>
              <a:gd name="adj" fmla="val 2553"/>
            </a:avLst>
          </a:prstGeom>
          <a:solidFill>
            <a:srgbClr val="1D3557"/>
          </a:solidFill>
          <a:ln/>
          <a:effectLst>
            <a:outerShdw sx="100000" sy="100000" kx="0" ky="0" algn="bl" rotWithShape="0" blurRad="76200" dist="25400" dir="5400000">
              <a:srgbClr val="1D3557">
                <a:alpha val="16000"/>
              </a:srgbClr>
            </a:outerShdw>
          </a:effectLst>
        </p:spPr>
      </p:sp>
      <p:sp>
        <p:nvSpPr>
          <p:cNvPr id="12" name="Text 10"/>
          <p:cNvSpPr txBox="1"/>
          <p:nvPr/>
        </p:nvSpPr>
        <p:spPr>
          <a:xfrm>
            <a:off x="6263640" y="1828800"/>
            <a:ext cx="5029200" cy="365760"/>
          </a:xfrm>
          <a:prstGeom prst="rect">
            <a:avLst/>
          </a:prstGeom>
          <a:noFill/>
          <a:ln/>
        </p:spPr>
        <p:txBody>
          <a:bodyPr wrap="square" lIns="0" tIns="0" rIns="0" bIns="0" rtlCol="0" anchor="ctr"/>
          <a:lstStyle/>
          <a:p>
            <a:pPr algn="l" indent="0" marL="0">
              <a:buNone/>
            </a:pPr>
            <a:r>
              <a:rPr lang="en-US" sz="1700" b="1" dirty="0">
                <a:solidFill>
                  <a:srgbClr val="D6E4F0"/>
                </a:solidFill>
                <a:latin typeface="Calibri" pitchFamily="34" charset="0"/>
                <a:ea typeface="Calibri" pitchFamily="34" charset="-122"/>
                <a:cs typeface="Calibri" pitchFamily="34" charset="-120"/>
              </a:rPr>
              <a:t>An agent</a:t>
            </a:r>
            <a:endParaRPr lang="en-US" sz="1700" dirty="0"/>
          </a:p>
        </p:txBody>
      </p:sp>
      <p:sp>
        <p:nvSpPr>
          <p:cNvPr id="13" name="Text 11"/>
          <p:cNvSpPr txBox="1"/>
          <p:nvPr/>
        </p:nvSpPr>
        <p:spPr>
          <a:xfrm>
            <a:off x="6263640" y="2331720"/>
            <a:ext cx="502920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Input</a:t>
            </a:r>
            <a:endParaRPr lang="en-US" sz="1600" dirty="0"/>
          </a:p>
        </p:txBody>
      </p:sp>
      <p:sp>
        <p:nvSpPr>
          <p:cNvPr id="14" name="Text 12"/>
          <p:cNvSpPr txBox="1"/>
          <p:nvPr/>
        </p:nvSpPr>
        <p:spPr>
          <a:xfrm>
            <a:off x="6263640" y="2715768"/>
            <a:ext cx="5029200" cy="219456"/>
          </a:xfrm>
          <a:prstGeom prst="rect">
            <a:avLst/>
          </a:prstGeom>
          <a:noFill/>
          <a:ln/>
        </p:spPr>
        <p:txBody>
          <a:bodyPr wrap="square" lIns="0" tIns="0" rIns="0" bIns="0" rtlCol="0" anchor="ctr"/>
          <a:lstStyle/>
          <a:p>
            <a:pPr algn="ctr" indent="0" marL="0">
              <a:buNone/>
            </a:pPr>
            <a:r>
              <a:rPr lang="en-US" sz="1400" dirty="0">
                <a:solidFill>
                  <a:srgbClr val="D6E4F0"/>
                </a:solidFill>
                <a:latin typeface="Calibri" pitchFamily="34" charset="0"/>
                <a:ea typeface="Calibri" pitchFamily="34" charset="-122"/>
                <a:cs typeface="Calibri" pitchFamily="34" charset="-120"/>
              </a:rPr>
              <a:t>↓</a:t>
            </a:r>
            <a:endParaRPr lang="en-US" sz="1400" dirty="0"/>
          </a:p>
        </p:txBody>
      </p:sp>
      <p:sp>
        <p:nvSpPr>
          <p:cNvPr id="15" name="Text 13"/>
          <p:cNvSpPr txBox="1"/>
          <p:nvPr/>
        </p:nvSpPr>
        <p:spPr>
          <a:xfrm>
            <a:off x="6263640" y="2953512"/>
            <a:ext cx="5029200" cy="365760"/>
          </a:xfrm>
          <a:prstGeom prst="rect">
            <a:avLst/>
          </a:prstGeom>
          <a:noFill/>
          <a:ln/>
        </p:spPr>
        <p:txBody>
          <a:bodyPr wrap="square" lIns="0" tIns="0" rIns="0" bIns="0" rtlCol="0" anchor="ctr"/>
          <a:lstStyle/>
          <a:p>
            <a:pPr algn="ctr" indent="0" marL="0">
              <a:buNone/>
            </a:pPr>
            <a:r>
              <a:rPr lang="en-US" sz="1600" b="1" dirty="0">
                <a:solidFill>
                  <a:srgbClr val="6FD3C4"/>
                </a:solidFill>
                <a:latin typeface="Calibri" pitchFamily="34" charset="0"/>
                <a:ea typeface="Calibri" pitchFamily="34" charset="-122"/>
                <a:cs typeface="Calibri" pitchFamily="34" charset="-120"/>
              </a:rPr>
              <a:t>LLM decides</a:t>
            </a:r>
            <a:endParaRPr lang="en-US" sz="1600" dirty="0"/>
          </a:p>
        </p:txBody>
      </p:sp>
      <p:sp>
        <p:nvSpPr>
          <p:cNvPr id="16" name="Text 14"/>
          <p:cNvSpPr txBox="1"/>
          <p:nvPr/>
        </p:nvSpPr>
        <p:spPr>
          <a:xfrm>
            <a:off x="6263640" y="3337560"/>
            <a:ext cx="5029200" cy="219456"/>
          </a:xfrm>
          <a:prstGeom prst="rect">
            <a:avLst/>
          </a:prstGeom>
          <a:noFill/>
          <a:ln/>
        </p:spPr>
        <p:txBody>
          <a:bodyPr wrap="square" lIns="0" tIns="0" rIns="0" bIns="0" rtlCol="0" anchor="ctr"/>
          <a:lstStyle/>
          <a:p>
            <a:pPr algn="ctr" indent="0" marL="0">
              <a:buNone/>
            </a:pPr>
            <a:r>
              <a:rPr lang="en-US" sz="1400" dirty="0">
                <a:solidFill>
                  <a:srgbClr val="D6E4F0"/>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263640" y="3575304"/>
            <a:ext cx="502920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Tool call → result</a:t>
            </a:r>
            <a:endParaRPr lang="en-US" sz="1600" dirty="0"/>
          </a:p>
        </p:txBody>
      </p:sp>
      <p:sp>
        <p:nvSpPr>
          <p:cNvPr id="18" name="Text 16"/>
          <p:cNvSpPr txBox="1"/>
          <p:nvPr/>
        </p:nvSpPr>
        <p:spPr>
          <a:xfrm>
            <a:off x="6263640" y="3959352"/>
            <a:ext cx="5029200" cy="219456"/>
          </a:xfrm>
          <a:prstGeom prst="rect">
            <a:avLst/>
          </a:prstGeom>
          <a:noFill/>
          <a:ln/>
        </p:spPr>
        <p:txBody>
          <a:bodyPr wrap="square" lIns="0" tIns="0" rIns="0" bIns="0" rtlCol="0" anchor="ctr"/>
          <a:lstStyle/>
          <a:p>
            <a:pPr algn="ctr" indent="0" marL="0">
              <a:buNone/>
            </a:pPr>
            <a:r>
              <a:rPr lang="en-US" sz="1400" dirty="0">
                <a:solidFill>
                  <a:srgbClr val="D6E4F0"/>
                </a:solidFill>
                <a:latin typeface="Calibri" pitchFamily="34" charset="0"/>
                <a:ea typeface="Calibri" pitchFamily="34" charset="-122"/>
                <a:cs typeface="Calibri" pitchFamily="34" charset="-120"/>
              </a:rPr>
              <a:t>↓</a:t>
            </a:r>
            <a:endParaRPr lang="en-US" sz="1400" dirty="0"/>
          </a:p>
        </p:txBody>
      </p:sp>
      <p:sp>
        <p:nvSpPr>
          <p:cNvPr id="19" name="Text 17"/>
          <p:cNvSpPr txBox="1"/>
          <p:nvPr/>
        </p:nvSpPr>
        <p:spPr>
          <a:xfrm>
            <a:off x="6263640" y="4197096"/>
            <a:ext cx="5029200" cy="365760"/>
          </a:xfrm>
          <a:prstGeom prst="rect">
            <a:avLst/>
          </a:prstGeom>
          <a:noFill/>
          <a:ln/>
        </p:spPr>
        <p:txBody>
          <a:bodyPr wrap="square" lIns="0" tIns="0" rIns="0" bIns="0" rtlCol="0" anchor="ctr"/>
          <a:lstStyle/>
          <a:p>
            <a:pPr algn="ctr" indent="0" marL="0">
              <a:buNone/>
            </a:pPr>
            <a:r>
              <a:rPr lang="en-US" sz="1600" b="1" dirty="0">
                <a:solidFill>
                  <a:srgbClr val="6FD3C4"/>
                </a:solidFill>
                <a:latin typeface="Calibri" pitchFamily="34" charset="0"/>
                <a:ea typeface="Calibri" pitchFamily="34" charset="-122"/>
                <a:cs typeface="Calibri" pitchFamily="34" charset="-120"/>
              </a:rPr>
              <a:t>LLM decides again</a:t>
            </a:r>
            <a:endParaRPr lang="en-US" sz="1600" dirty="0"/>
          </a:p>
        </p:txBody>
      </p:sp>
      <p:sp>
        <p:nvSpPr>
          <p:cNvPr id="20" name="Text 18"/>
          <p:cNvSpPr txBox="1"/>
          <p:nvPr/>
        </p:nvSpPr>
        <p:spPr>
          <a:xfrm>
            <a:off x="6263640" y="4581144"/>
            <a:ext cx="5029200" cy="219456"/>
          </a:xfrm>
          <a:prstGeom prst="rect">
            <a:avLst/>
          </a:prstGeom>
          <a:noFill/>
          <a:ln/>
        </p:spPr>
        <p:txBody>
          <a:bodyPr wrap="square" lIns="0" tIns="0" rIns="0" bIns="0" rtlCol="0" anchor="ctr"/>
          <a:lstStyle/>
          <a:p>
            <a:pPr algn="ctr" indent="0" marL="0">
              <a:buNone/>
            </a:pPr>
            <a:r>
              <a:rPr lang="en-US" sz="1400" dirty="0">
                <a:solidFill>
                  <a:srgbClr val="D6E4F0"/>
                </a:solidFill>
                <a:latin typeface="Calibri" pitchFamily="34" charset="0"/>
                <a:ea typeface="Calibri" pitchFamily="34" charset="-122"/>
                <a:cs typeface="Calibri" pitchFamily="34" charset="-120"/>
              </a:rPr>
              <a:t>↓</a:t>
            </a:r>
            <a:endParaRPr lang="en-US" sz="1400" dirty="0"/>
          </a:p>
        </p:txBody>
      </p:sp>
      <p:sp>
        <p:nvSpPr>
          <p:cNvPr id="21" name="Text 19"/>
          <p:cNvSpPr txBox="1"/>
          <p:nvPr/>
        </p:nvSpPr>
        <p:spPr>
          <a:xfrm>
            <a:off x="6263640" y="4818888"/>
            <a:ext cx="502920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Final answer</a:t>
            </a:r>
            <a:endParaRPr lang="en-US" sz="1600" dirty="0"/>
          </a:p>
        </p:txBody>
      </p:sp>
      <p:sp>
        <p:nvSpPr>
          <p:cNvPr id="22" name="Text 20"/>
          <p:cNvSpPr txBox="1"/>
          <p:nvPr/>
        </p:nvSpPr>
        <p:spPr>
          <a:xfrm>
            <a:off x="548640" y="5989320"/>
            <a:ext cx="11064240" cy="365760"/>
          </a:xfrm>
          <a:prstGeom prst="rect">
            <a:avLst/>
          </a:prstGeom>
          <a:noFill/>
          <a:ln/>
        </p:spPr>
        <p:txBody>
          <a:bodyPr wrap="square" lIns="0" tIns="0" rIns="0" bIns="0" rtlCol="0" anchor="ctr"/>
          <a:lstStyle/>
          <a:p>
            <a:pPr algn="ctr" indent="0" marL="0">
              <a:buNone/>
            </a:pPr>
            <a:r>
              <a:rPr lang="en-US" sz="1500" b="1" i="1" dirty="0">
                <a:solidFill>
                  <a:srgbClr val="1D3557"/>
                </a:solidFill>
                <a:latin typeface="Calibri" pitchFamily="34" charset="0"/>
                <a:ea typeface="Calibri" pitchFamily="34" charset="-122"/>
                <a:cs typeface="Calibri" pitchFamily="34" charset="-120"/>
              </a:rPr>
              <a:t>The key word is “decide.”</a:t>
            </a:r>
            <a:endParaRPr lang="en-US" sz="1500" dirty="0"/>
          </a:p>
        </p:txBody>
      </p:sp>
      <p:sp>
        <p:nvSpPr>
          <p:cNvPr id="23" name="Text 21"/>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24" name="Text 22"/>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3 / 21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D3557"/>
                </a:solidFill>
                <a:latin typeface="Bookman Old Style" pitchFamily="34" charset="0"/>
                <a:ea typeface="Bookman Old Style" pitchFamily="34" charset="-122"/>
                <a:cs typeface="Bookman Old Style" pitchFamily="34" charset="-120"/>
              </a:rPr>
              <a:t>The two layers</a:t>
            </a:r>
            <a:endParaRPr lang="en-US" sz="3200" dirty="0"/>
          </a:p>
        </p:txBody>
      </p:sp>
      <p:sp>
        <p:nvSpPr>
          <p:cNvPr id="3" name="Shape 1"/>
          <p:cNvSpPr/>
          <p:nvPr/>
        </p:nvSpPr>
        <p:spPr>
          <a:xfrm>
            <a:off x="548640" y="1691640"/>
            <a:ext cx="5394960" cy="4206240"/>
          </a:xfrm>
          <a:prstGeom prst="roundRect">
            <a:avLst>
              <a:gd name="adj" fmla="val 2609"/>
            </a:avLst>
          </a:prstGeom>
          <a:solidFill>
            <a:srgbClr val="F1F5F9"/>
          </a:solidFill>
          <a:ln/>
          <a:effectLst>
            <a:outerShdw sx="100000" sy="100000" kx="0" ky="0" algn="bl" rotWithShape="0" blurRad="76200" dist="25400" dir="5400000">
              <a:srgbClr val="1D3557">
                <a:alpha val="16000"/>
              </a:srgbClr>
            </a:outerShdw>
          </a:effectLst>
        </p:spPr>
      </p:sp>
      <p:sp>
        <p:nvSpPr>
          <p:cNvPr id="4" name="Shape 2"/>
          <p:cNvSpPr/>
          <p:nvPr/>
        </p:nvSpPr>
        <p:spPr>
          <a:xfrm>
            <a:off x="868680" y="1965960"/>
            <a:ext cx="566928" cy="566928"/>
          </a:xfrm>
          <a:prstGeom prst="ellipse">
            <a:avLst/>
          </a:prstGeom>
          <a:solidFill>
            <a:srgbClr val="1D3557"/>
          </a:solidFill>
          <a:ln/>
        </p:spPr>
      </p:sp>
      <p:sp>
        <p:nvSpPr>
          <p:cNvPr id="5" name="Text 3"/>
          <p:cNvSpPr txBox="1"/>
          <p:nvPr/>
        </p:nvSpPr>
        <p:spPr>
          <a:xfrm>
            <a:off x="868680" y="1965960"/>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LLM</a:t>
            </a:r>
            <a:endParaRPr lang="en-US" sz="1200" dirty="0"/>
          </a:p>
        </p:txBody>
      </p:sp>
      <p:sp>
        <p:nvSpPr>
          <p:cNvPr id="6" name="Text 4"/>
          <p:cNvSpPr txBox="1"/>
          <p:nvPr/>
        </p:nvSpPr>
        <p:spPr>
          <a:xfrm>
            <a:off x="1600200" y="2011680"/>
            <a:ext cx="4114800" cy="365760"/>
          </a:xfrm>
          <a:prstGeom prst="rect">
            <a:avLst/>
          </a:prstGeom>
          <a:noFill/>
          <a:ln/>
        </p:spPr>
        <p:txBody>
          <a:bodyPr wrap="square" lIns="0" tIns="0" rIns="0" bIns="0" rtlCol="0" anchor="ctr"/>
          <a:lstStyle/>
          <a:p>
            <a:pPr algn="l" indent="0" marL="0">
              <a:buNone/>
            </a:pPr>
            <a:r>
              <a:rPr lang="en-US" sz="1700" b="1" dirty="0">
                <a:solidFill>
                  <a:srgbClr val="1D3557"/>
                </a:solidFill>
                <a:latin typeface="Calibri" pitchFamily="34" charset="0"/>
                <a:ea typeface="Calibri" pitchFamily="34" charset="-122"/>
                <a:cs typeface="Calibri" pitchFamily="34" charset="-120"/>
              </a:rPr>
              <a:t>Intelligence layer</a:t>
            </a:r>
            <a:endParaRPr lang="en-US" sz="1700" dirty="0"/>
          </a:p>
        </p:txBody>
      </p:sp>
      <p:sp>
        <p:nvSpPr>
          <p:cNvPr id="7" name="Text 5"/>
          <p:cNvSpPr txBox="1"/>
          <p:nvPr/>
        </p:nvSpPr>
        <p:spPr>
          <a:xfrm>
            <a:off x="868680" y="2697480"/>
            <a:ext cx="4754880" cy="640080"/>
          </a:xfrm>
          <a:prstGeom prst="rect">
            <a:avLst/>
          </a:prstGeom>
          <a:noFill/>
          <a:ln/>
        </p:spPr>
        <p:txBody>
          <a:bodyPr wrap="square" lIns="0" tIns="0" rIns="0" bIns="0" rtlCol="0" anchor="ctr"/>
          <a:lstStyle/>
          <a:p>
            <a:pPr algn="l" indent="0" marL="0">
              <a:buNone/>
            </a:pPr>
            <a:r>
              <a:rPr lang="en-US" sz="1400" dirty="0">
                <a:solidFill>
                  <a:srgbClr val="3A3A3A"/>
                </a:solidFill>
                <a:latin typeface="Calibri" pitchFamily="34" charset="0"/>
                <a:ea typeface="Calibri" pitchFamily="34" charset="-122"/>
                <a:cs typeface="Calibri" pitchFamily="34" charset="-120"/>
              </a:rPr>
              <a:t>The LLM itself: language understanding, reasoning.</a:t>
            </a:r>
            <a:endParaRPr lang="en-US" sz="1400" dirty="0"/>
          </a:p>
        </p:txBody>
      </p:sp>
      <p:sp>
        <p:nvSpPr>
          <p:cNvPr id="8" name="Text 6"/>
          <p:cNvSpPr txBox="1"/>
          <p:nvPr/>
        </p:nvSpPr>
        <p:spPr>
          <a:xfrm>
            <a:off x="868680" y="5394960"/>
            <a:ext cx="4754880" cy="365760"/>
          </a:xfrm>
          <a:prstGeom prst="rect">
            <a:avLst/>
          </a:prstGeom>
          <a:noFill/>
          <a:ln/>
        </p:spPr>
        <p:txBody>
          <a:bodyPr wrap="square" lIns="0" tIns="0" rIns="0" bIns="0" rtlCol="0" anchor="ctr"/>
          <a:lstStyle/>
          <a:p>
            <a:pPr algn="l" indent="0" marL="0">
              <a:buNone/>
            </a:pPr>
            <a:r>
              <a:rPr lang="en-US" sz="1250" b="1" i="1" dirty="0">
                <a:solidFill>
                  <a:srgbClr val="2A9D8F"/>
                </a:solidFill>
                <a:latin typeface="Calibri" pitchFamily="34" charset="0"/>
                <a:ea typeface="Calibri" pitchFamily="34" charset="-122"/>
                <a:cs typeface="Calibri" pitchFamily="34" charset="-120"/>
              </a:rPr>
              <a:t>Today: Groq-hosted Llama models</a:t>
            </a:r>
            <a:endParaRPr lang="en-US" sz="1250" dirty="0"/>
          </a:p>
        </p:txBody>
      </p:sp>
      <p:sp>
        <p:nvSpPr>
          <p:cNvPr id="9" name="Shape 7"/>
          <p:cNvSpPr/>
          <p:nvPr/>
        </p:nvSpPr>
        <p:spPr>
          <a:xfrm>
            <a:off x="6263640" y="1691640"/>
            <a:ext cx="5394960" cy="4206240"/>
          </a:xfrm>
          <a:prstGeom prst="roundRect">
            <a:avLst>
              <a:gd name="adj" fmla="val 2609"/>
            </a:avLst>
          </a:prstGeom>
          <a:solidFill>
            <a:srgbClr val="1D3557"/>
          </a:solidFill>
          <a:ln/>
          <a:effectLst>
            <a:outerShdw sx="100000" sy="100000" kx="0" ky="0" algn="bl" rotWithShape="0" blurRad="76200" dist="25400" dir="5400000">
              <a:srgbClr val="1D3557">
                <a:alpha val="16000"/>
              </a:srgbClr>
            </a:outerShdw>
          </a:effectLst>
        </p:spPr>
      </p:sp>
      <p:sp>
        <p:nvSpPr>
          <p:cNvPr id="10" name="Shape 8"/>
          <p:cNvSpPr/>
          <p:nvPr/>
        </p:nvSpPr>
        <p:spPr>
          <a:xfrm>
            <a:off x="6583680" y="1965960"/>
            <a:ext cx="566928" cy="566928"/>
          </a:xfrm>
          <a:prstGeom prst="ellipse">
            <a:avLst/>
          </a:prstGeom>
          <a:solidFill>
            <a:srgbClr val="2A9D8F"/>
          </a:solidFill>
          <a:ln/>
        </p:spPr>
      </p:sp>
      <p:sp>
        <p:nvSpPr>
          <p:cNvPr id="11" name="Text 9"/>
          <p:cNvSpPr txBox="1"/>
          <p:nvPr/>
        </p:nvSpPr>
        <p:spPr>
          <a:xfrm>
            <a:off x="6583680" y="196596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&lt;/&gt;</a:t>
            </a:r>
            <a:endParaRPr lang="en-US" sz="1300" dirty="0"/>
          </a:p>
        </p:txBody>
      </p:sp>
      <p:sp>
        <p:nvSpPr>
          <p:cNvPr id="12" name="Text 10"/>
          <p:cNvSpPr txBox="1"/>
          <p:nvPr/>
        </p:nvSpPr>
        <p:spPr>
          <a:xfrm>
            <a:off x="7315200" y="2011680"/>
            <a:ext cx="4114800" cy="36576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Agentic layer</a:t>
            </a:r>
            <a:endParaRPr lang="en-US" sz="1700" dirty="0"/>
          </a:p>
        </p:txBody>
      </p:sp>
      <p:sp>
        <p:nvSpPr>
          <p:cNvPr id="13" name="Shape 11"/>
          <p:cNvSpPr/>
          <p:nvPr/>
        </p:nvSpPr>
        <p:spPr>
          <a:xfrm>
            <a:off x="6583680" y="2779776"/>
            <a:ext cx="100584" cy="100584"/>
          </a:xfrm>
          <a:prstGeom prst="ellipse">
            <a:avLst/>
          </a:prstGeom>
          <a:solidFill>
            <a:srgbClr val="2A9D8F"/>
          </a:solidFill>
          <a:ln/>
        </p:spPr>
      </p:sp>
      <p:sp>
        <p:nvSpPr>
          <p:cNvPr id="14" name="Text 12"/>
          <p:cNvSpPr txBox="1"/>
          <p:nvPr/>
        </p:nvSpPr>
        <p:spPr>
          <a:xfrm>
            <a:off x="6839712" y="2642616"/>
            <a:ext cx="4498848"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Tools</a:t>
            </a:r>
            <a:endParaRPr lang="en-US" sz="1400" dirty="0"/>
          </a:p>
        </p:txBody>
      </p:sp>
      <p:sp>
        <p:nvSpPr>
          <p:cNvPr id="15" name="Shape 13"/>
          <p:cNvSpPr/>
          <p:nvPr/>
        </p:nvSpPr>
        <p:spPr>
          <a:xfrm>
            <a:off x="6583680" y="3236976"/>
            <a:ext cx="100584" cy="100584"/>
          </a:xfrm>
          <a:prstGeom prst="ellipse">
            <a:avLst/>
          </a:prstGeom>
          <a:solidFill>
            <a:srgbClr val="2A9D8F"/>
          </a:solidFill>
          <a:ln/>
        </p:spPr>
      </p:sp>
      <p:sp>
        <p:nvSpPr>
          <p:cNvPr id="16" name="Text 14"/>
          <p:cNvSpPr txBox="1"/>
          <p:nvPr/>
        </p:nvSpPr>
        <p:spPr>
          <a:xfrm>
            <a:off x="6839712" y="3099816"/>
            <a:ext cx="4498848"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Memory</a:t>
            </a:r>
            <a:endParaRPr lang="en-US" sz="1400" dirty="0"/>
          </a:p>
        </p:txBody>
      </p:sp>
      <p:sp>
        <p:nvSpPr>
          <p:cNvPr id="17" name="Shape 15"/>
          <p:cNvSpPr/>
          <p:nvPr/>
        </p:nvSpPr>
        <p:spPr>
          <a:xfrm>
            <a:off x="6583680" y="3694176"/>
            <a:ext cx="100584" cy="100584"/>
          </a:xfrm>
          <a:prstGeom prst="ellipse">
            <a:avLst/>
          </a:prstGeom>
          <a:solidFill>
            <a:srgbClr val="2A9D8F"/>
          </a:solidFill>
          <a:ln/>
        </p:spPr>
      </p:sp>
      <p:sp>
        <p:nvSpPr>
          <p:cNvPr id="18" name="Text 16"/>
          <p:cNvSpPr txBox="1"/>
          <p:nvPr/>
        </p:nvSpPr>
        <p:spPr>
          <a:xfrm>
            <a:off x="6839712" y="3557016"/>
            <a:ext cx="4498848"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Control flow (when to loop, when to stop)</a:t>
            </a:r>
            <a:endParaRPr lang="en-US" sz="1400" dirty="0"/>
          </a:p>
        </p:txBody>
      </p:sp>
      <p:sp>
        <p:nvSpPr>
          <p:cNvPr id="19" name="Text 17"/>
          <p:cNvSpPr txBox="1"/>
          <p:nvPr/>
        </p:nvSpPr>
        <p:spPr>
          <a:xfrm>
            <a:off x="6583680" y="5394960"/>
            <a:ext cx="4754880" cy="365760"/>
          </a:xfrm>
          <a:prstGeom prst="rect">
            <a:avLst/>
          </a:prstGeom>
          <a:noFill/>
          <a:ln/>
        </p:spPr>
        <p:txBody>
          <a:bodyPr wrap="square" lIns="0" tIns="0" rIns="0" bIns="0" rtlCol="0" anchor="ctr"/>
          <a:lstStyle/>
          <a:p>
            <a:pPr algn="l" indent="0" marL="0">
              <a:buNone/>
            </a:pPr>
            <a:r>
              <a:rPr lang="en-US" sz="1250" b="1" i="1" dirty="0">
                <a:solidFill>
                  <a:srgbClr val="6FD3C4"/>
                </a:solidFill>
                <a:latin typeface="Calibri" pitchFamily="34" charset="0"/>
                <a:ea typeface="Calibri" pitchFamily="34" charset="-122"/>
                <a:cs typeface="Calibri" pitchFamily="34" charset="-120"/>
              </a:rPr>
              <a:t>Today: your Python code + LangChain</a:t>
            </a:r>
            <a:endParaRPr lang="en-US" sz="1250" dirty="0"/>
          </a:p>
        </p:txBody>
      </p:sp>
      <p:sp>
        <p:nvSpPr>
          <p:cNvPr id="20" name="Text 18"/>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21" name="Text 19"/>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4 / 21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D3557"/>
                </a:solidFill>
                <a:latin typeface="Bookman Old Style" pitchFamily="34" charset="0"/>
                <a:ea typeface="Bookman Old Style" pitchFamily="34" charset="-122"/>
                <a:cs typeface="Bookman Old Style" pitchFamily="34" charset="-120"/>
              </a:rPr>
              <a:t>What can an agent do?</a:t>
            </a:r>
            <a:endParaRPr lang="en-US" sz="3200" dirty="0"/>
          </a:p>
        </p:txBody>
      </p:sp>
      <p:sp>
        <p:nvSpPr>
          <p:cNvPr id="3" name="Shape 1"/>
          <p:cNvSpPr/>
          <p:nvPr/>
        </p:nvSpPr>
        <p:spPr>
          <a:xfrm>
            <a:off x="548640" y="1828800"/>
            <a:ext cx="2651760" cy="2743200"/>
          </a:xfrm>
          <a:prstGeom prst="roundRect">
            <a:avLst>
              <a:gd name="adj" fmla="val 4138"/>
            </a:avLst>
          </a:prstGeom>
          <a:solidFill>
            <a:srgbClr val="F1F5F9"/>
          </a:solidFill>
          <a:ln/>
          <a:effectLst>
            <a:outerShdw sx="100000" sy="100000" kx="0" ky="0" algn="bl" rotWithShape="0" blurRad="76200" dist="25400" dir="5400000">
              <a:srgbClr val="1D3557">
                <a:alpha val="16000"/>
              </a:srgbClr>
            </a:outerShdw>
          </a:effectLst>
        </p:spPr>
      </p:sp>
      <p:sp>
        <p:nvSpPr>
          <p:cNvPr id="4" name="Shape 2"/>
          <p:cNvSpPr/>
          <p:nvPr/>
        </p:nvSpPr>
        <p:spPr>
          <a:xfrm>
            <a:off x="1554480" y="2148840"/>
            <a:ext cx="640080" cy="640080"/>
          </a:xfrm>
          <a:prstGeom prst="ellipse">
            <a:avLst/>
          </a:prstGeom>
          <a:solidFill>
            <a:srgbClr val="1D3557"/>
          </a:solidFill>
          <a:ln/>
        </p:spPr>
      </p:sp>
      <p:sp>
        <p:nvSpPr>
          <p:cNvPr id="5" name="Text 3"/>
          <p:cNvSpPr txBox="1"/>
          <p:nvPr/>
        </p:nvSpPr>
        <p:spPr>
          <a:xfrm>
            <a:off x="1554480" y="21488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a:t>
            </a:r>
            <a:endParaRPr lang="en-US" sz="2000" dirty="0"/>
          </a:p>
        </p:txBody>
      </p:sp>
      <p:sp>
        <p:nvSpPr>
          <p:cNvPr id="6" name="Text 4"/>
          <p:cNvSpPr txBox="1"/>
          <p:nvPr/>
        </p:nvSpPr>
        <p:spPr>
          <a:xfrm>
            <a:off x="685800" y="2971800"/>
            <a:ext cx="2377440" cy="365760"/>
          </a:xfrm>
          <a:prstGeom prst="rect">
            <a:avLst/>
          </a:prstGeom>
          <a:noFill/>
          <a:ln/>
        </p:spPr>
        <p:txBody>
          <a:bodyPr wrap="square" lIns="0" tIns="0" rIns="0" bIns="0" rtlCol="0" anchor="ctr"/>
          <a:lstStyle/>
          <a:p>
            <a:pPr algn="ctr" indent="0" marL="0">
              <a:buNone/>
            </a:pPr>
            <a:r>
              <a:rPr lang="en-US" sz="1600" b="1" dirty="0">
                <a:solidFill>
                  <a:srgbClr val="1D3557"/>
                </a:solidFill>
                <a:latin typeface="Calibri" pitchFamily="34" charset="0"/>
                <a:ea typeface="Calibri" pitchFamily="34" charset="-122"/>
                <a:cs typeface="Calibri" pitchFamily="34" charset="-120"/>
              </a:rPr>
              <a:t>Retrieve</a:t>
            </a:r>
            <a:endParaRPr lang="en-US" sz="1600" dirty="0"/>
          </a:p>
        </p:txBody>
      </p:sp>
      <p:sp>
        <p:nvSpPr>
          <p:cNvPr id="7" name="Text 5"/>
          <p:cNvSpPr txBox="1"/>
          <p:nvPr/>
        </p:nvSpPr>
        <p:spPr>
          <a:xfrm>
            <a:off x="731520" y="3383280"/>
            <a:ext cx="2286000" cy="10058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Look something up</a:t>
            </a:r>
            <a:endParaRPr lang="en-US" sz="1250" dirty="0"/>
          </a:p>
        </p:txBody>
      </p:sp>
      <p:sp>
        <p:nvSpPr>
          <p:cNvPr id="8" name="Shape 6"/>
          <p:cNvSpPr/>
          <p:nvPr/>
        </p:nvSpPr>
        <p:spPr>
          <a:xfrm>
            <a:off x="3429000" y="1828800"/>
            <a:ext cx="2651760" cy="2743200"/>
          </a:xfrm>
          <a:prstGeom prst="roundRect">
            <a:avLst>
              <a:gd name="adj" fmla="val 4138"/>
            </a:avLst>
          </a:prstGeom>
          <a:solidFill>
            <a:srgbClr val="F1F5F9"/>
          </a:solidFill>
          <a:ln/>
          <a:effectLst>
            <a:outerShdw sx="100000" sy="100000" kx="0" ky="0" algn="bl" rotWithShape="0" blurRad="76200" dist="25400" dir="5400000">
              <a:srgbClr val="1D3557">
                <a:alpha val="16000"/>
              </a:srgbClr>
            </a:outerShdw>
          </a:effectLst>
        </p:spPr>
      </p:sp>
      <p:sp>
        <p:nvSpPr>
          <p:cNvPr id="9" name="Shape 7"/>
          <p:cNvSpPr/>
          <p:nvPr/>
        </p:nvSpPr>
        <p:spPr>
          <a:xfrm>
            <a:off x="4434840" y="2148840"/>
            <a:ext cx="640080" cy="640080"/>
          </a:xfrm>
          <a:prstGeom prst="ellipse">
            <a:avLst/>
          </a:prstGeom>
          <a:solidFill>
            <a:srgbClr val="1D3557"/>
          </a:solidFill>
          <a:ln/>
        </p:spPr>
      </p:sp>
      <p:sp>
        <p:nvSpPr>
          <p:cNvPr id="10" name="Text 8"/>
          <p:cNvSpPr txBox="1"/>
          <p:nvPr/>
        </p:nvSpPr>
        <p:spPr>
          <a:xfrm>
            <a:off x="4434840" y="21488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11" name="Text 9"/>
          <p:cNvSpPr txBox="1"/>
          <p:nvPr/>
        </p:nvSpPr>
        <p:spPr>
          <a:xfrm>
            <a:off x="3566160" y="2971800"/>
            <a:ext cx="2377440" cy="365760"/>
          </a:xfrm>
          <a:prstGeom prst="rect">
            <a:avLst/>
          </a:prstGeom>
          <a:noFill/>
          <a:ln/>
        </p:spPr>
        <p:txBody>
          <a:bodyPr wrap="square" lIns="0" tIns="0" rIns="0" bIns="0" rtlCol="0" anchor="ctr"/>
          <a:lstStyle/>
          <a:p>
            <a:pPr algn="ctr" indent="0" marL="0">
              <a:buNone/>
            </a:pPr>
            <a:r>
              <a:rPr lang="en-US" sz="1600" b="1" dirty="0">
                <a:solidFill>
                  <a:srgbClr val="1D3557"/>
                </a:solidFill>
                <a:latin typeface="Calibri" pitchFamily="34" charset="0"/>
                <a:ea typeface="Calibri" pitchFamily="34" charset="-122"/>
                <a:cs typeface="Calibri" pitchFamily="34" charset="-120"/>
              </a:rPr>
              <a:t>Decide</a:t>
            </a:r>
            <a:endParaRPr lang="en-US" sz="1600" dirty="0"/>
          </a:p>
        </p:txBody>
      </p:sp>
      <p:sp>
        <p:nvSpPr>
          <p:cNvPr id="12" name="Text 10"/>
          <p:cNvSpPr txBox="1"/>
          <p:nvPr/>
        </p:nvSpPr>
        <p:spPr>
          <a:xfrm>
            <a:off x="3611880" y="3383280"/>
            <a:ext cx="2286000" cy="10058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Score, classify, choose an action</a:t>
            </a:r>
            <a:endParaRPr lang="en-US" sz="1250" dirty="0"/>
          </a:p>
        </p:txBody>
      </p:sp>
      <p:sp>
        <p:nvSpPr>
          <p:cNvPr id="13" name="Shape 11"/>
          <p:cNvSpPr/>
          <p:nvPr/>
        </p:nvSpPr>
        <p:spPr>
          <a:xfrm>
            <a:off x="6309360" y="1828800"/>
            <a:ext cx="2651760" cy="2743200"/>
          </a:xfrm>
          <a:prstGeom prst="roundRect">
            <a:avLst>
              <a:gd name="adj" fmla="val 4138"/>
            </a:avLst>
          </a:prstGeom>
          <a:solidFill>
            <a:srgbClr val="F1F5F9"/>
          </a:solidFill>
          <a:ln/>
          <a:effectLst>
            <a:outerShdw sx="100000" sy="100000" kx="0" ky="0" algn="bl" rotWithShape="0" blurRad="76200" dist="25400" dir="5400000">
              <a:srgbClr val="1D3557">
                <a:alpha val="16000"/>
              </a:srgbClr>
            </a:outerShdw>
          </a:effectLst>
        </p:spPr>
      </p:sp>
      <p:sp>
        <p:nvSpPr>
          <p:cNvPr id="14" name="Shape 12"/>
          <p:cNvSpPr/>
          <p:nvPr/>
        </p:nvSpPr>
        <p:spPr>
          <a:xfrm>
            <a:off x="7315200" y="2148840"/>
            <a:ext cx="640080" cy="640080"/>
          </a:xfrm>
          <a:prstGeom prst="ellipse">
            <a:avLst/>
          </a:prstGeom>
          <a:solidFill>
            <a:srgbClr val="1D3557"/>
          </a:solidFill>
          <a:ln/>
        </p:spPr>
      </p:sp>
      <p:sp>
        <p:nvSpPr>
          <p:cNvPr id="15" name="Text 13"/>
          <p:cNvSpPr txBox="1"/>
          <p:nvPr/>
        </p:nvSpPr>
        <p:spPr>
          <a:xfrm>
            <a:off x="7315200" y="21488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6" name="Text 14"/>
          <p:cNvSpPr txBox="1"/>
          <p:nvPr/>
        </p:nvSpPr>
        <p:spPr>
          <a:xfrm>
            <a:off x="6446520" y="2971800"/>
            <a:ext cx="2377440" cy="365760"/>
          </a:xfrm>
          <a:prstGeom prst="rect">
            <a:avLst/>
          </a:prstGeom>
          <a:noFill/>
          <a:ln/>
        </p:spPr>
        <p:txBody>
          <a:bodyPr wrap="square" lIns="0" tIns="0" rIns="0" bIns="0" rtlCol="0" anchor="ctr"/>
          <a:lstStyle/>
          <a:p>
            <a:pPr algn="ctr" indent="0" marL="0">
              <a:buNone/>
            </a:pPr>
            <a:r>
              <a:rPr lang="en-US" sz="1600" b="1" dirty="0">
                <a:solidFill>
                  <a:srgbClr val="1D3557"/>
                </a:solidFill>
                <a:latin typeface="Calibri" pitchFamily="34" charset="0"/>
                <a:ea typeface="Calibri" pitchFamily="34" charset="-122"/>
                <a:cs typeface="Calibri" pitchFamily="34" charset="-120"/>
              </a:rPr>
              <a:t>Act</a:t>
            </a:r>
            <a:endParaRPr lang="en-US" sz="1600" dirty="0"/>
          </a:p>
        </p:txBody>
      </p:sp>
      <p:sp>
        <p:nvSpPr>
          <p:cNvPr id="17" name="Text 15"/>
          <p:cNvSpPr txBox="1"/>
          <p:nvPr/>
        </p:nvSpPr>
        <p:spPr>
          <a:xfrm>
            <a:off x="6492240" y="3383280"/>
            <a:ext cx="2286000" cy="10058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Call a tool that actually does something</a:t>
            </a:r>
            <a:endParaRPr lang="en-US" sz="1250" dirty="0"/>
          </a:p>
        </p:txBody>
      </p:sp>
      <p:sp>
        <p:nvSpPr>
          <p:cNvPr id="18" name="Shape 16"/>
          <p:cNvSpPr/>
          <p:nvPr/>
        </p:nvSpPr>
        <p:spPr>
          <a:xfrm>
            <a:off x="9189720" y="1828800"/>
            <a:ext cx="2651760" cy="2743200"/>
          </a:xfrm>
          <a:prstGeom prst="roundRect">
            <a:avLst>
              <a:gd name="adj" fmla="val 4138"/>
            </a:avLst>
          </a:prstGeom>
          <a:solidFill>
            <a:srgbClr val="F1F5F9"/>
          </a:solidFill>
          <a:ln/>
          <a:effectLst>
            <a:outerShdw sx="100000" sy="100000" kx="0" ky="0" algn="bl" rotWithShape="0" blurRad="76200" dist="25400" dir="5400000">
              <a:srgbClr val="1D3557">
                <a:alpha val="16000"/>
              </a:srgbClr>
            </a:outerShdw>
          </a:effectLst>
        </p:spPr>
      </p:sp>
      <p:sp>
        <p:nvSpPr>
          <p:cNvPr id="19" name="Shape 17"/>
          <p:cNvSpPr/>
          <p:nvPr/>
        </p:nvSpPr>
        <p:spPr>
          <a:xfrm>
            <a:off x="10195560" y="2148840"/>
            <a:ext cx="640080" cy="640080"/>
          </a:xfrm>
          <a:prstGeom prst="ellipse">
            <a:avLst/>
          </a:prstGeom>
          <a:solidFill>
            <a:srgbClr val="1D3557"/>
          </a:solidFill>
          <a:ln/>
        </p:spPr>
      </p:sp>
      <p:sp>
        <p:nvSpPr>
          <p:cNvPr id="20" name="Text 18"/>
          <p:cNvSpPr txBox="1"/>
          <p:nvPr/>
        </p:nvSpPr>
        <p:spPr>
          <a:xfrm>
            <a:off x="10195560" y="21488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21" name="Text 19"/>
          <p:cNvSpPr txBox="1"/>
          <p:nvPr/>
        </p:nvSpPr>
        <p:spPr>
          <a:xfrm>
            <a:off x="9326880" y="2971800"/>
            <a:ext cx="2377440" cy="365760"/>
          </a:xfrm>
          <a:prstGeom prst="rect">
            <a:avLst/>
          </a:prstGeom>
          <a:noFill/>
          <a:ln/>
        </p:spPr>
        <p:txBody>
          <a:bodyPr wrap="square" lIns="0" tIns="0" rIns="0" bIns="0" rtlCol="0" anchor="ctr"/>
          <a:lstStyle/>
          <a:p>
            <a:pPr algn="ctr" indent="0" marL="0">
              <a:buNone/>
            </a:pPr>
            <a:r>
              <a:rPr lang="en-US" sz="1600" b="1" dirty="0">
                <a:solidFill>
                  <a:srgbClr val="1D3557"/>
                </a:solidFill>
                <a:latin typeface="Calibri" pitchFamily="34" charset="0"/>
                <a:ea typeface="Calibri" pitchFamily="34" charset="-122"/>
                <a:cs typeface="Calibri" pitchFamily="34" charset="-120"/>
              </a:rPr>
              <a:t>Chain</a:t>
            </a:r>
            <a:endParaRPr lang="en-US" sz="1600" dirty="0"/>
          </a:p>
        </p:txBody>
      </p:sp>
      <p:sp>
        <p:nvSpPr>
          <p:cNvPr id="22" name="Text 20"/>
          <p:cNvSpPr txBox="1"/>
          <p:nvPr/>
        </p:nvSpPr>
        <p:spPr>
          <a:xfrm>
            <a:off x="9372600" y="3383280"/>
            <a:ext cx="2286000" cy="10058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Repeat those steps until a goal is met</a:t>
            </a:r>
            <a:endParaRPr lang="en-US" sz="1250" dirty="0"/>
          </a:p>
        </p:txBody>
      </p:sp>
      <p:sp>
        <p:nvSpPr>
          <p:cNvPr id="23" name="Text 21"/>
          <p:cNvSpPr txBox="1"/>
          <p:nvPr/>
        </p:nvSpPr>
        <p:spPr>
          <a:xfrm>
            <a:off x="548640" y="4892040"/>
            <a:ext cx="11064240" cy="822960"/>
          </a:xfrm>
          <a:prstGeom prst="rect">
            <a:avLst/>
          </a:prstGeom>
          <a:noFill/>
          <a:ln/>
        </p:spPr>
        <p:txBody>
          <a:bodyPr wrap="square" lIns="0" tIns="0" rIns="0" bIns="0" rtlCol="0" anchor="ctr"/>
          <a:lstStyle/>
          <a:p>
            <a:pPr algn="l" indent="0" marL="0">
              <a:buNone/>
            </a:pPr>
            <a:r>
              <a:rPr lang="en-US" sz="1350" i="1" dirty="0">
                <a:solidFill>
                  <a:srgbClr val="6B7280"/>
                </a:solidFill>
                <a:latin typeface="Calibri" pitchFamily="34" charset="0"/>
                <a:ea typeface="Calibri" pitchFamily="34" charset="-122"/>
                <a:cs typeface="Calibri" pitchFamily="34" charset="-120"/>
              </a:rPr>
              <a:t>Same four verbs, three different stories today: drones retrieve + decide priority · study agents chain draft → challenge → revise · the security agent retrieves logins + decides what's suspicious.</a:t>
            </a:r>
            <a:endParaRPr lang="en-US" sz="1350" dirty="0"/>
          </a:p>
        </p:txBody>
      </p:sp>
      <p:sp>
        <p:nvSpPr>
          <p:cNvPr id="24" name="Text 22"/>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25" name="Text 23"/>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5 / 21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D3557"/>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2A9D8F">
              <a:alpha val="12000"/>
            </a:srgbClr>
          </a:solidFill>
          <a:ln/>
        </p:spPr>
      </p:sp>
      <p:sp>
        <p:nvSpPr>
          <p:cNvPr id="3" name="Shape 1"/>
          <p:cNvSpPr/>
          <p:nvPr/>
        </p:nvSpPr>
        <p:spPr>
          <a:xfrm>
            <a:off x="-2103120" y="4480560"/>
            <a:ext cx="3840480" cy="3840480"/>
          </a:xfrm>
          <a:prstGeom prst="ellipse">
            <a:avLst/>
          </a:prstGeom>
          <a:solidFill>
            <a:srgbClr val="2A9D8F">
              <a:alpha val="10000"/>
            </a:srgbClr>
          </a:solidFill>
          <a:ln/>
        </p:spPr>
      </p:sp>
      <p:sp>
        <p:nvSpPr>
          <p:cNvPr id="4" name="Shape 2"/>
          <p:cNvSpPr/>
          <p:nvPr/>
        </p:nvSpPr>
        <p:spPr>
          <a:xfrm>
            <a:off x="822960" y="777240"/>
            <a:ext cx="685800" cy="685800"/>
          </a:xfrm>
          <a:prstGeom prst="ellipse">
            <a:avLst/>
          </a:prstGeom>
          <a:solidFill>
            <a:srgbClr val="2A9D8F"/>
          </a:solidFill>
          <a:ln/>
        </p:spPr>
      </p:sp>
      <p:sp>
        <p:nvSpPr>
          <p:cNvPr id="5" name="Text 3"/>
          <p:cNvSpPr txBox="1"/>
          <p:nvPr/>
        </p:nvSpPr>
        <p:spPr>
          <a:xfrm>
            <a:off x="822960" y="77724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1691640" y="868680"/>
            <a:ext cx="91440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Bookman Old Style" pitchFamily="34" charset="0"/>
                <a:ea typeface="Bookman Old Style" pitchFamily="34" charset="-122"/>
                <a:cs typeface="Bookman Old Style" pitchFamily="34" charset="-120"/>
              </a:rPr>
              <a:t>The security caveat</a:t>
            </a:r>
            <a:endParaRPr lang="en-US" sz="3200" dirty="0"/>
          </a:p>
        </p:txBody>
      </p:sp>
      <p:sp>
        <p:nvSpPr>
          <p:cNvPr id="7" name="Shape 5"/>
          <p:cNvSpPr/>
          <p:nvPr/>
        </p:nvSpPr>
        <p:spPr>
          <a:xfrm>
            <a:off x="822960" y="2057400"/>
            <a:ext cx="118872" cy="118872"/>
          </a:xfrm>
          <a:prstGeom prst="ellipse">
            <a:avLst/>
          </a:prstGeom>
          <a:solidFill>
            <a:srgbClr val="2A9D8F"/>
          </a:solidFill>
          <a:ln/>
        </p:spPr>
      </p:sp>
      <p:sp>
        <p:nvSpPr>
          <p:cNvPr id="8" name="Text 6"/>
          <p:cNvSpPr txBox="1"/>
          <p:nvPr/>
        </p:nvSpPr>
        <p:spPr>
          <a:xfrm>
            <a:off x="1143000" y="1892808"/>
            <a:ext cx="10058400" cy="822960"/>
          </a:xfrm>
          <a:prstGeom prst="rect">
            <a:avLst/>
          </a:prstGeom>
          <a:noFill/>
          <a:ln/>
        </p:spPr>
        <p:txBody>
          <a:bodyPr wrap="square" lIns="0" tIns="0" rIns="0" bIns="0" rtlCol="0" anchor="ctr"/>
          <a:lstStyle/>
          <a:p>
            <a:pPr algn="l" indent="0" marL="0">
              <a:buNone/>
            </a:pPr>
            <a:r>
              <a:rPr lang="en-US" sz="1550" dirty="0">
                <a:solidFill>
                  <a:srgbClr val="FFFFFF"/>
                </a:solidFill>
                <a:latin typeface="Calibri" pitchFamily="34" charset="0"/>
                <a:ea typeface="Calibri" pitchFamily="34" charset="-122"/>
                <a:cs typeface="Calibri" pitchFamily="34" charset="-120"/>
              </a:rPr>
              <a:t>Coding your own agent is a great first step into practical AI — it is NOT automatically a secure one.</a:t>
            </a:r>
            <a:endParaRPr lang="en-US" sz="1550" dirty="0"/>
          </a:p>
        </p:txBody>
      </p:sp>
      <p:sp>
        <p:nvSpPr>
          <p:cNvPr id="9" name="Shape 7"/>
          <p:cNvSpPr/>
          <p:nvPr/>
        </p:nvSpPr>
        <p:spPr>
          <a:xfrm>
            <a:off x="822960" y="3108960"/>
            <a:ext cx="118872" cy="118872"/>
          </a:xfrm>
          <a:prstGeom prst="ellipse">
            <a:avLst/>
          </a:prstGeom>
          <a:solidFill>
            <a:srgbClr val="2A9D8F"/>
          </a:solidFill>
          <a:ln/>
        </p:spPr>
      </p:sp>
      <p:sp>
        <p:nvSpPr>
          <p:cNvPr id="10" name="Text 8"/>
          <p:cNvSpPr txBox="1"/>
          <p:nvPr/>
        </p:nvSpPr>
        <p:spPr>
          <a:xfrm>
            <a:off x="1143000" y="2944368"/>
            <a:ext cx="10058400" cy="822960"/>
          </a:xfrm>
          <a:prstGeom prst="rect">
            <a:avLst/>
          </a:prstGeom>
          <a:noFill/>
          <a:ln/>
        </p:spPr>
        <p:txBody>
          <a:bodyPr wrap="square" lIns="0" tIns="0" rIns="0" bIns="0" rtlCol="0" anchor="ctr"/>
          <a:lstStyle/>
          <a:p>
            <a:pPr algn="l" indent="0" marL="0">
              <a:buNone/>
            </a:pPr>
            <a:r>
              <a:rPr lang="en-US" sz="1700" b="1" dirty="0">
                <a:solidFill>
                  <a:srgbClr val="6FD3C4"/>
                </a:solidFill>
                <a:latin typeface="Calibri" pitchFamily="34" charset="0"/>
                <a:ea typeface="Calibri" pitchFamily="34" charset="-122"/>
                <a:cs typeface="Calibri" pitchFamily="34" charset="-120"/>
              </a:rPr>
              <a:t>Tools mean real actions. A bug here isn't just a wrong answer — it's a wrong action.</a:t>
            </a:r>
            <a:endParaRPr lang="en-US" sz="1700" dirty="0"/>
          </a:p>
        </p:txBody>
      </p:sp>
      <p:sp>
        <p:nvSpPr>
          <p:cNvPr id="11" name="Shape 9"/>
          <p:cNvSpPr/>
          <p:nvPr/>
        </p:nvSpPr>
        <p:spPr>
          <a:xfrm>
            <a:off x="822960" y="4160520"/>
            <a:ext cx="118872" cy="118872"/>
          </a:xfrm>
          <a:prstGeom prst="ellipse">
            <a:avLst/>
          </a:prstGeom>
          <a:solidFill>
            <a:srgbClr val="2A9D8F"/>
          </a:solidFill>
          <a:ln/>
        </p:spPr>
      </p:sp>
      <p:sp>
        <p:nvSpPr>
          <p:cNvPr id="12" name="Text 10"/>
          <p:cNvSpPr txBox="1"/>
          <p:nvPr/>
        </p:nvSpPr>
        <p:spPr>
          <a:xfrm>
            <a:off x="1143000" y="3995928"/>
            <a:ext cx="10058400" cy="822960"/>
          </a:xfrm>
          <a:prstGeom prst="rect">
            <a:avLst/>
          </a:prstGeom>
          <a:noFill/>
          <a:ln/>
        </p:spPr>
        <p:txBody>
          <a:bodyPr wrap="square" lIns="0" tIns="0" rIns="0" bIns="0" rtlCol="0" anchor="ctr"/>
          <a:lstStyle/>
          <a:p>
            <a:pPr algn="l" indent="0" marL="0">
              <a:buNone/>
            </a:pPr>
            <a:r>
              <a:rPr lang="en-US" sz="1550" dirty="0">
                <a:solidFill>
                  <a:srgbClr val="FFFFFF"/>
                </a:solidFill>
                <a:latin typeface="Calibri" pitchFamily="34" charset="0"/>
                <a:ea typeface="Calibri" pitchFamily="34" charset="-122"/>
                <a:cs typeface="Calibri" pitchFamily="34" charset="-120"/>
              </a:rPr>
              <a:t>Prompt injection: untrusted text (a log line, a webpage, a user message) can try to steer an agent's next tool call.</a:t>
            </a:r>
            <a:endParaRPr lang="en-US" sz="1550" dirty="0"/>
          </a:p>
        </p:txBody>
      </p:sp>
      <p:sp>
        <p:nvSpPr>
          <p:cNvPr id="13" name="Shape 11"/>
          <p:cNvSpPr/>
          <p:nvPr/>
        </p:nvSpPr>
        <p:spPr>
          <a:xfrm>
            <a:off x="822960" y="5212080"/>
            <a:ext cx="118872" cy="118872"/>
          </a:xfrm>
          <a:prstGeom prst="ellipse">
            <a:avLst/>
          </a:prstGeom>
          <a:solidFill>
            <a:srgbClr val="2A9D8F"/>
          </a:solidFill>
          <a:ln/>
        </p:spPr>
      </p:sp>
      <p:sp>
        <p:nvSpPr>
          <p:cNvPr id="14" name="Text 12"/>
          <p:cNvSpPr txBox="1"/>
          <p:nvPr/>
        </p:nvSpPr>
        <p:spPr>
          <a:xfrm>
            <a:off x="1143000" y="5047488"/>
            <a:ext cx="10058400" cy="822960"/>
          </a:xfrm>
          <a:prstGeom prst="rect">
            <a:avLst/>
          </a:prstGeom>
          <a:noFill/>
          <a:ln/>
        </p:spPr>
        <p:txBody>
          <a:bodyPr wrap="square" lIns="0" tIns="0" rIns="0" bIns="0" rtlCol="0" anchor="ctr"/>
          <a:lstStyle/>
          <a:p>
            <a:pPr algn="l" indent="0" marL="0">
              <a:buNone/>
            </a:pPr>
            <a:r>
              <a:rPr lang="en-US" sz="1550" dirty="0">
                <a:solidFill>
                  <a:srgbClr val="FFFFFF"/>
                </a:solidFill>
                <a:latin typeface="Calibri" pitchFamily="34" charset="0"/>
                <a:ea typeface="Calibri" pitchFamily="34" charset="-122"/>
                <a:cs typeface="Calibri" pitchFamily="34" charset="-120"/>
              </a:rPr>
              <a:t>More tools + more autonomy = a bigger attack surface, not automatically more caution.</a:t>
            </a:r>
            <a:endParaRPr lang="en-US" sz="1550" dirty="0"/>
          </a:p>
        </p:txBody>
      </p:sp>
      <p:sp>
        <p:nvSpPr>
          <p:cNvPr id="15" name="Text 13"/>
          <p:cNvSpPr txBox="1"/>
          <p:nvPr/>
        </p:nvSpPr>
        <p:spPr>
          <a:xfrm>
            <a:off x="822960" y="6172200"/>
            <a:ext cx="10058400" cy="365760"/>
          </a:xfrm>
          <a:prstGeom prst="rect">
            <a:avLst/>
          </a:prstGeom>
          <a:noFill/>
          <a:ln/>
        </p:spPr>
        <p:txBody>
          <a:bodyPr wrap="square" lIns="0" tIns="0" rIns="0" bIns="0" rtlCol="0" anchor="ctr"/>
          <a:lstStyle/>
          <a:p>
            <a:pPr algn="l" indent="0" marL="0">
              <a:buNone/>
            </a:pPr>
            <a:r>
              <a:rPr lang="en-US" sz="1250" i="1" dirty="0">
                <a:solidFill>
                  <a:srgbClr val="D6E4F0"/>
                </a:solidFill>
                <a:latin typeface="Calibri" pitchFamily="34" charset="0"/>
                <a:ea typeface="Calibri" pitchFamily="34" charset="-122"/>
                <a:cs typeface="Calibri" pitchFamily="34" charset="-120"/>
              </a:rPr>
              <a:t>Aimed squarely at the Cybersecurity cohort in the room.</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D3557"/>
                </a:solidFill>
                <a:latin typeface="Bookman Old Style" pitchFamily="34" charset="0"/>
                <a:ea typeface="Bookman Old Style" pitchFamily="34" charset="-122"/>
                <a:cs typeface="Bookman Old Style" pitchFamily="34" charset="-120"/>
              </a:rPr>
              <a:t>Why LangChain</a:t>
            </a:r>
            <a:endParaRPr lang="en-US" sz="3200" dirty="0"/>
          </a:p>
        </p:txBody>
      </p:sp>
      <p:sp>
        <p:nvSpPr>
          <p:cNvPr id="3" name="Shape 1"/>
          <p:cNvSpPr/>
          <p:nvPr/>
        </p:nvSpPr>
        <p:spPr>
          <a:xfrm>
            <a:off x="640080" y="1828800"/>
            <a:ext cx="621792" cy="621792"/>
          </a:xfrm>
          <a:prstGeom prst="ellipse">
            <a:avLst/>
          </a:prstGeom>
          <a:solidFill>
            <a:srgbClr val="1D3557"/>
          </a:solidFill>
          <a:ln/>
        </p:spPr>
      </p:sp>
      <p:sp>
        <p:nvSpPr>
          <p:cNvPr id="4" name="Text 2"/>
          <p:cNvSpPr txBox="1"/>
          <p:nvPr/>
        </p:nvSpPr>
        <p:spPr>
          <a:xfrm>
            <a:off x="640080" y="1828800"/>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PY</a:t>
            </a:r>
            <a:endParaRPr lang="en-US" sz="1500" dirty="0"/>
          </a:p>
        </p:txBody>
      </p:sp>
      <p:sp>
        <p:nvSpPr>
          <p:cNvPr id="5" name="Text 3"/>
          <p:cNvSpPr txBox="1"/>
          <p:nvPr/>
        </p:nvSpPr>
        <p:spPr>
          <a:xfrm>
            <a:off x="1508760" y="1810512"/>
            <a:ext cx="9601200" cy="365760"/>
          </a:xfrm>
          <a:prstGeom prst="rect">
            <a:avLst/>
          </a:prstGeom>
          <a:noFill/>
          <a:ln/>
        </p:spPr>
        <p:txBody>
          <a:bodyPr wrap="square" lIns="0" tIns="0" rIns="0" bIns="0" rtlCol="0" anchor="ctr"/>
          <a:lstStyle/>
          <a:p>
            <a:pPr algn="l" indent="0" marL="0">
              <a:buNone/>
            </a:pPr>
            <a:r>
              <a:rPr lang="en-US" sz="1800" b="1" dirty="0">
                <a:solidFill>
                  <a:srgbClr val="1D3557"/>
                </a:solidFill>
                <a:latin typeface="Calibri" pitchFamily="34" charset="0"/>
                <a:ea typeface="Calibri" pitchFamily="34" charset="-122"/>
                <a:cs typeface="Calibri" pitchFamily="34" charset="-120"/>
              </a:rPr>
              <a:t>Python-first</a:t>
            </a:r>
            <a:endParaRPr lang="en-US" sz="1800" dirty="0"/>
          </a:p>
        </p:txBody>
      </p:sp>
      <p:sp>
        <p:nvSpPr>
          <p:cNvPr id="6" name="Text 4"/>
          <p:cNvSpPr txBox="1"/>
          <p:nvPr/>
        </p:nvSpPr>
        <p:spPr>
          <a:xfrm>
            <a:off x="1508760" y="2194560"/>
            <a:ext cx="9692640" cy="548640"/>
          </a:xfrm>
          <a:prstGeom prst="rect">
            <a:avLst/>
          </a:prstGeom>
          <a:noFill/>
          <a:ln/>
        </p:spPr>
        <p:txBody>
          <a:bodyPr wrap="square" lIns="0" tIns="0" rIns="0" bIns="0" rtlCol="0" anchor="ctr"/>
          <a:lstStyle/>
          <a:p>
            <a:pPr algn="l" indent="0" marL="0">
              <a:buNone/>
            </a:pPr>
            <a:r>
              <a:rPr lang="en-US" sz="1400" dirty="0">
                <a:solidFill>
                  <a:srgbClr val="6B7280"/>
                </a:solidFill>
                <a:latin typeface="Calibri" pitchFamily="34" charset="0"/>
                <a:ea typeface="Calibri" pitchFamily="34" charset="-122"/>
                <a:cs typeface="Calibri" pitchFamily="34" charset="-120"/>
              </a:rPr>
              <a:t>The language most of you already know, or are learning right now</a:t>
            </a:r>
            <a:endParaRPr lang="en-US" sz="1400" dirty="0"/>
          </a:p>
        </p:txBody>
      </p:sp>
      <p:sp>
        <p:nvSpPr>
          <p:cNvPr id="7" name="Shape 5"/>
          <p:cNvSpPr/>
          <p:nvPr/>
        </p:nvSpPr>
        <p:spPr>
          <a:xfrm>
            <a:off x="640080" y="3063240"/>
            <a:ext cx="621792" cy="621792"/>
          </a:xfrm>
          <a:prstGeom prst="ellipse">
            <a:avLst/>
          </a:prstGeom>
          <a:solidFill>
            <a:srgbClr val="1D3557"/>
          </a:solidFill>
          <a:ln/>
        </p:spPr>
      </p:sp>
      <p:sp>
        <p:nvSpPr>
          <p:cNvPr id="8" name="Text 6"/>
          <p:cNvSpPr txBox="1"/>
          <p:nvPr/>
        </p:nvSpPr>
        <p:spPr>
          <a:xfrm>
            <a:off x="640080" y="3063240"/>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508760" y="3044952"/>
            <a:ext cx="9601200" cy="365760"/>
          </a:xfrm>
          <a:prstGeom prst="rect">
            <a:avLst/>
          </a:prstGeom>
          <a:noFill/>
          <a:ln/>
        </p:spPr>
        <p:txBody>
          <a:bodyPr wrap="square" lIns="0" tIns="0" rIns="0" bIns="0" rtlCol="0" anchor="ctr"/>
          <a:lstStyle/>
          <a:p>
            <a:pPr algn="l" indent="0" marL="0">
              <a:buNone/>
            </a:pPr>
            <a:r>
              <a:rPr lang="en-US" sz="1800" b="1" dirty="0">
                <a:solidFill>
                  <a:srgbClr val="1D3557"/>
                </a:solidFill>
                <a:latin typeface="Calibri" pitchFamily="34" charset="0"/>
                <a:ea typeface="Calibri" pitchFamily="34" charset="-122"/>
                <a:cs typeface="Calibri" pitchFamily="34" charset="-120"/>
              </a:rPr>
              <a:t>Industry standard</a:t>
            </a:r>
            <a:endParaRPr lang="en-US" sz="1800" dirty="0"/>
          </a:p>
        </p:txBody>
      </p:sp>
      <p:sp>
        <p:nvSpPr>
          <p:cNvPr id="10" name="Text 8"/>
          <p:cNvSpPr txBox="1"/>
          <p:nvPr/>
        </p:nvSpPr>
        <p:spPr>
          <a:xfrm>
            <a:off x="1508760" y="3429000"/>
            <a:ext cx="9692640" cy="548640"/>
          </a:xfrm>
          <a:prstGeom prst="rect">
            <a:avLst/>
          </a:prstGeom>
          <a:noFill/>
          <a:ln/>
        </p:spPr>
        <p:txBody>
          <a:bodyPr wrap="square" lIns="0" tIns="0" rIns="0" bIns="0" rtlCol="0" anchor="ctr"/>
          <a:lstStyle/>
          <a:p>
            <a:pPr algn="l" indent="0" marL="0">
              <a:buNone/>
            </a:pPr>
            <a:r>
              <a:rPr lang="en-US" sz="1400" dirty="0">
                <a:solidFill>
                  <a:srgbClr val="6B7280"/>
                </a:solidFill>
                <a:latin typeface="Calibri" pitchFamily="34" charset="0"/>
                <a:ea typeface="Calibri" pitchFamily="34" charset="-122"/>
                <a:cs typeface="Calibri" pitchFamily="34" charset="-120"/>
              </a:rPr>
              <a:t>Most tutorials, job postings, and interviews reference it directly</a:t>
            </a:r>
            <a:endParaRPr lang="en-US" sz="1400" dirty="0"/>
          </a:p>
        </p:txBody>
      </p:sp>
      <p:sp>
        <p:nvSpPr>
          <p:cNvPr id="11" name="Shape 9"/>
          <p:cNvSpPr/>
          <p:nvPr/>
        </p:nvSpPr>
        <p:spPr>
          <a:xfrm>
            <a:off x="640080" y="4297680"/>
            <a:ext cx="621792" cy="621792"/>
          </a:xfrm>
          <a:prstGeom prst="ellipse">
            <a:avLst/>
          </a:prstGeom>
          <a:solidFill>
            <a:srgbClr val="1D3557"/>
          </a:solidFill>
          <a:ln/>
        </p:spPr>
      </p:sp>
      <p:sp>
        <p:nvSpPr>
          <p:cNvPr id="12" name="Text 10"/>
          <p:cNvSpPr txBox="1"/>
          <p:nvPr/>
        </p:nvSpPr>
        <p:spPr>
          <a:xfrm>
            <a:off x="640080" y="4297680"/>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txBox="1"/>
          <p:nvPr/>
        </p:nvSpPr>
        <p:spPr>
          <a:xfrm>
            <a:off x="1508760" y="4279392"/>
            <a:ext cx="9601200" cy="365760"/>
          </a:xfrm>
          <a:prstGeom prst="rect">
            <a:avLst/>
          </a:prstGeom>
          <a:noFill/>
          <a:ln/>
        </p:spPr>
        <p:txBody>
          <a:bodyPr wrap="square" lIns="0" tIns="0" rIns="0" bIns="0" rtlCol="0" anchor="ctr"/>
          <a:lstStyle/>
          <a:p>
            <a:pPr algn="l" indent="0" marL="0">
              <a:buNone/>
            </a:pPr>
            <a:r>
              <a:rPr lang="en-US" sz="1800" b="1" dirty="0">
                <a:solidFill>
                  <a:srgbClr val="1D3557"/>
                </a:solidFill>
                <a:latin typeface="Calibri" pitchFamily="34" charset="0"/>
                <a:ea typeface="Calibri" pitchFamily="34" charset="-122"/>
                <a:cs typeface="Calibri" pitchFamily="34" charset="-120"/>
              </a:rPr>
              <a:t>Transferable</a:t>
            </a:r>
            <a:endParaRPr lang="en-US" sz="1800" dirty="0"/>
          </a:p>
        </p:txBody>
      </p:sp>
      <p:sp>
        <p:nvSpPr>
          <p:cNvPr id="14" name="Text 12"/>
          <p:cNvSpPr txBox="1"/>
          <p:nvPr/>
        </p:nvSpPr>
        <p:spPr>
          <a:xfrm>
            <a:off x="1508760" y="4663440"/>
            <a:ext cx="9692640" cy="548640"/>
          </a:xfrm>
          <a:prstGeom prst="rect">
            <a:avLst/>
          </a:prstGeom>
          <a:noFill/>
          <a:ln/>
        </p:spPr>
        <p:txBody>
          <a:bodyPr wrap="square" lIns="0" tIns="0" rIns="0" bIns="0" rtlCol="0" anchor="ctr"/>
          <a:lstStyle/>
          <a:p>
            <a:pPr algn="l" indent="0" marL="0">
              <a:buNone/>
            </a:pPr>
            <a:r>
              <a:rPr lang="en-US" sz="1400" dirty="0">
                <a:solidFill>
                  <a:srgbClr val="6B7280"/>
                </a:solidFill>
                <a:latin typeface="Calibri" pitchFamily="34" charset="0"/>
                <a:ea typeface="Calibri" pitchFamily="34" charset="-122"/>
                <a:cs typeface="Calibri" pitchFamily="34" charset="-120"/>
              </a:rPr>
              <a:t>A thin layer over raw LLM calls — concepts carry over even if you switch providers later (OpenAI, Anthropic, a local model)</a:t>
            </a:r>
            <a:endParaRPr lang="en-US" sz="1400" dirty="0"/>
          </a:p>
        </p:txBody>
      </p:sp>
      <p:sp>
        <p:nvSpPr>
          <p:cNvPr id="15" name="Text 13"/>
          <p:cNvSpPr txBox="1"/>
          <p:nvPr/>
        </p:nvSpPr>
        <p:spPr>
          <a:xfrm>
            <a:off x="640080" y="5806440"/>
            <a:ext cx="10515600" cy="457200"/>
          </a:xfrm>
          <a:prstGeom prst="rect">
            <a:avLst/>
          </a:prstGeom>
          <a:noFill/>
          <a:ln/>
        </p:spPr>
        <p:txBody>
          <a:bodyPr wrap="square" lIns="0" tIns="0" rIns="0" bIns="0" rtlCol="0" anchor="ctr"/>
          <a:lstStyle/>
          <a:p>
            <a:pPr algn="l" indent="0" marL="0">
              <a:buNone/>
            </a:pPr>
            <a:r>
              <a:rPr lang="en-US" sz="1250" i="1" dirty="0">
                <a:solidFill>
                  <a:srgbClr val="6B7280"/>
                </a:solidFill>
                <a:latin typeface="Calibri" pitchFamily="34" charset="0"/>
                <a:ea typeface="Calibri" pitchFamily="34" charset="-122"/>
                <a:cs typeface="Calibri" pitchFamily="34" charset="-120"/>
              </a:rPr>
              <a:t>(Yes, LlamaIndex and raw provider SDKs exist too — LangChain is simply the most transferable thing to learn today.)</a:t>
            </a:r>
            <a:endParaRPr lang="en-US" sz="1250" dirty="0"/>
          </a:p>
        </p:txBody>
      </p:sp>
      <p:sp>
        <p:nvSpPr>
          <p:cNvPr id="16" name="Text 14"/>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17" name="Text 15"/>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7 / 21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D3557"/>
                </a:solidFill>
                <a:latin typeface="Bookman Old Style" pitchFamily="34" charset="0"/>
                <a:ea typeface="Bookman Old Style" pitchFamily="34" charset="-122"/>
                <a:cs typeface="Bookman Old Style" pitchFamily="34" charset="-120"/>
              </a:rPr>
              <a:t>LangChain basics — the four moving parts</a:t>
            </a:r>
            <a:endParaRPr lang="en-US" sz="3200" dirty="0"/>
          </a:p>
        </p:txBody>
      </p:sp>
      <p:sp>
        <p:nvSpPr>
          <p:cNvPr id="3" name="Shape 1"/>
          <p:cNvSpPr/>
          <p:nvPr/>
        </p:nvSpPr>
        <p:spPr>
          <a:xfrm>
            <a:off x="548640" y="1554480"/>
            <a:ext cx="5349240" cy="1965960"/>
          </a:xfrm>
          <a:prstGeom prst="roundRect">
            <a:avLst>
              <a:gd name="adj" fmla="val 5581"/>
            </a:avLst>
          </a:prstGeom>
          <a:solidFill>
            <a:srgbClr val="F1F5F9"/>
          </a:solidFill>
          <a:ln/>
          <a:effectLst>
            <a:outerShdw sx="100000" sy="100000" kx="0" ky="0" algn="bl" rotWithShape="0" blurRad="76200" dist="25400" dir="5400000">
              <a:srgbClr val="1D3557">
                <a:alpha val="16000"/>
              </a:srgbClr>
            </a:outerShdw>
          </a:effectLst>
        </p:spPr>
      </p:sp>
      <p:sp>
        <p:nvSpPr>
          <p:cNvPr id="4" name="Shape 2"/>
          <p:cNvSpPr/>
          <p:nvPr/>
        </p:nvSpPr>
        <p:spPr>
          <a:xfrm>
            <a:off x="777240" y="1783080"/>
            <a:ext cx="502920" cy="502920"/>
          </a:xfrm>
          <a:prstGeom prst="ellipse">
            <a:avLst/>
          </a:prstGeom>
          <a:solidFill>
            <a:srgbClr val="1D3557"/>
          </a:solidFill>
          <a:ln/>
        </p:spPr>
      </p:sp>
      <p:sp>
        <p:nvSpPr>
          <p:cNvPr id="5" name="Text 3"/>
          <p:cNvSpPr txBox="1"/>
          <p:nvPr/>
        </p:nvSpPr>
        <p:spPr>
          <a:xfrm>
            <a:off x="777240" y="178308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LLM</a:t>
            </a:r>
            <a:endParaRPr lang="en-US" sz="1200" dirty="0"/>
          </a:p>
        </p:txBody>
      </p:sp>
      <p:sp>
        <p:nvSpPr>
          <p:cNvPr id="6" name="Text 4"/>
          <p:cNvSpPr txBox="1"/>
          <p:nvPr/>
        </p:nvSpPr>
        <p:spPr>
          <a:xfrm>
            <a:off x="1417320" y="1810512"/>
            <a:ext cx="4251960" cy="365760"/>
          </a:xfrm>
          <a:prstGeom prst="rect">
            <a:avLst/>
          </a:prstGeom>
          <a:noFill/>
          <a:ln/>
        </p:spPr>
        <p:txBody>
          <a:bodyPr wrap="square" lIns="0" tIns="0" rIns="0" bIns="0" rtlCol="0" anchor="ctr"/>
          <a:lstStyle/>
          <a:p>
            <a:pPr algn="l" indent="0" marL="0">
              <a:buNone/>
            </a:pPr>
            <a:r>
              <a:rPr lang="en-US" sz="1600" b="1" dirty="0">
                <a:solidFill>
                  <a:srgbClr val="1D3557"/>
                </a:solidFill>
                <a:latin typeface="Calibri" pitchFamily="34" charset="0"/>
                <a:ea typeface="Calibri" pitchFamily="34" charset="-122"/>
                <a:cs typeface="Calibri" pitchFamily="34" charset="-120"/>
              </a:rPr>
              <a:t>Chat model</a:t>
            </a:r>
            <a:endParaRPr lang="en-US" sz="1600" dirty="0"/>
          </a:p>
        </p:txBody>
      </p:sp>
      <p:sp>
        <p:nvSpPr>
          <p:cNvPr id="7" name="Text 5"/>
          <p:cNvSpPr txBox="1"/>
          <p:nvPr/>
        </p:nvSpPr>
        <p:spPr>
          <a:xfrm>
            <a:off x="822960" y="2468880"/>
            <a:ext cx="4800600" cy="960120"/>
          </a:xfrm>
          <a:prstGeom prst="rect">
            <a:avLst/>
          </a:prstGeom>
          <a:noFill/>
          <a:ln/>
        </p:spPr>
        <p:txBody>
          <a:bodyPr wrap="square" lIns="0" tIns="0" rIns="0" bIns="0" rtlCol="0" anchor="ctr"/>
          <a:lstStyle/>
          <a:p>
            <a:pPr algn="l" indent="0" marL="0">
              <a:buNone/>
            </a:pPr>
            <a:r>
              <a:rPr lang="en-US" sz="1250" dirty="0">
                <a:solidFill>
                  <a:srgbClr val="3A3A3A"/>
                </a:solidFill>
                <a:latin typeface="Calibri" pitchFamily="34" charset="0"/>
                <a:ea typeface="Calibri" pitchFamily="34" charset="-122"/>
                <a:cs typeface="Calibri" pitchFamily="34" charset="-120"/>
              </a:rPr>
              <a:t>ChatGroq — LangChain's standard wrapper around a chat LLM. Same shape as ChatOpenAI / ChatAnthropic.</a:t>
            </a:r>
            <a:endParaRPr lang="en-US" sz="1250" dirty="0"/>
          </a:p>
        </p:txBody>
      </p:sp>
      <p:sp>
        <p:nvSpPr>
          <p:cNvPr id="8" name="Shape 6"/>
          <p:cNvSpPr/>
          <p:nvPr/>
        </p:nvSpPr>
        <p:spPr>
          <a:xfrm>
            <a:off x="6217920" y="1554480"/>
            <a:ext cx="5349240" cy="1965960"/>
          </a:xfrm>
          <a:prstGeom prst="roundRect">
            <a:avLst>
              <a:gd name="adj" fmla="val 5581"/>
            </a:avLst>
          </a:prstGeom>
          <a:solidFill>
            <a:srgbClr val="F1F5F9"/>
          </a:solidFill>
          <a:ln/>
          <a:effectLst>
            <a:outerShdw sx="100000" sy="100000" kx="0" ky="0" algn="bl" rotWithShape="0" blurRad="76200" dist="25400" dir="5400000">
              <a:srgbClr val="1D3557">
                <a:alpha val="16000"/>
              </a:srgbClr>
            </a:outerShdw>
          </a:effectLst>
        </p:spPr>
      </p:sp>
      <p:sp>
        <p:nvSpPr>
          <p:cNvPr id="9" name="Shape 7"/>
          <p:cNvSpPr/>
          <p:nvPr/>
        </p:nvSpPr>
        <p:spPr>
          <a:xfrm>
            <a:off x="6446520" y="1783080"/>
            <a:ext cx="502920" cy="502920"/>
          </a:xfrm>
          <a:prstGeom prst="ellipse">
            <a:avLst/>
          </a:prstGeom>
          <a:solidFill>
            <a:srgbClr val="1D3557"/>
          </a:solidFill>
          <a:ln/>
        </p:spPr>
      </p:sp>
      <p:sp>
        <p:nvSpPr>
          <p:cNvPr id="10" name="Text 8"/>
          <p:cNvSpPr txBox="1"/>
          <p:nvPr/>
        </p:nvSpPr>
        <p:spPr>
          <a:xfrm>
            <a:off x="6446520" y="178308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MSG</a:t>
            </a:r>
            <a:endParaRPr lang="en-US" sz="1200" dirty="0"/>
          </a:p>
        </p:txBody>
      </p:sp>
      <p:sp>
        <p:nvSpPr>
          <p:cNvPr id="11" name="Text 9"/>
          <p:cNvSpPr txBox="1"/>
          <p:nvPr/>
        </p:nvSpPr>
        <p:spPr>
          <a:xfrm>
            <a:off x="7086600" y="1810512"/>
            <a:ext cx="4251960" cy="365760"/>
          </a:xfrm>
          <a:prstGeom prst="rect">
            <a:avLst/>
          </a:prstGeom>
          <a:noFill/>
          <a:ln/>
        </p:spPr>
        <p:txBody>
          <a:bodyPr wrap="square" lIns="0" tIns="0" rIns="0" bIns="0" rtlCol="0" anchor="ctr"/>
          <a:lstStyle/>
          <a:p>
            <a:pPr algn="l" indent="0" marL="0">
              <a:buNone/>
            </a:pPr>
            <a:r>
              <a:rPr lang="en-US" sz="1600" b="1" dirty="0">
                <a:solidFill>
                  <a:srgbClr val="1D3557"/>
                </a:solidFill>
                <a:latin typeface="Calibri" pitchFamily="34" charset="0"/>
                <a:ea typeface="Calibri" pitchFamily="34" charset="-122"/>
                <a:cs typeface="Calibri" pitchFamily="34" charset="-120"/>
              </a:rPr>
              <a:t>Messages</a:t>
            </a:r>
            <a:endParaRPr lang="en-US" sz="1600" dirty="0"/>
          </a:p>
        </p:txBody>
      </p:sp>
      <p:sp>
        <p:nvSpPr>
          <p:cNvPr id="12" name="Text 10"/>
          <p:cNvSpPr txBox="1"/>
          <p:nvPr/>
        </p:nvSpPr>
        <p:spPr>
          <a:xfrm>
            <a:off x="6492240" y="2468880"/>
            <a:ext cx="4800600" cy="960120"/>
          </a:xfrm>
          <a:prstGeom prst="rect">
            <a:avLst/>
          </a:prstGeom>
          <a:noFill/>
          <a:ln/>
        </p:spPr>
        <p:txBody>
          <a:bodyPr wrap="square" lIns="0" tIns="0" rIns="0" bIns="0" rtlCol="0" anchor="ctr"/>
          <a:lstStyle/>
          <a:p>
            <a:pPr algn="l" indent="0" marL="0">
              <a:buNone/>
            </a:pPr>
            <a:r>
              <a:rPr lang="en-US" sz="1250" dirty="0">
                <a:solidFill>
                  <a:srgbClr val="3A3A3A"/>
                </a:solidFill>
                <a:latin typeface="Calibri" pitchFamily="34" charset="0"/>
                <a:ea typeface="Calibri" pitchFamily="34" charset="-122"/>
                <a:cs typeface="Calibri" pitchFamily="34" charset="-120"/>
              </a:rPr>
              <a:t>The conversation is a typed list: HumanMessage, AIMessage, SystemMessage, ToolMessage.</a:t>
            </a:r>
            <a:endParaRPr lang="en-US" sz="1250" dirty="0"/>
          </a:p>
        </p:txBody>
      </p:sp>
      <p:sp>
        <p:nvSpPr>
          <p:cNvPr id="13" name="Shape 11"/>
          <p:cNvSpPr/>
          <p:nvPr/>
        </p:nvSpPr>
        <p:spPr>
          <a:xfrm>
            <a:off x="548640" y="3794760"/>
            <a:ext cx="5349240" cy="1965960"/>
          </a:xfrm>
          <a:prstGeom prst="roundRect">
            <a:avLst>
              <a:gd name="adj" fmla="val 5581"/>
            </a:avLst>
          </a:prstGeom>
          <a:solidFill>
            <a:srgbClr val="F1F5F9"/>
          </a:solidFill>
          <a:ln/>
          <a:effectLst>
            <a:outerShdw sx="100000" sy="100000" kx="0" ky="0" algn="bl" rotWithShape="0" blurRad="76200" dist="25400" dir="5400000">
              <a:srgbClr val="1D3557">
                <a:alpha val="16000"/>
              </a:srgbClr>
            </a:outerShdw>
          </a:effectLst>
        </p:spPr>
      </p:sp>
      <p:sp>
        <p:nvSpPr>
          <p:cNvPr id="14" name="Shape 12"/>
          <p:cNvSpPr/>
          <p:nvPr/>
        </p:nvSpPr>
        <p:spPr>
          <a:xfrm>
            <a:off x="777240" y="4023360"/>
            <a:ext cx="502920" cy="502920"/>
          </a:xfrm>
          <a:prstGeom prst="ellipse">
            <a:avLst/>
          </a:prstGeom>
          <a:solidFill>
            <a:srgbClr val="1D3557"/>
          </a:solidFill>
          <a:ln/>
        </p:spPr>
      </p:sp>
      <p:sp>
        <p:nvSpPr>
          <p:cNvPr id="15" name="Text 13"/>
          <p:cNvSpPr txBox="1"/>
          <p:nvPr/>
        </p:nvSpPr>
        <p:spPr>
          <a:xfrm>
            <a:off x="777240" y="402336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FN</a:t>
            </a:r>
            <a:endParaRPr lang="en-US" sz="1200" dirty="0"/>
          </a:p>
        </p:txBody>
      </p:sp>
      <p:sp>
        <p:nvSpPr>
          <p:cNvPr id="16" name="Text 14"/>
          <p:cNvSpPr txBox="1"/>
          <p:nvPr/>
        </p:nvSpPr>
        <p:spPr>
          <a:xfrm>
            <a:off x="1417320" y="4050792"/>
            <a:ext cx="4251960" cy="365760"/>
          </a:xfrm>
          <a:prstGeom prst="rect">
            <a:avLst/>
          </a:prstGeom>
          <a:noFill/>
          <a:ln/>
        </p:spPr>
        <p:txBody>
          <a:bodyPr wrap="square" lIns="0" tIns="0" rIns="0" bIns="0" rtlCol="0" anchor="ctr"/>
          <a:lstStyle/>
          <a:p>
            <a:pPr algn="l" indent="0" marL="0">
              <a:buNone/>
            </a:pPr>
            <a:r>
              <a:rPr lang="en-US" sz="1600" b="1" dirty="0">
                <a:solidFill>
                  <a:srgbClr val="1D3557"/>
                </a:solidFill>
                <a:latin typeface="Calibri" pitchFamily="34" charset="0"/>
                <a:ea typeface="Calibri" pitchFamily="34" charset="-122"/>
                <a:cs typeface="Calibri" pitchFamily="34" charset="-120"/>
              </a:rPr>
              <a:t>Tools</a:t>
            </a:r>
            <a:endParaRPr lang="en-US" sz="1600" dirty="0"/>
          </a:p>
        </p:txBody>
      </p:sp>
      <p:sp>
        <p:nvSpPr>
          <p:cNvPr id="17" name="Text 15"/>
          <p:cNvSpPr txBox="1"/>
          <p:nvPr/>
        </p:nvSpPr>
        <p:spPr>
          <a:xfrm>
            <a:off x="822960" y="4709160"/>
            <a:ext cx="4800600" cy="960120"/>
          </a:xfrm>
          <a:prstGeom prst="rect">
            <a:avLst/>
          </a:prstGeom>
          <a:noFill/>
          <a:ln/>
        </p:spPr>
        <p:txBody>
          <a:bodyPr wrap="square" lIns="0" tIns="0" rIns="0" bIns="0" rtlCol="0" anchor="ctr"/>
          <a:lstStyle/>
          <a:p>
            <a:pPr algn="l" indent="0" marL="0">
              <a:buNone/>
            </a:pPr>
            <a:r>
              <a:rPr lang="en-US" sz="1250" dirty="0">
                <a:solidFill>
                  <a:srgbClr val="3A3A3A"/>
                </a:solidFill>
                <a:latin typeface="Calibri" pitchFamily="34" charset="0"/>
                <a:ea typeface="Calibri" pitchFamily="34" charset="-122"/>
                <a:cs typeface="Calibri" pitchFamily="34" charset="-120"/>
              </a:rPr>
              <a:t>A plain Python function + @tool decorator + a docstring. The docstring is the ONLY thing the model reads.</a:t>
            </a:r>
            <a:endParaRPr lang="en-US" sz="1250" dirty="0"/>
          </a:p>
        </p:txBody>
      </p:sp>
      <p:sp>
        <p:nvSpPr>
          <p:cNvPr id="18" name="Shape 16"/>
          <p:cNvSpPr/>
          <p:nvPr/>
        </p:nvSpPr>
        <p:spPr>
          <a:xfrm>
            <a:off x="6217920" y="3794760"/>
            <a:ext cx="5349240" cy="1965960"/>
          </a:xfrm>
          <a:prstGeom prst="roundRect">
            <a:avLst>
              <a:gd name="adj" fmla="val 5581"/>
            </a:avLst>
          </a:prstGeom>
          <a:solidFill>
            <a:srgbClr val="F1F5F9"/>
          </a:solidFill>
          <a:ln/>
          <a:effectLst>
            <a:outerShdw sx="100000" sy="100000" kx="0" ky="0" algn="bl" rotWithShape="0" blurRad="76200" dist="25400" dir="5400000">
              <a:srgbClr val="1D3557">
                <a:alpha val="16000"/>
              </a:srgbClr>
            </a:outerShdw>
          </a:effectLst>
        </p:spPr>
      </p:sp>
      <p:sp>
        <p:nvSpPr>
          <p:cNvPr id="19" name="Shape 17"/>
          <p:cNvSpPr/>
          <p:nvPr/>
        </p:nvSpPr>
        <p:spPr>
          <a:xfrm>
            <a:off x="6446520" y="4023360"/>
            <a:ext cx="502920" cy="502920"/>
          </a:xfrm>
          <a:prstGeom prst="ellipse">
            <a:avLst/>
          </a:prstGeom>
          <a:solidFill>
            <a:srgbClr val="1D3557"/>
          </a:solidFill>
          <a:ln/>
        </p:spPr>
      </p:sp>
      <p:sp>
        <p:nvSpPr>
          <p:cNvPr id="20" name="Text 18"/>
          <p:cNvSpPr txBox="1"/>
          <p:nvPr/>
        </p:nvSpPr>
        <p:spPr>
          <a:xfrm>
            <a:off x="6446520" y="402336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7086600" y="4050792"/>
            <a:ext cx="4251960" cy="365760"/>
          </a:xfrm>
          <a:prstGeom prst="rect">
            <a:avLst/>
          </a:prstGeom>
          <a:noFill/>
          <a:ln/>
        </p:spPr>
        <p:txBody>
          <a:bodyPr wrap="square" lIns="0" tIns="0" rIns="0" bIns="0" rtlCol="0" anchor="ctr"/>
          <a:lstStyle/>
          <a:p>
            <a:pPr algn="l" indent="0" marL="0">
              <a:buNone/>
            </a:pPr>
            <a:r>
              <a:rPr lang="en-US" sz="1600" b="1" dirty="0">
                <a:solidFill>
                  <a:srgbClr val="1D3557"/>
                </a:solidFill>
                <a:latin typeface="Calibri" pitchFamily="34" charset="0"/>
                <a:ea typeface="Calibri" pitchFamily="34" charset="-122"/>
                <a:cs typeface="Calibri" pitchFamily="34" charset="-120"/>
              </a:rPr>
              <a:t>Binding &amp; responses</a:t>
            </a:r>
            <a:endParaRPr lang="en-US" sz="1600" dirty="0"/>
          </a:p>
        </p:txBody>
      </p:sp>
      <p:sp>
        <p:nvSpPr>
          <p:cNvPr id="22" name="Text 20"/>
          <p:cNvSpPr txBox="1"/>
          <p:nvPr/>
        </p:nvSpPr>
        <p:spPr>
          <a:xfrm>
            <a:off x="6492240" y="4709160"/>
            <a:ext cx="4800600" cy="960120"/>
          </a:xfrm>
          <a:prstGeom prst="rect">
            <a:avLst/>
          </a:prstGeom>
          <a:noFill/>
          <a:ln/>
        </p:spPr>
        <p:txBody>
          <a:bodyPr wrap="square" lIns="0" tIns="0" rIns="0" bIns="0" rtlCol="0" anchor="ctr"/>
          <a:lstStyle/>
          <a:p>
            <a:pPr algn="l" indent="0" marL="0">
              <a:buNone/>
            </a:pPr>
            <a:r>
              <a:rPr lang="en-US" sz="1250" dirty="0">
                <a:solidFill>
                  <a:srgbClr val="3A3A3A"/>
                </a:solidFill>
                <a:latin typeface="Calibri" pitchFamily="34" charset="0"/>
                <a:ea typeface="Calibri" pitchFamily="34" charset="-122"/>
                <a:cs typeface="Calibri" pitchFamily="34" charset="-120"/>
              </a:rPr>
              <a:t>llm.bind_tools([...]) tells the model what it can request. ai_message.tool_calls comes back empty or with requests.</a:t>
            </a:r>
            <a:endParaRPr lang="en-US" sz="1250" dirty="0"/>
          </a:p>
        </p:txBody>
      </p:sp>
      <p:sp>
        <p:nvSpPr>
          <p:cNvPr id="23" name="Text 21"/>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24" name="Text 22"/>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8 / 21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D3557"/>
                </a:solidFill>
                <a:latin typeface="Bookman Old Style" pitchFamily="34" charset="0"/>
                <a:ea typeface="Bookman Old Style" pitchFamily="34" charset="-122"/>
                <a:cs typeface="Bookman Old Style" pitchFamily="34" charset="-120"/>
              </a:rPr>
              <a:t>The scaffold — repo tour</a:t>
            </a:r>
            <a:endParaRPr lang="en-US" sz="3200" dirty="0"/>
          </a:p>
        </p:txBody>
      </p:sp>
      <p:sp>
        <p:nvSpPr>
          <p:cNvPr id="3" name="Shape 1"/>
          <p:cNvSpPr/>
          <p:nvPr/>
        </p:nvSpPr>
        <p:spPr>
          <a:xfrm>
            <a:off x="548640" y="2103120"/>
            <a:ext cx="1481328" cy="1188720"/>
          </a:xfrm>
          <a:prstGeom prst="roundRect">
            <a:avLst>
              <a:gd name="adj" fmla="val 7692"/>
            </a:avLst>
          </a:prstGeom>
          <a:solidFill>
            <a:srgbClr val="F1F5F9"/>
          </a:solidFill>
          <a:ln/>
          <a:effectLst>
            <a:outerShdw sx="100000" sy="100000" kx="0" ky="0" algn="bl" rotWithShape="0" blurRad="76200" dist="25400" dir="5400000">
              <a:srgbClr val="1D3557">
                <a:alpha val="16000"/>
              </a:srgbClr>
            </a:outerShdw>
          </a:effectLst>
        </p:spPr>
      </p:sp>
      <p:sp>
        <p:nvSpPr>
          <p:cNvPr id="4" name="Text 2"/>
          <p:cNvSpPr txBox="1"/>
          <p:nvPr/>
        </p:nvSpPr>
        <p:spPr>
          <a:xfrm>
            <a:off x="603504" y="2103120"/>
            <a:ext cx="1371600" cy="1188720"/>
          </a:xfrm>
          <a:prstGeom prst="rect">
            <a:avLst/>
          </a:prstGeom>
          <a:noFill/>
          <a:ln/>
        </p:spPr>
        <p:txBody>
          <a:bodyPr wrap="square" lIns="0" tIns="0" rIns="0" bIns="0" rtlCol="0" anchor="ctr"/>
          <a:lstStyle/>
          <a:p>
            <a:pPr algn="ctr" indent="0" marL="0">
              <a:buNone/>
            </a:pPr>
            <a:r>
              <a:rPr lang="en-US" sz="1200" b="1" dirty="0">
                <a:solidFill>
                  <a:srgbClr val="1D3557"/>
                </a:solidFill>
                <a:latin typeface="Calibri" pitchFamily="34" charset="0"/>
                <a:ea typeface="Calibri" pitchFamily="34" charset="-122"/>
                <a:cs typeface="Calibri" pitchFamily="34" charset="-120"/>
              </a:rPr>
              <a:t>phase_00</a:t>
            </a:r>
            <a:endParaRPr lang="en-US" sz="1200" dirty="0"/>
          </a:p>
          <a:p>
            <a:pPr algn="ctr" indent="0" marL="0">
              <a:buNone/>
            </a:pPr>
            <a:r>
              <a:rPr lang="en-US" sz="1200" b="1" dirty="0">
                <a:solidFill>
                  <a:srgbClr val="1D3557"/>
                </a:solidFill>
                <a:latin typeface="Calibri" pitchFamily="34" charset="0"/>
                <a:ea typeface="Calibri" pitchFamily="34" charset="-122"/>
                <a:cs typeface="Calibri" pitchFamily="34" charset="-120"/>
              </a:rPr>
              <a:t>Setup</a:t>
            </a:r>
            <a:endParaRPr lang="en-US" sz="1200" dirty="0"/>
          </a:p>
        </p:txBody>
      </p:sp>
      <p:sp>
        <p:nvSpPr>
          <p:cNvPr id="5" name="Text 3"/>
          <p:cNvSpPr txBox="1"/>
          <p:nvPr/>
        </p:nvSpPr>
        <p:spPr>
          <a:xfrm>
            <a:off x="2029968" y="2103120"/>
            <a:ext cx="137160" cy="118872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6" name="Shape 4"/>
          <p:cNvSpPr/>
          <p:nvPr/>
        </p:nvSpPr>
        <p:spPr>
          <a:xfrm>
            <a:off x="2148840" y="2103120"/>
            <a:ext cx="1481328" cy="1188720"/>
          </a:xfrm>
          <a:prstGeom prst="roundRect">
            <a:avLst>
              <a:gd name="adj" fmla="val 7692"/>
            </a:avLst>
          </a:prstGeom>
          <a:solidFill>
            <a:srgbClr val="F1F5F9"/>
          </a:solidFill>
          <a:ln/>
          <a:effectLst>
            <a:outerShdw sx="100000" sy="100000" kx="0" ky="0" algn="bl" rotWithShape="0" blurRad="76200" dist="25400" dir="5400000">
              <a:srgbClr val="1D3557">
                <a:alpha val="16000"/>
              </a:srgbClr>
            </a:outerShdw>
          </a:effectLst>
        </p:spPr>
      </p:sp>
      <p:sp>
        <p:nvSpPr>
          <p:cNvPr id="7" name="Text 5"/>
          <p:cNvSpPr txBox="1"/>
          <p:nvPr/>
        </p:nvSpPr>
        <p:spPr>
          <a:xfrm>
            <a:off x="2203704" y="2103120"/>
            <a:ext cx="1371600" cy="1188720"/>
          </a:xfrm>
          <a:prstGeom prst="rect">
            <a:avLst/>
          </a:prstGeom>
          <a:noFill/>
          <a:ln/>
        </p:spPr>
        <p:txBody>
          <a:bodyPr wrap="square" lIns="0" tIns="0" rIns="0" bIns="0" rtlCol="0" anchor="ctr"/>
          <a:lstStyle/>
          <a:p>
            <a:pPr algn="ctr" indent="0" marL="0">
              <a:buNone/>
            </a:pPr>
            <a:r>
              <a:rPr lang="en-US" sz="1200" b="1" dirty="0">
                <a:solidFill>
                  <a:srgbClr val="1D3557"/>
                </a:solidFill>
                <a:latin typeface="Calibri" pitchFamily="34" charset="0"/>
                <a:ea typeface="Calibri" pitchFamily="34" charset="-122"/>
                <a:cs typeface="Calibri" pitchFamily="34" charset="-120"/>
              </a:rPr>
              <a:t>phase_01</a:t>
            </a:r>
            <a:endParaRPr lang="en-US" sz="1200" dirty="0"/>
          </a:p>
          <a:p>
            <a:pPr algn="ctr" indent="0" marL="0">
              <a:buNone/>
            </a:pPr>
            <a:r>
              <a:rPr lang="en-US" sz="1200" b="1" dirty="0">
                <a:solidFill>
                  <a:srgbClr val="1D3557"/>
                </a:solidFill>
                <a:latin typeface="Calibri" pitchFamily="34" charset="0"/>
                <a:ea typeface="Calibri" pitchFamily="34" charset="-122"/>
                <a:cs typeface="Calibri" pitchFamily="34" charset="-120"/>
              </a:rPr>
              <a:t>First Agent</a:t>
            </a:r>
            <a:endParaRPr lang="en-US" sz="1200" dirty="0"/>
          </a:p>
        </p:txBody>
      </p:sp>
      <p:sp>
        <p:nvSpPr>
          <p:cNvPr id="8" name="Text 6"/>
          <p:cNvSpPr txBox="1"/>
          <p:nvPr/>
        </p:nvSpPr>
        <p:spPr>
          <a:xfrm>
            <a:off x="3630168" y="2103120"/>
            <a:ext cx="137160" cy="118872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3749040" y="2103120"/>
            <a:ext cx="1481328" cy="1188720"/>
          </a:xfrm>
          <a:prstGeom prst="roundRect">
            <a:avLst>
              <a:gd name="adj" fmla="val 7692"/>
            </a:avLst>
          </a:prstGeom>
          <a:solidFill>
            <a:srgbClr val="F1F5F9"/>
          </a:solidFill>
          <a:ln/>
          <a:effectLst>
            <a:outerShdw sx="100000" sy="100000" kx="0" ky="0" algn="bl" rotWithShape="0" blurRad="76200" dist="25400" dir="5400000">
              <a:srgbClr val="1D3557">
                <a:alpha val="16000"/>
              </a:srgbClr>
            </a:outerShdw>
          </a:effectLst>
        </p:spPr>
      </p:sp>
      <p:sp>
        <p:nvSpPr>
          <p:cNvPr id="10" name="Text 8"/>
          <p:cNvSpPr txBox="1"/>
          <p:nvPr/>
        </p:nvSpPr>
        <p:spPr>
          <a:xfrm>
            <a:off x="3803904" y="2103120"/>
            <a:ext cx="1371600" cy="1188720"/>
          </a:xfrm>
          <a:prstGeom prst="rect">
            <a:avLst/>
          </a:prstGeom>
          <a:noFill/>
          <a:ln/>
        </p:spPr>
        <p:txBody>
          <a:bodyPr wrap="square" lIns="0" tIns="0" rIns="0" bIns="0" rtlCol="0" anchor="ctr"/>
          <a:lstStyle/>
          <a:p>
            <a:pPr algn="ctr" indent="0" marL="0">
              <a:buNone/>
            </a:pPr>
            <a:r>
              <a:rPr lang="en-US" sz="1200" b="1" dirty="0">
                <a:solidFill>
                  <a:srgbClr val="1D3557"/>
                </a:solidFill>
                <a:latin typeface="Calibri" pitchFamily="34" charset="0"/>
                <a:ea typeface="Calibri" pitchFamily="34" charset="-122"/>
                <a:cs typeface="Calibri" pitchFamily="34" charset="-120"/>
              </a:rPr>
              <a:t>phase_02</a:t>
            </a:r>
            <a:endParaRPr lang="en-US" sz="1200" dirty="0"/>
          </a:p>
          <a:p>
            <a:pPr algn="ctr" indent="0" marL="0">
              <a:buNone/>
            </a:pPr>
            <a:r>
              <a:rPr lang="en-US" sz="1200" b="1" dirty="0">
                <a:solidFill>
                  <a:srgbClr val="1D3557"/>
                </a:solidFill>
                <a:latin typeface="Calibri" pitchFamily="34" charset="0"/>
                <a:ea typeface="Calibri" pitchFamily="34" charset="-122"/>
                <a:cs typeface="Calibri" pitchFamily="34" charset="-120"/>
              </a:rPr>
              <a:t>Add a Tool</a:t>
            </a:r>
            <a:endParaRPr lang="en-US" sz="1200" dirty="0"/>
          </a:p>
        </p:txBody>
      </p:sp>
      <p:sp>
        <p:nvSpPr>
          <p:cNvPr id="11" name="Text 9"/>
          <p:cNvSpPr txBox="1"/>
          <p:nvPr/>
        </p:nvSpPr>
        <p:spPr>
          <a:xfrm>
            <a:off x="5230368" y="2103120"/>
            <a:ext cx="137160" cy="118872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5349240" y="2103120"/>
            <a:ext cx="1481328" cy="1188720"/>
          </a:xfrm>
          <a:prstGeom prst="roundRect">
            <a:avLst>
              <a:gd name="adj" fmla="val 7692"/>
            </a:avLst>
          </a:prstGeom>
          <a:solidFill>
            <a:srgbClr val="F1F5F9"/>
          </a:solidFill>
          <a:ln/>
          <a:effectLst>
            <a:outerShdw sx="100000" sy="100000" kx="0" ky="0" algn="bl" rotWithShape="0" blurRad="76200" dist="25400" dir="5400000">
              <a:srgbClr val="1D3557">
                <a:alpha val="16000"/>
              </a:srgbClr>
            </a:outerShdw>
          </a:effectLst>
        </p:spPr>
      </p:sp>
      <p:sp>
        <p:nvSpPr>
          <p:cNvPr id="13" name="Text 11"/>
          <p:cNvSpPr txBox="1"/>
          <p:nvPr/>
        </p:nvSpPr>
        <p:spPr>
          <a:xfrm>
            <a:off x="5404104" y="2103120"/>
            <a:ext cx="1371600" cy="1188720"/>
          </a:xfrm>
          <a:prstGeom prst="rect">
            <a:avLst/>
          </a:prstGeom>
          <a:noFill/>
          <a:ln/>
        </p:spPr>
        <p:txBody>
          <a:bodyPr wrap="square" lIns="0" tIns="0" rIns="0" bIns="0" rtlCol="0" anchor="ctr"/>
          <a:lstStyle/>
          <a:p>
            <a:pPr algn="ctr" indent="0" marL="0">
              <a:buNone/>
            </a:pPr>
            <a:r>
              <a:rPr lang="en-US" sz="1200" b="1" dirty="0">
                <a:solidFill>
                  <a:srgbClr val="1D3557"/>
                </a:solidFill>
                <a:latin typeface="Calibri" pitchFamily="34" charset="0"/>
                <a:ea typeface="Calibri" pitchFamily="34" charset="-122"/>
                <a:cs typeface="Calibri" pitchFamily="34" charset="-120"/>
              </a:rPr>
              <a:t>phase_03</a:t>
            </a:r>
            <a:endParaRPr lang="en-US" sz="1200" dirty="0"/>
          </a:p>
          <a:p>
            <a:pPr algn="ctr" indent="0" marL="0">
              <a:buNone/>
            </a:pPr>
            <a:r>
              <a:rPr lang="en-US" sz="1200" b="1" dirty="0">
                <a:solidFill>
                  <a:srgbClr val="1D3557"/>
                </a:solidFill>
                <a:latin typeface="Calibri" pitchFamily="34" charset="0"/>
                <a:ea typeface="Calibri" pitchFamily="34" charset="-122"/>
                <a:cs typeface="Calibri" pitchFamily="34" charset="-120"/>
              </a:rPr>
              <a:t>Memory</a:t>
            </a:r>
            <a:endParaRPr lang="en-US" sz="1200" dirty="0"/>
          </a:p>
        </p:txBody>
      </p:sp>
      <p:sp>
        <p:nvSpPr>
          <p:cNvPr id="14" name="Text 12"/>
          <p:cNvSpPr txBox="1"/>
          <p:nvPr/>
        </p:nvSpPr>
        <p:spPr>
          <a:xfrm>
            <a:off x="6830568" y="2103120"/>
            <a:ext cx="137160" cy="118872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6949440" y="2103120"/>
            <a:ext cx="1481328" cy="1188720"/>
          </a:xfrm>
          <a:prstGeom prst="roundRect">
            <a:avLst>
              <a:gd name="adj" fmla="val 7692"/>
            </a:avLst>
          </a:prstGeom>
          <a:solidFill>
            <a:srgbClr val="F1F5F9"/>
          </a:solidFill>
          <a:ln/>
          <a:effectLst>
            <a:outerShdw sx="100000" sy="100000" kx="0" ky="0" algn="bl" rotWithShape="0" blurRad="76200" dist="25400" dir="5400000">
              <a:srgbClr val="1D3557">
                <a:alpha val="16000"/>
              </a:srgbClr>
            </a:outerShdw>
          </a:effectLst>
        </p:spPr>
      </p:sp>
      <p:sp>
        <p:nvSpPr>
          <p:cNvPr id="16" name="Text 14"/>
          <p:cNvSpPr txBox="1"/>
          <p:nvPr/>
        </p:nvSpPr>
        <p:spPr>
          <a:xfrm>
            <a:off x="7004304" y="2103120"/>
            <a:ext cx="1371600" cy="1188720"/>
          </a:xfrm>
          <a:prstGeom prst="rect">
            <a:avLst/>
          </a:prstGeom>
          <a:noFill/>
          <a:ln/>
        </p:spPr>
        <p:txBody>
          <a:bodyPr wrap="square" lIns="0" tIns="0" rIns="0" bIns="0" rtlCol="0" anchor="ctr"/>
          <a:lstStyle/>
          <a:p>
            <a:pPr algn="ctr" indent="0" marL="0">
              <a:buNone/>
            </a:pPr>
            <a:r>
              <a:rPr lang="en-US" sz="1200" b="1" dirty="0">
                <a:solidFill>
                  <a:srgbClr val="1D3557"/>
                </a:solidFill>
                <a:latin typeface="Calibri" pitchFamily="34" charset="0"/>
                <a:ea typeface="Calibri" pitchFamily="34" charset="-122"/>
                <a:cs typeface="Calibri" pitchFamily="34" charset="-120"/>
              </a:rPr>
              <a:t>phase_04</a:t>
            </a:r>
            <a:endParaRPr lang="en-US" sz="1200" dirty="0"/>
          </a:p>
          <a:p>
            <a:pPr algn="ctr" indent="0" marL="0">
              <a:buNone/>
            </a:pPr>
            <a:r>
              <a:rPr lang="en-US" sz="1200" b="1" dirty="0">
                <a:solidFill>
                  <a:srgbClr val="1D3557"/>
                </a:solidFill>
                <a:latin typeface="Calibri" pitchFamily="34" charset="0"/>
                <a:ea typeface="Calibri" pitchFamily="34" charset="-122"/>
                <a:cs typeface="Calibri" pitchFamily="34" charset="-120"/>
              </a:rPr>
              <a:t>Multi-Step</a:t>
            </a:r>
            <a:endParaRPr lang="en-US" sz="1200" dirty="0"/>
          </a:p>
        </p:txBody>
      </p:sp>
      <p:sp>
        <p:nvSpPr>
          <p:cNvPr id="17" name="Text 15"/>
          <p:cNvSpPr txBox="1"/>
          <p:nvPr/>
        </p:nvSpPr>
        <p:spPr>
          <a:xfrm>
            <a:off x="8430768" y="2103120"/>
            <a:ext cx="137160" cy="118872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8549640" y="2103120"/>
            <a:ext cx="1481328" cy="1188720"/>
          </a:xfrm>
          <a:prstGeom prst="roundRect">
            <a:avLst>
              <a:gd name="adj" fmla="val 7692"/>
            </a:avLst>
          </a:prstGeom>
          <a:solidFill>
            <a:srgbClr val="1D3557"/>
          </a:solidFill>
          <a:ln/>
          <a:effectLst>
            <a:outerShdw sx="100000" sy="100000" kx="0" ky="0" algn="bl" rotWithShape="0" blurRad="76200" dist="25400" dir="5400000">
              <a:srgbClr val="1D3557">
                <a:alpha val="16000"/>
              </a:srgbClr>
            </a:outerShdw>
          </a:effectLst>
        </p:spPr>
      </p:sp>
      <p:sp>
        <p:nvSpPr>
          <p:cNvPr id="19" name="Text 17"/>
          <p:cNvSpPr txBox="1"/>
          <p:nvPr/>
        </p:nvSpPr>
        <p:spPr>
          <a:xfrm>
            <a:off x="8604504" y="2103120"/>
            <a:ext cx="1371600" cy="11887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tracks/</a:t>
            </a:r>
            <a:endParaRPr lang="en-US" sz="1200" dirty="0"/>
          </a:p>
        </p:txBody>
      </p:sp>
      <p:sp>
        <p:nvSpPr>
          <p:cNvPr id="20" name="Text 18"/>
          <p:cNvSpPr txBox="1"/>
          <p:nvPr/>
        </p:nvSpPr>
        <p:spPr>
          <a:xfrm>
            <a:off x="10030968" y="2103120"/>
            <a:ext cx="137160" cy="118872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10149840" y="2103120"/>
            <a:ext cx="1481328" cy="1188720"/>
          </a:xfrm>
          <a:prstGeom prst="roundRect">
            <a:avLst>
              <a:gd name="adj" fmla="val 7692"/>
            </a:avLst>
          </a:prstGeom>
          <a:solidFill>
            <a:srgbClr val="1D3557"/>
          </a:solidFill>
          <a:ln/>
          <a:effectLst>
            <a:outerShdw sx="100000" sy="100000" kx="0" ky="0" algn="bl" rotWithShape="0" blurRad="76200" dist="25400" dir="5400000">
              <a:srgbClr val="1D3557">
                <a:alpha val="16000"/>
              </a:srgbClr>
            </a:outerShdw>
          </a:effectLst>
        </p:spPr>
      </p:sp>
      <p:sp>
        <p:nvSpPr>
          <p:cNvPr id="22" name="Text 20"/>
          <p:cNvSpPr txBox="1"/>
          <p:nvPr/>
        </p:nvSpPr>
        <p:spPr>
          <a:xfrm>
            <a:off x="10204704" y="2103120"/>
            <a:ext cx="1371600" cy="11887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template/</a:t>
            </a:r>
            <a:endParaRPr lang="en-US" sz="1200" dirty="0"/>
          </a:p>
        </p:txBody>
      </p:sp>
      <p:sp>
        <p:nvSpPr>
          <p:cNvPr id="23" name="Shape 21"/>
          <p:cNvSpPr/>
          <p:nvPr/>
        </p:nvSpPr>
        <p:spPr>
          <a:xfrm>
            <a:off x="548640" y="3840480"/>
            <a:ext cx="11064240" cy="1737360"/>
          </a:xfrm>
          <a:prstGeom prst="roundRect">
            <a:avLst>
              <a:gd name="adj" fmla="val 6316"/>
            </a:avLst>
          </a:prstGeom>
          <a:solidFill>
            <a:srgbClr val="F1F5F9"/>
          </a:solidFill>
          <a:ln/>
          <a:effectLst>
            <a:outerShdw sx="100000" sy="100000" kx="0" ky="0" algn="bl" rotWithShape="0" blurRad="76200" dist="25400" dir="5400000">
              <a:srgbClr val="1D3557">
                <a:alpha val="16000"/>
              </a:srgbClr>
            </a:outerShdw>
          </a:effectLst>
        </p:spPr>
      </p:sp>
      <p:sp>
        <p:nvSpPr>
          <p:cNvPr id="24" name="Text 22"/>
          <p:cNvSpPr txBox="1"/>
          <p:nvPr/>
        </p:nvSpPr>
        <p:spPr>
          <a:xfrm>
            <a:off x="868680" y="4069080"/>
            <a:ext cx="10424160" cy="365760"/>
          </a:xfrm>
          <a:prstGeom prst="rect">
            <a:avLst/>
          </a:prstGeom>
          <a:noFill/>
          <a:ln/>
        </p:spPr>
        <p:txBody>
          <a:bodyPr wrap="square" lIns="0" tIns="0" rIns="0" bIns="0" rtlCol="0" anchor="ctr"/>
          <a:lstStyle/>
          <a:p>
            <a:pPr algn="l" indent="0" marL="0">
              <a:buNone/>
            </a:pPr>
            <a:r>
              <a:rPr lang="en-US" sz="1500" b="1" dirty="0">
                <a:solidFill>
                  <a:srgbClr val="1D3557"/>
                </a:solidFill>
                <a:latin typeface="Calibri" pitchFamily="34" charset="0"/>
                <a:ea typeface="Calibri" pitchFamily="34" charset="-122"/>
                <a:cs typeface="Calibri" pitchFamily="34" charset="-120"/>
              </a:rPr>
              <a:t>Every phase from here follows the exact same loop:</a:t>
            </a:r>
            <a:endParaRPr lang="en-US" sz="1500" dirty="0"/>
          </a:p>
        </p:txBody>
      </p:sp>
      <p:sp>
        <p:nvSpPr>
          <p:cNvPr id="25" name="Text 23"/>
          <p:cNvSpPr txBox="1"/>
          <p:nvPr/>
        </p:nvSpPr>
        <p:spPr>
          <a:xfrm>
            <a:off x="868680" y="4480560"/>
            <a:ext cx="10424160" cy="822960"/>
          </a:xfrm>
          <a:prstGeom prst="rect">
            <a:avLst/>
          </a:prstGeom>
          <a:noFill/>
          <a:ln/>
        </p:spPr>
        <p:txBody>
          <a:bodyPr wrap="square" lIns="0" tIns="0" rIns="0" bIns="0" rtlCol="0" anchor="ctr"/>
          <a:lstStyle/>
          <a:p>
            <a:pPr algn="l" indent="0" marL="0">
              <a:buNone/>
            </a:pPr>
            <a:r>
              <a:rPr lang="en-US" sz="1600" b="1" i="1" dirty="0">
                <a:solidFill>
                  <a:srgbClr val="2A9D8F"/>
                </a:solidFill>
                <a:latin typeface="Calibri" pitchFamily="34" charset="0"/>
                <a:ea typeface="Calibri" pitchFamily="34" charset="-122"/>
                <a:cs typeface="Calibri" pitchFamily="34" charset="-120"/>
              </a:rPr>
              <a:t>ask the model  →  check if it wants a tool  →  run the tool  →  feed the result back  →  ask again</a:t>
            </a:r>
            <a:endParaRPr lang="en-US" sz="1600" dirty="0"/>
          </a:p>
        </p:txBody>
      </p:sp>
      <p:sp>
        <p:nvSpPr>
          <p:cNvPr id="26" name="Text 24"/>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27" name="Text 25"/>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9 / 21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2800" b="1" dirty="0">
                <a:solidFill>
                  <a:srgbClr val="1D3557"/>
                </a:solidFill>
                <a:latin typeface="Bookman Old Style" pitchFamily="34" charset="0"/>
                <a:ea typeface="Bookman Old Style" pitchFamily="34" charset="-122"/>
                <a:cs typeface="Bookman Old Style" pitchFamily="34" charset="-120"/>
              </a:rPr>
              <a:t>Phase 0 — Environment check</a:t>
            </a:r>
            <a:endParaRPr lang="en-US" sz="2800" dirty="0"/>
          </a:p>
        </p:txBody>
      </p:sp>
      <p:sp>
        <p:nvSpPr>
          <p:cNvPr id="3" name="Shape 1"/>
          <p:cNvSpPr/>
          <p:nvPr/>
        </p:nvSpPr>
        <p:spPr>
          <a:xfrm>
            <a:off x="548640" y="1417320"/>
            <a:ext cx="5943600" cy="4709160"/>
          </a:xfrm>
          <a:prstGeom prst="roundRect">
            <a:avLst>
              <a:gd name="adj" fmla="val 1942"/>
            </a:avLst>
          </a:prstGeom>
          <a:solidFill>
            <a:srgbClr val="0F1E33"/>
          </a:solidFill>
          <a:ln/>
          <a:effectLst>
            <a:outerShdw sx="100000" sy="100000" kx="0" ky="0" algn="bl" rotWithShape="0" blurRad="76200" dist="25400" dir="5400000">
              <a:srgbClr val="1D3557">
                <a:alpha val="16000"/>
              </a:srgbClr>
            </a:outerShdw>
          </a:effectLst>
        </p:spPr>
      </p:sp>
      <p:sp>
        <p:nvSpPr>
          <p:cNvPr id="4" name="Text 2"/>
          <p:cNvSpPr txBox="1"/>
          <p:nvPr/>
        </p:nvSpPr>
        <p:spPr>
          <a:xfrm>
            <a:off x="777240" y="1554480"/>
            <a:ext cx="5486400" cy="274320"/>
          </a:xfrm>
          <a:prstGeom prst="rect">
            <a:avLst/>
          </a:prstGeom>
          <a:noFill/>
          <a:ln/>
        </p:spPr>
        <p:txBody>
          <a:bodyPr wrap="square" lIns="0" tIns="0" rIns="0" bIns="0" rtlCol="0" anchor="ctr"/>
          <a:lstStyle/>
          <a:p>
            <a:pPr algn="l" indent="0" marL="0">
              <a:buNone/>
            </a:pPr>
            <a:r>
              <a:rPr lang="en-US" sz="1150" i="1" dirty="0">
                <a:solidFill>
                  <a:srgbClr val="D6E4F0"/>
                </a:solidFill>
                <a:latin typeface="Calibri" pitchFamily="34" charset="0"/>
                <a:ea typeface="Calibri" pitchFamily="34" charset="-122"/>
                <a:cs typeface="Calibri" pitchFamily="34" charset="-120"/>
              </a:rPr>
              <a:t>phase_00_setup/check_environment.py</a:t>
            </a:r>
            <a:endParaRPr lang="en-US" sz="1150" dirty="0"/>
          </a:p>
        </p:txBody>
      </p:sp>
      <p:sp>
        <p:nvSpPr>
          <p:cNvPr id="5" name="Text 3"/>
          <p:cNvSpPr txBox="1"/>
          <p:nvPr/>
        </p:nvSpPr>
        <p:spPr>
          <a:xfrm>
            <a:off x="777240" y="1920240"/>
            <a:ext cx="5486400" cy="4023360"/>
          </a:xfrm>
          <a:prstGeom prst="rect">
            <a:avLst/>
          </a:prstGeom>
          <a:noFill/>
          <a:ln/>
        </p:spPr>
        <p:txBody>
          <a:bodyPr wrap="square" lIns="0" tIns="0" rIns="0" bIns="0" rtlCol="0" anchor="ctr"/>
          <a:lstStyle/>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def check_key_actually_works():</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client = Groq(api_key=api_key)</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try:</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client.chat.completions.create(</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model=model,</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messages=[{"role": "user",</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"content": "Say OK"}],</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max_tokens=5,</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except Exception as e:</a:t>
            </a:r>
            <a:endParaRPr lang="en-US" sz="1250" dirty="0"/>
          </a:p>
          <a:p>
            <a:pPr algn="l" indent="0" marL="0">
              <a:lnSpc>
                <a:spcPct val="118000"/>
              </a:lnSpc>
              <a:buNone/>
            </a:pPr>
            <a:r>
              <a:rPr lang="en-US" sz="1250" dirty="0">
                <a:solidFill>
                  <a:srgbClr val="8FB39A"/>
                </a:solidFill>
                <a:latin typeface="Courier New" pitchFamily="34" charset="0"/>
                <a:ea typeface="Courier New" pitchFamily="34" charset="-122"/>
                <a:cs typeface="Courier New" pitchFamily="34" charset="-120"/>
              </a:rPr>
              <a:t>        print("FAIL:", e)</a:t>
            </a:r>
            <a:endParaRPr lang="en-US" sz="1250" dirty="0"/>
          </a:p>
        </p:txBody>
      </p:sp>
      <p:sp>
        <p:nvSpPr>
          <p:cNvPr id="6" name="Text 4"/>
          <p:cNvSpPr txBox="1"/>
          <p:nvPr/>
        </p:nvSpPr>
        <p:spPr>
          <a:xfrm>
            <a:off x="6766560" y="1508760"/>
            <a:ext cx="4846320" cy="457200"/>
          </a:xfrm>
          <a:prstGeom prst="rect">
            <a:avLst/>
          </a:prstGeom>
          <a:noFill/>
          <a:ln/>
        </p:spPr>
        <p:txBody>
          <a:bodyPr wrap="square" lIns="0" tIns="0" rIns="0" bIns="0" rtlCol="0" anchor="ctr"/>
          <a:lstStyle/>
          <a:p>
            <a:pPr algn="l" indent="0" marL="0">
              <a:buNone/>
            </a:pPr>
            <a:r>
              <a:rPr lang="en-US" sz="1600" b="1" dirty="0">
                <a:solidFill>
                  <a:srgbClr val="1D3557"/>
                </a:solidFill>
                <a:latin typeface="Calibri" pitchFamily="34" charset="0"/>
                <a:ea typeface="Calibri" pitchFamily="34" charset="-122"/>
                <a:cs typeface="Calibri" pitchFamily="34" charset="-120"/>
              </a:rPr>
              <a:t>Four checks, in order</a:t>
            </a:r>
            <a:endParaRPr lang="en-US" sz="1600" dirty="0"/>
          </a:p>
        </p:txBody>
      </p:sp>
      <p:sp>
        <p:nvSpPr>
          <p:cNvPr id="7" name="Shape 5"/>
          <p:cNvSpPr/>
          <p:nvPr/>
        </p:nvSpPr>
        <p:spPr>
          <a:xfrm>
            <a:off x="6766560" y="2185416"/>
            <a:ext cx="100584" cy="100584"/>
          </a:xfrm>
          <a:prstGeom prst="ellipse">
            <a:avLst/>
          </a:prstGeom>
          <a:solidFill>
            <a:srgbClr val="2A9D8F"/>
          </a:solidFill>
          <a:ln/>
        </p:spPr>
      </p:sp>
      <p:sp>
        <p:nvSpPr>
          <p:cNvPr id="8" name="Text 6"/>
          <p:cNvSpPr txBox="1"/>
          <p:nvPr/>
        </p:nvSpPr>
        <p:spPr>
          <a:xfrm>
            <a:off x="7022592" y="2048256"/>
            <a:ext cx="4636008" cy="566928"/>
          </a:xfrm>
          <a:prstGeom prst="rect">
            <a:avLst/>
          </a:prstGeom>
          <a:noFill/>
          <a:ln/>
        </p:spPr>
        <p:txBody>
          <a:bodyPr wrap="square" lIns="0" tIns="0" rIns="0" bIns="0" rtlCol="0" anchor="ctr"/>
          <a:lstStyle/>
          <a:p>
            <a:pPr algn="l" indent="0" marL="0">
              <a:buNone/>
            </a:pPr>
            <a:r>
              <a:rPr lang="en-US" sz="1500" dirty="0">
                <a:solidFill>
                  <a:srgbClr val="3A3A3A"/>
                </a:solidFill>
                <a:latin typeface="Calibri" pitchFamily="34" charset="0"/>
                <a:ea typeface="Calibri" pitchFamily="34" charset="-122"/>
                <a:cs typeface="Calibri" pitchFamily="34" charset="-120"/>
              </a:rPr>
              <a:t>1. Python version</a:t>
            </a:r>
            <a:endParaRPr lang="en-US" sz="1500" dirty="0"/>
          </a:p>
        </p:txBody>
      </p:sp>
      <p:sp>
        <p:nvSpPr>
          <p:cNvPr id="9" name="Shape 7"/>
          <p:cNvSpPr/>
          <p:nvPr/>
        </p:nvSpPr>
        <p:spPr>
          <a:xfrm>
            <a:off x="6766560" y="2752344"/>
            <a:ext cx="100584" cy="100584"/>
          </a:xfrm>
          <a:prstGeom prst="ellipse">
            <a:avLst/>
          </a:prstGeom>
          <a:solidFill>
            <a:srgbClr val="2A9D8F"/>
          </a:solidFill>
          <a:ln/>
        </p:spPr>
      </p:sp>
      <p:sp>
        <p:nvSpPr>
          <p:cNvPr id="10" name="Text 8"/>
          <p:cNvSpPr txBox="1"/>
          <p:nvPr/>
        </p:nvSpPr>
        <p:spPr>
          <a:xfrm>
            <a:off x="7022592" y="2615184"/>
            <a:ext cx="4636008" cy="566928"/>
          </a:xfrm>
          <a:prstGeom prst="rect">
            <a:avLst/>
          </a:prstGeom>
          <a:noFill/>
          <a:ln/>
        </p:spPr>
        <p:txBody>
          <a:bodyPr wrap="square" lIns="0" tIns="0" rIns="0" bIns="0" rtlCol="0" anchor="ctr"/>
          <a:lstStyle/>
          <a:p>
            <a:pPr algn="l" indent="0" marL="0">
              <a:buNone/>
            </a:pPr>
            <a:r>
              <a:rPr lang="en-US" sz="1500" dirty="0">
                <a:solidFill>
                  <a:srgbClr val="3A3A3A"/>
                </a:solidFill>
                <a:latin typeface="Calibri" pitchFamily="34" charset="0"/>
                <a:ea typeface="Calibri" pitchFamily="34" charset="-122"/>
                <a:cs typeface="Calibri" pitchFamily="34" charset="-120"/>
              </a:rPr>
              <a:t>2. Libraries installed</a:t>
            </a:r>
            <a:endParaRPr lang="en-US" sz="1500" dirty="0"/>
          </a:p>
        </p:txBody>
      </p:sp>
      <p:sp>
        <p:nvSpPr>
          <p:cNvPr id="11" name="Shape 9"/>
          <p:cNvSpPr/>
          <p:nvPr/>
        </p:nvSpPr>
        <p:spPr>
          <a:xfrm>
            <a:off x="6766560" y="3319272"/>
            <a:ext cx="100584" cy="100584"/>
          </a:xfrm>
          <a:prstGeom prst="ellipse">
            <a:avLst/>
          </a:prstGeom>
          <a:solidFill>
            <a:srgbClr val="2A9D8F"/>
          </a:solidFill>
          <a:ln/>
        </p:spPr>
      </p:sp>
      <p:sp>
        <p:nvSpPr>
          <p:cNvPr id="12" name="Text 10"/>
          <p:cNvSpPr txBox="1"/>
          <p:nvPr/>
        </p:nvSpPr>
        <p:spPr>
          <a:xfrm>
            <a:off x="7022592" y="3182112"/>
            <a:ext cx="4636008" cy="566928"/>
          </a:xfrm>
          <a:prstGeom prst="rect">
            <a:avLst/>
          </a:prstGeom>
          <a:noFill/>
          <a:ln/>
        </p:spPr>
        <p:txBody>
          <a:bodyPr wrap="square" lIns="0" tIns="0" rIns="0" bIns="0" rtlCol="0" anchor="ctr"/>
          <a:lstStyle/>
          <a:p>
            <a:pPr algn="l" indent="0" marL="0">
              <a:buNone/>
            </a:pPr>
            <a:r>
              <a:rPr lang="en-US" sz="1500" dirty="0">
                <a:solidFill>
                  <a:srgbClr val="3A3A3A"/>
                </a:solidFill>
                <a:latin typeface="Calibri" pitchFamily="34" charset="0"/>
                <a:ea typeface="Calibri" pitchFamily="34" charset="-122"/>
                <a:cs typeface="Calibri" pitchFamily="34" charset="-120"/>
              </a:rPr>
              <a:t>3. .env / key present</a:t>
            </a:r>
            <a:endParaRPr lang="en-US" sz="1500" dirty="0"/>
          </a:p>
        </p:txBody>
      </p:sp>
      <p:sp>
        <p:nvSpPr>
          <p:cNvPr id="13" name="Shape 11"/>
          <p:cNvSpPr/>
          <p:nvPr/>
        </p:nvSpPr>
        <p:spPr>
          <a:xfrm>
            <a:off x="6766560" y="3886200"/>
            <a:ext cx="100584" cy="100584"/>
          </a:xfrm>
          <a:prstGeom prst="ellipse">
            <a:avLst/>
          </a:prstGeom>
          <a:solidFill>
            <a:srgbClr val="2A9D8F"/>
          </a:solidFill>
          <a:ln/>
        </p:spPr>
      </p:sp>
      <p:sp>
        <p:nvSpPr>
          <p:cNvPr id="14" name="Text 12"/>
          <p:cNvSpPr txBox="1"/>
          <p:nvPr/>
        </p:nvSpPr>
        <p:spPr>
          <a:xfrm>
            <a:off x="7022592" y="3749040"/>
            <a:ext cx="4636008" cy="566928"/>
          </a:xfrm>
          <a:prstGeom prst="rect">
            <a:avLst/>
          </a:prstGeom>
          <a:noFill/>
          <a:ln/>
        </p:spPr>
        <p:txBody>
          <a:bodyPr wrap="square" lIns="0" tIns="0" rIns="0" bIns="0" rtlCol="0" anchor="ctr"/>
          <a:lstStyle/>
          <a:p>
            <a:pPr algn="l" indent="0" marL="0">
              <a:buNone/>
            </a:pPr>
            <a:r>
              <a:rPr lang="en-US" sz="1500" b="1" dirty="0">
                <a:solidFill>
                  <a:srgbClr val="1F7A70"/>
                </a:solidFill>
                <a:latin typeface="Calibri" pitchFamily="34" charset="0"/>
                <a:ea typeface="Calibri" pitchFamily="34" charset="-122"/>
                <a:cs typeface="Calibri" pitchFamily="34" charset="-120"/>
              </a:rPr>
              <a:t>4. One real Groq call</a:t>
            </a:r>
            <a:endParaRPr lang="en-US" sz="1500" dirty="0"/>
          </a:p>
        </p:txBody>
      </p:sp>
      <p:sp>
        <p:nvSpPr>
          <p:cNvPr id="15" name="Shape 13"/>
          <p:cNvSpPr/>
          <p:nvPr/>
        </p:nvSpPr>
        <p:spPr>
          <a:xfrm>
            <a:off x="6766560" y="4709160"/>
            <a:ext cx="4892040" cy="1005840"/>
          </a:xfrm>
          <a:prstGeom prst="roundRect">
            <a:avLst>
              <a:gd name="adj" fmla="val 10909"/>
            </a:avLst>
          </a:prstGeom>
          <a:solidFill>
            <a:srgbClr val="F1F5F9"/>
          </a:solidFill>
          <a:ln/>
          <a:effectLst>
            <a:outerShdw sx="100000" sy="100000" kx="0" ky="0" algn="bl" rotWithShape="0" blurRad="76200" dist="25400" dir="5400000">
              <a:srgbClr val="1D3557">
                <a:alpha val="16000"/>
              </a:srgbClr>
            </a:outerShdw>
          </a:effectLst>
        </p:spPr>
      </p:sp>
      <p:sp>
        <p:nvSpPr>
          <p:cNvPr id="16" name="Text 14"/>
          <p:cNvSpPr txBox="1"/>
          <p:nvPr/>
        </p:nvSpPr>
        <p:spPr>
          <a:xfrm>
            <a:off x="6995160" y="4846320"/>
            <a:ext cx="4480560" cy="731520"/>
          </a:xfrm>
          <a:prstGeom prst="rect">
            <a:avLst/>
          </a:prstGeom>
          <a:noFill/>
          <a:ln/>
        </p:spPr>
        <p:txBody>
          <a:bodyPr wrap="square" lIns="0" tIns="0" rIns="0" bIns="0" rtlCol="0" anchor="ctr"/>
          <a:lstStyle/>
          <a:p>
            <a:pPr algn="l" indent="0" marL="0">
              <a:buNone/>
            </a:pPr>
            <a:r>
              <a:rPr lang="en-US" sz="1250" i="1" dirty="0">
                <a:solidFill>
                  <a:srgbClr val="6B7280"/>
                </a:solidFill>
                <a:latin typeface="Calibri" pitchFamily="34" charset="0"/>
                <a:ea typeface="Calibri" pitchFamily="34" charset="-122"/>
                <a:cs typeface="Calibri" pitchFamily="34" charset="-120"/>
              </a:rPr>
              <a:t>Why the live call matters: catches a bad/expired key NOW, in 5 seconds — not mid-build, an hour from now.</a:t>
            </a:r>
            <a:endParaRPr lang="en-US" sz="1250" dirty="0"/>
          </a:p>
        </p:txBody>
      </p:sp>
      <p:sp>
        <p:nvSpPr>
          <p:cNvPr id="17" name="Text 15"/>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18" name="Text 16"/>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10 / 21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2800" b="1" dirty="0">
                <a:solidFill>
                  <a:srgbClr val="1D3557"/>
                </a:solidFill>
                <a:latin typeface="Bookman Old Style" pitchFamily="34" charset="0"/>
                <a:ea typeface="Bookman Old Style" pitchFamily="34" charset="-122"/>
                <a:cs typeface="Bookman Old Style" pitchFamily="34" charset="-120"/>
              </a:rPr>
              <a:t>Phase 1 — Your first agent (the core loop)</a:t>
            </a:r>
            <a:endParaRPr lang="en-US" sz="2800" dirty="0"/>
          </a:p>
        </p:txBody>
      </p:sp>
      <p:sp>
        <p:nvSpPr>
          <p:cNvPr id="3" name="Shape 1"/>
          <p:cNvSpPr/>
          <p:nvPr/>
        </p:nvSpPr>
        <p:spPr>
          <a:xfrm>
            <a:off x="548640" y="1417320"/>
            <a:ext cx="5943600" cy="4709160"/>
          </a:xfrm>
          <a:prstGeom prst="roundRect">
            <a:avLst>
              <a:gd name="adj" fmla="val 1942"/>
            </a:avLst>
          </a:prstGeom>
          <a:solidFill>
            <a:srgbClr val="0F1E33"/>
          </a:solidFill>
          <a:ln/>
          <a:effectLst>
            <a:outerShdw sx="100000" sy="100000" kx="0" ky="0" algn="bl" rotWithShape="0" blurRad="76200" dist="25400" dir="5400000">
              <a:srgbClr val="1D3557">
                <a:alpha val="16000"/>
              </a:srgbClr>
            </a:outerShdw>
          </a:effectLst>
        </p:spPr>
      </p:sp>
      <p:sp>
        <p:nvSpPr>
          <p:cNvPr id="4" name="Text 2"/>
          <p:cNvSpPr txBox="1"/>
          <p:nvPr/>
        </p:nvSpPr>
        <p:spPr>
          <a:xfrm>
            <a:off x="777240" y="1554480"/>
            <a:ext cx="5486400" cy="274320"/>
          </a:xfrm>
          <a:prstGeom prst="rect">
            <a:avLst/>
          </a:prstGeom>
          <a:noFill/>
          <a:ln/>
        </p:spPr>
        <p:txBody>
          <a:bodyPr wrap="square" lIns="0" tIns="0" rIns="0" bIns="0" rtlCol="0" anchor="ctr"/>
          <a:lstStyle/>
          <a:p>
            <a:pPr algn="l" indent="0" marL="0">
              <a:buNone/>
            </a:pPr>
            <a:r>
              <a:rPr lang="en-US" sz="1150" i="1" dirty="0">
                <a:solidFill>
                  <a:srgbClr val="D6E4F0"/>
                </a:solidFill>
                <a:latin typeface="Calibri" pitchFamily="34" charset="0"/>
                <a:ea typeface="Calibri" pitchFamily="34" charset="-122"/>
                <a:cs typeface="Calibri" pitchFamily="34" charset="-120"/>
              </a:rPr>
              <a:t>phase_01_first_agent/hello_agent.py</a:t>
            </a:r>
            <a:endParaRPr lang="en-US" sz="1150" dirty="0"/>
          </a:p>
        </p:txBody>
      </p:sp>
      <p:sp>
        <p:nvSpPr>
          <p:cNvPr id="5" name="Text 3"/>
          <p:cNvSpPr txBox="1"/>
          <p:nvPr/>
        </p:nvSpPr>
        <p:spPr>
          <a:xfrm>
            <a:off x="777240" y="1920240"/>
            <a:ext cx="5486400" cy="4023360"/>
          </a:xfrm>
          <a:prstGeom prst="rect">
            <a:avLst/>
          </a:prstGeom>
          <a:noFill/>
          <a:ln/>
        </p:spPr>
        <p:txBody>
          <a:bodyPr wrap="square" lIns="0" tIns="0" rIns="0" bIns="0" rtlCol="0" anchor="ctr"/>
          <a:lstStyle/>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ai_message = llm_with_tools.invoke(messages)</a:t>
            </a:r>
            <a:endParaRPr lang="en-US" sz="1250" dirty="0"/>
          </a:p>
          <a:p>
            <a:pPr algn="l" indent="0" marL="0">
              <a:lnSpc>
                <a:spcPct val="118000"/>
              </a:lnSpc>
              <a:buNone/>
            </a:pP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if ai_message.tool_calls:</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for call in ai_message.tool_calls:</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tool = tools_by_name[call["name"]]</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result = tool.invoke(call["args"])</a:t>
            </a:r>
            <a:endParaRPr lang="en-US" sz="1250" dirty="0"/>
          </a:p>
          <a:p>
            <a:pPr algn="l" indent="0" marL="0">
              <a:lnSpc>
                <a:spcPct val="118000"/>
              </a:lnSpc>
              <a:buNone/>
            </a:pP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messages.append(</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ToolMessage(content=str(result),</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tool_call_id=call["id"])</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a:t>
            </a:r>
            <a:endParaRPr lang="en-US" sz="1250" dirty="0"/>
          </a:p>
          <a:p>
            <a:pPr algn="l" indent="0" marL="0">
              <a:lnSpc>
                <a:spcPct val="118000"/>
              </a:lnSpc>
              <a:buNone/>
            </a:pPr>
            <a:r>
              <a:rPr lang="en-US" sz="1250" dirty="0">
                <a:solidFill>
                  <a:srgbClr val="6FD3C4"/>
                </a:solidFill>
                <a:latin typeface="Courier New" pitchFamily="34" charset="0"/>
                <a:ea typeface="Courier New" pitchFamily="34" charset="-122"/>
                <a:cs typeface="Courier New" pitchFamily="34" charset="-120"/>
              </a:rPr>
              <a:t>    final = llm_with_tools.invoke(messages)</a:t>
            </a:r>
            <a:endParaRPr lang="en-US" sz="1250" dirty="0"/>
          </a:p>
        </p:txBody>
      </p:sp>
      <p:sp>
        <p:nvSpPr>
          <p:cNvPr id="6" name="Text 4"/>
          <p:cNvSpPr txBox="1"/>
          <p:nvPr/>
        </p:nvSpPr>
        <p:spPr>
          <a:xfrm>
            <a:off x="6766560" y="1508760"/>
            <a:ext cx="4846320" cy="457200"/>
          </a:xfrm>
          <a:prstGeom prst="rect">
            <a:avLst/>
          </a:prstGeom>
          <a:noFill/>
          <a:ln/>
        </p:spPr>
        <p:txBody>
          <a:bodyPr wrap="square" lIns="0" tIns="0" rIns="0" bIns="0" rtlCol="0" anchor="ctr"/>
          <a:lstStyle/>
          <a:p>
            <a:pPr algn="l" indent="0" marL="0">
              <a:buNone/>
            </a:pPr>
            <a:r>
              <a:rPr lang="en-US" sz="1600" b="1" dirty="0">
                <a:solidFill>
                  <a:srgbClr val="1D3557"/>
                </a:solidFill>
                <a:latin typeface="Calibri" pitchFamily="34" charset="0"/>
                <a:ea typeface="Calibri" pitchFamily="34" charset="-122"/>
                <a:cs typeface="Calibri" pitchFamily="34" charset="-120"/>
              </a:rPr>
              <a:t>The loop, spelled out</a:t>
            </a:r>
            <a:endParaRPr lang="en-US" sz="1600" dirty="0"/>
          </a:p>
        </p:txBody>
      </p:sp>
      <p:sp>
        <p:nvSpPr>
          <p:cNvPr id="7" name="Shape 5"/>
          <p:cNvSpPr/>
          <p:nvPr/>
        </p:nvSpPr>
        <p:spPr>
          <a:xfrm>
            <a:off x="6766560" y="2185416"/>
            <a:ext cx="100584" cy="100584"/>
          </a:xfrm>
          <a:prstGeom prst="ellipse">
            <a:avLst/>
          </a:prstGeom>
          <a:solidFill>
            <a:srgbClr val="2A9D8F"/>
          </a:solidFill>
          <a:ln/>
        </p:spPr>
      </p:sp>
      <p:sp>
        <p:nvSpPr>
          <p:cNvPr id="8" name="Text 6"/>
          <p:cNvSpPr txBox="1"/>
          <p:nvPr/>
        </p:nvSpPr>
        <p:spPr>
          <a:xfrm>
            <a:off x="7022592" y="2048256"/>
            <a:ext cx="4636008" cy="566928"/>
          </a:xfrm>
          <a:prstGeom prst="rect">
            <a:avLst/>
          </a:prstGeom>
          <a:noFill/>
          <a:ln/>
        </p:spPr>
        <p:txBody>
          <a:bodyPr wrap="square" lIns="0" tIns="0" rIns="0" bIns="0" rtlCol="0" anchor="ctr"/>
          <a:lstStyle/>
          <a:p>
            <a:pPr algn="l" indent="0" marL="0">
              <a:buNone/>
            </a:pPr>
            <a:r>
              <a:rPr lang="en-US" sz="1450" dirty="0">
                <a:solidFill>
                  <a:srgbClr val="3A3A3A"/>
                </a:solidFill>
                <a:latin typeface="Calibri" pitchFamily="34" charset="0"/>
                <a:ea typeface="Calibri" pitchFamily="34" charset="-122"/>
                <a:cs typeface="Calibri" pitchFamily="34" charset="-120"/>
              </a:rPr>
              <a:t>1. LLM decides</a:t>
            </a:r>
            <a:endParaRPr lang="en-US" sz="1450" dirty="0"/>
          </a:p>
        </p:txBody>
      </p:sp>
      <p:sp>
        <p:nvSpPr>
          <p:cNvPr id="9" name="Shape 7"/>
          <p:cNvSpPr/>
          <p:nvPr/>
        </p:nvSpPr>
        <p:spPr>
          <a:xfrm>
            <a:off x="6766560" y="2752344"/>
            <a:ext cx="100584" cy="100584"/>
          </a:xfrm>
          <a:prstGeom prst="ellipse">
            <a:avLst/>
          </a:prstGeom>
          <a:solidFill>
            <a:srgbClr val="2A9D8F"/>
          </a:solidFill>
          <a:ln/>
        </p:spPr>
      </p:sp>
      <p:sp>
        <p:nvSpPr>
          <p:cNvPr id="10" name="Text 8"/>
          <p:cNvSpPr txBox="1"/>
          <p:nvPr/>
        </p:nvSpPr>
        <p:spPr>
          <a:xfrm>
            <a:off x="7022592" y="2615184"/>
            <a:ext cx="4636008" cy="566928"/>
          </a:xfrm>
          <a:prstGeom prst="rect">
            <a:avLst/>
          </a:prstGeom>
          <a:noFill/>
          <a:ln/>
        </p:spPr>
        <p:txBody>
          <a:bodyPr wrap="square" lIns="0" tIns="0" rIns="0" bIns="0" rtlCol="0" anchor="ctr"/>
          <a:lstStyle/>
          <a:p>
            <a:pPr algn="l" indent="0" marL="0">
              <a:buNone/>
            </a:pPr>
            <a:r>
              <a:rPr lang="en-US" sz="1450" dirty="0">
                <a:solidFill>
                  <a:srgbClr val="3A3A3A"/>
                </a:solidFill>
                <a:latin typeface="Calibri" pitchFamily="34" charset="0"/>
                <a:ea typeface="Calibri" pitchFamily="34" charset="-122"/>
                <a:cs typeface="Calibri" pitchFamily="34" charset="-120"/>
              </a:rPr>
              <a:t>2. Check ai_message.tool_calls</a:t>
            </a:r>
            <a:endParaRPr lang="en-US" sz="1450" dirty="0"/>
          </a:p>
        </p:txBody>
      </p:sp>
      <p:sp>
        <p:nvSpPr>
          <p:cNvPr id="11" name="Shape 9"/>
          <p:cNvSpPr/>
          <p:nvPr/>
        </p:nvSpPr>
        <p:spPr>
          <a:xfrm>
            <a:off x="6766560" y="3319272"/>
            <a:ext cx="100584" cy="100584"/>
          </a:xfrm>
          <a:prstGeom prst="ellipse">
            <a:avLst/>
          </a:prstGeom>
          <a:solidFill>
            <a:srgbClr val="2A9D8F"/>
          </a:solidFill>
          <a:ln/>
        </p:spPr>
      </p:sp>
      <p:sp>
        <p:nvSpPr>
          <p:cNvPr id="12" name="Text 10"/>
          <p:cNvSpPr txBox="1"/>
          <p:nvPr/>
        </p:nvSpPr>
        <p:spPr>
          <a:xfrm>
            <a:off x="7022592" y="3182112"/>
            <a:ext cx="4636008" cy="566928"/>
          </a:xfrm>
          <a:prstGeom prst="rect">
            <a:avLst/>
          </a:prstGeom>
          <a:noFill/>
          <a:ln/>
        </p:spPr>
        <p:txBody>
          <a:bodyPr wrap="square" lIns="0" tIns="0" rIns="0" bIns="0" rtlCol="0" anchor="ctr"/>
          <a:lstStyle/>
          <a:p>
            <a:pPr algn="l" indent="0" marL="0">
              <a:buNone/>
            </a:pPr>
            <a:r>
              <a:rPr lang="en-US" sz="1450" dirty="0">
                <a:solidFill>
                  <a:srgbClr val="3A3A3A"/>
                </a:solidFill>
                <a:latin typeface="Calibri" pitchFamily="34" charset="0"/>
                <a:ea typeface="Calibri" pitchFamily="34" charset="-122"/>
                <a:cs typeface="Calibri" pitchFamily="34" charset="-120"/>
              </a:rPr>
              <a:t>3. Python runs the actual function</a:t>
            </a:r>
            <a:endParaRPr lang="en-US" sz="1450" dirty="0"/>
          </a:p>
        </p:txBody>
      </p:sp>
      <p:sp>
        <p:nvSpPr>
          <p:cNvPr id="13" name="Shape 11"/>
          <p:cNvSpPr/>
          <p:nvPr/>
        </p:nvSpPr>
        <p:spPr>
          <a:xfrm>
            <a:off x="6766560" y="3886200"/>
            <a:ext cx="100584" cy="100584"/>
          </a:xfrm>
          <a:prstGeom prst="ellipse">
            <a:avLst/>
          </a:prstGeom>
          <a:solidFill>
            <a:srgbClr val="2A9D8F"/>
          </a:solidFill>
          <a:ln/>
        </p:spPr>
      </p:sp>
      <p:sp>
        <p:nvSpPr>
          <p:cNvPr id="14" name="Text 12"/>
          <p:cNvSpPr txBox="1"/>
          <p:nvPr/>
        </p:nvSpPr>
        <p:spPr>
          <a:xfrm>
            <a:off x="7022592" y="3749040"/>
            <a:ext cx="4636008" cy="566928"/>
          </a:xfrm>
          <a:prstGeom prst="rect">
            <a:avLst/>
          </a:prstGeom>
          <a:noFill/>
          <a:ln/>
        </p:spPr>
        <p:txBody>
          <a:bodyPr wrap="square" lIns="0" tIns="0" rIns="0" bIns="0" rtlCol="0" anchor="ctr"/>
          <a:lstStyle/>
          <a:p>
            <a:pPr algn="l" indent="0" marL="0">
              <a:buNone/>
            </a:pPr>
            <a:r>
              <a:rPr lang="en-US" sz="1450" dirty="0">
                <a:solidFill>
                  <a:srgbClr val="3A3A3A"/>
                </a:solidFill>
                <a:latin typeface="Calibri" pitchFamily="34" charset="0"/>
                <a:ea typeface="Calibri" pitchFamily="34" charset="-122"/>
                <a:cs typeface="Calibri" pitchFamily="34" charset="-120"/>
              </a:rPr>
              <a:t>4. Feed the result back</a:t>
            </a:r>
            <a:endParaRPr lang="en-US" sz="1450" dirty="0"/>
          </a:p>
        </p:txBody>
      </p:sp>
      <p:sp>
        <p:nvSpPr>
          <p:cNvPr id="15" name="Shape 13"/>
          <p:cNvSpPr/>
          <p:nvPr/>
        </p:nvSpPr>
        <p:spPr>
          <a:xfrm>
            <a:off x="6766560" y="4453128"/>
            <a:ext cx="100584" cy="100584"/>
          </a:xfrm>
          <a:prstGeom prst="ellipse">
            <a:avLst/>
          </a:prstGeom>
          <a:solidFill>
            <a:srgbClr val="2A9D8F"/>
          </a:solidFill>
          <a:ln/>
        </p:spPr>
      </p:sp>
      <p:sp>
        <p:nvSpPr>
          <p:cNvPr id="16" name="Text 14"/>
          <p:cNvSpPr txBox="1"/>
          <p:nvPr/>
        </p:nvSpPr>
        <p:spPr>
          <a:xfrm>
            <a:off x="7022592" y="4315968"/>
            <a:ext cx="4636008" cy="566928"/>
          </a:xfrm>
          <a:prstGeom prst="rect">
            <a:avLst/>
          </a:prstGeom>
          <a:noFill/>
          <a:ln/>
        </p:spPr>
        <p:txBody>
          <a:bodyPr wrap="square" lIns="0" tIns="0" rIns="0" bIns="0" rtlCol="0" anchor="ctr"/>
          <a:lstStyle/>
          <a:p>
            <a:pPr algn="l" indent="0" marL="0">
              <a:buNone/>
            </a:pPr>
            <a:r>
              <a:rPr lang="en-US" sz="1450" dirty="0">
                <a:solidFill>
                  <a:srgbClr val="3A3A3A"/>
                </a:solidFill>
                <a:latin typeface="Calibri" pitchFamily="34" charset="0"/>
                <a:ea typeface="Calibri" pitchFamily="34" charset="-122"/>
                <a:cs typeface="Calibri" pitchFamily="34" charset="-120"/>
              </a:rPr>
              <a:t>5. Ask the LLM again → final answer</a:t>
            </a:r>
            <a:endParaRPr lang="en-US" sz="1450" dirty="0"/>
          </a:p>
        </p:txBody>
      </p:sp>
      <p:sp>
        <p:nvSpPr>
          <p:cNvPr id="17" name="Shape 15"/>
          <p:cNvSpPr/>
          <p:nvPr/>
        </p:nvSpPr>
        <p:spPr>
          <a:xfrm>
            <a:off x="6766560" y="5074920"/>
            <a:ext cx="4892040" cy="1005840"/>
          </a:xfrm>
          <a:prstGeom prst="roundRect">
            <a:avLst>
              <a:gd name="adj" fmla="val 10909"/>
            </a:avLst>
          </a:prstGeom>
          <a:solidFill>
            <a:srgbClr val="F1F5F9"/>
          </a:solidFill>
          <a:ln/>
          <a:effectLst>
            <a:outerShdw sx="100000" sy="100000" kx="0" ky="0" algn="bl" rotWithShape="0" blurRad="76200" dist="25400" dir="5400000">
              <a:srgbClr val="1D3557">
                <a:alpha val="16000"/>
              </a:srgbClr>
            </a:outerShdw>
          </a:effectLst>
        </p:spPr>
      </p:sp>
      <p:sp>
        <p:nvSpPr>
          <p:cNvPr id="18" name="Text 16"/>
          <p:cNvSpPr txBox="1"/>
          <p:nvPr/>
        </p:nvSpPr>
        <p:spPr>
          <a:xfrm>
            <a:off x="6995160" y="5212080"/>
            <a:ext cx="4480560" cy="731520"/>
          </a:xfrm>
          <a:prstGeom prst="rect">
            <a:avLst/>
          </a:prstGeom>
          <a:noFill/>
          <a:ln/>
        </p:spPr>
        <p:txBody>
          <a:bodyPr wrap="square" lIns="0" tIns="0" rIns="0" bIns="0" rtlCol="0" anchor="ctr"/>
          <a:lstStyle/>
          <a:p>
            <a:pPr algn="l" indent="0" marL="0">
              <a:buNone/>
            </a:pPr>
            <a:r>
              <a:rPr lang="en-US" sz="1250" i="1" dirty="0">
                <a:solidFill>
                  <a:srgbClr val="6B7280"/>
                </a:solidFill>
                <a:latin typeface="Calibri" pitchFamily="34" charset="0"/>
                <a:ea typeface="Calibri" pitchFamily="34" charset="-122"/>
                <a:cs typeface="Calibri" pitchFamily="34" charset="-120"/>
              </a:rPr>
              <a:t>get_word_count() — the docstring IS the instruction. The model never sees the function's code.</a:t>
            </a:r>
            <a:endParaRPr lang="en-US" sz="1250" dirty="0"/>
          </a:p>
        </p:txBody>
      </p:sp>
      <p:sp>
        <p:nvSpPr>
          <p:cNvPr id="19" name="Text 17"/>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20" name="Text 18"/>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11 / 21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2800" b="1" dirty="0">
                <a:solidFill>
                  <a:srgbClr val="1D3557"/>
                </a:solidFill>
                <a:latin typeface="Bookman Old Style" pitchFamily="34" charset="0"/>
                <a:ea typeface="Bookman Old Style" pitchFamily="34" charset="-122"/>
                <a:cs typeface="Bookman Old Style" pitchFamily="34" charset="-120"/>
              </a:rPr>
              <a:t>Phase 2 — Adding a tool</a:t>
            </a:r>
            <a:endParaRPr lang="en-US" sz="2800" dirty="0"/>
          </a:p>
        </p:txBody>
      </p:sp>
      <p:sp>
        <p:nvSpPr>
          <p:cNvPr id="3" name="Shape 1"/>
          <p:cNvSpPr/>
          <p:nvPr/>
        </p:nvSpPr>
        <p:spPr>
          <a:xfrm>
            <a:off x="548640" y="1417320"/>
            <a:ext cx="5943600" cy="4709160"/>
          </a:xfrm>
          <a:prstGeom prst="roundRect">
            <a:avLst>
              <a:gd name="adj" fmla="val 1942"/>
            </a:avLst>
          </a:prstGeom>
          <a:solidFill>
            <a:srgbClr val="0F1E33"/>
          </a:solidFill>
          <a:ln/>
          <a:effectLst>
            <a:outerShdw sx="100000" sy="100000" kx="0" ky="0" algn="bl" rotWithShape="0" blurRad="76200" dist="25400" dir="5400000">
              <a:srgbClr val="1D3557">
                <a:alpha val="16000"/>
              </a:srgbClr>
            </a:outerShdw>
          </a:effectLst>
        </p:spPr>
      </p:sp>
      <p:sp>
        <p:nvSpPr>
          <p:cNvPr id="4" name="Text 2"/>
          <p:cNvSpPr txBox="1"/>
          <p:nvPr/>
        </p:nvSpPr>
        <p:spPr>
          <a:xfrm>
            <a:off x="777240" y="1554480"/>
            <a:ext cx="5486400" cy="274320"/>
          </a:xfrm>
          <a:prstGeom prst="rect">
            <a:avLst/>
          </a:prstGeom>
          <a:noFill/>
          <a:ln/>
        </p:spPr>
        <p:txBody>
          <a:bodyPr wrap="square" lIns="0" tIns="0" rIns="0" bIns="0" rtlCol="0" anchor="ctr"/>
          <a:lstStyle/>
          <a:p>
            <a:pPr algn="l" indent="0" marL="0">
              <a:buNone/>
            </a:pPr>
            <a:r>
              <a:rPr lang="en-US" sz="1150" i="1" dirty="0">
                <a:solidFill>
                  <a:srgbClr val="D6E4F0"/>
                </a:solidFill>
                <a:latin typeface="Calibri" pitchFamily="34" charset="0"/>
                <a:ea typeface="Calibri" pitchFamily="34" charset="-122"/>
                <a:cs typeface="Calibri" pitchFamily="34" charset="-120"/>
              </a:rPr>
              <a:t>phase_02_add_a_tool/agent_with_tool.py</a:t>
            </a:r>
            <a:endParaRPr lang="en-US" sz="1150" dirty="0"/>
          </a:p>
        </p:txBody>
      </p:sp>
      <p:sp>
        <p:nvSpPr>
          <p:cNvPr id="5" name="Text 3"/>
          <p:cNvSpPr txBox="1"/>
          <p:nvPr/>
        </p:nvSpPr>
        <p:spPr>
          <a:xfrm>
            <a:off x="777240" y="1920240"/>
            <a:ext cx="5486400" cy="4023360"/>
          </a:xfrm>
          <a:prstGeom prst="rect">
            <a:avLst/>
          </a:prstGeom>
          <a:noFill/>
          <a:ln/>
        </p:spPr>
        <p:txBody>
          <a:bodyPr wrap="square" lIns="0" tIns="0" rIns="0" bIns="0" rtlCol="0" anchor="ctr"/>
          <a:lstStyle/>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@tool</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def lookup_student(name: str) -&gt; str:</a:t>
            </a:r>
            <a:endParaRPr lang="en-US" sz="1250" dirty="0"/>
          </a:p>
          <a:p>
            <a:pPr algn="l" indent="0" marL="0">
              <a:lnSpc>
                <a:spcPct val="118000"/>
              </a:lnSpc>
              <a:buNone/>
            </a:pPr>
            <a:r>
              <a:rPr lang="en-US" sz="1250" dirty="0">
                <a:solidFill>
                  <a:srgbClr val="8FB39A"/>
                </a:solidFill>
                <a:latin typeface="Courier New" pitchFamily="34" charset="0"/>
                <a:ea typeface="Courier New" pitchFamily="34" charset="-122"/>
                <a:cs typeface="Courier New" pitchFamily="34" charset="-120"/>
              </a:rPr>
              <a:t>    """Look up a student's program and</a:t>
            </a:r>
            <a:endParaRPr lang="en-US" sz="1250" dirty="0"/>
          </a:p>
          <a:p>
            <a:pPr algn="l" indent="0" marL="0">
              <a:lnSpc>
                <a:spcPct val="118000"/>
              </a:lnSpc>
              <a:buNone/>
            </a:pPr>
            <a:r>
              <a:rPr lang="en-US" sz="1250" dirty="0">
                <a:solidFill>
                  <a:srgbClr val="8FB39A"/>
                </a:solidFill>
                <a:latin typeface="Courier New" pitchFamily="34" charset="0"/>
                <a:ea typeface="Courier New" pitchFamily="34" charset="-122"/>
                <a:cs typeface="Courier New" pitchFamily="34" charset="-120"/>
              </a:rPr>
              <a:t>    year by first name. Use this when</a:t>
            </a:r>
            <a:endParaRPr lang="en-US" sz="1250" dirty="0"/>
          </a:p>
          <a:p>
            <a:pPr algn="l" indent="0" marL="0">
              <a:lnSpc>
                <a:spcPct val="118000"/>
              </a:lnSpc>
              <a:buNone/>
            </a:pPr>
            <a:r>
              <a:rPr lang="en-US" sz="1250" dirty="0">
                <a:solidFill>
                  <a:srgbClr val="8FB39A"/>
                </a:solidFill>
                <a:latin typeface="Courier New" pitchFamily="34" charset="0"/>
                <a:ea typeface="Courier New" pitchFamily="34" charset="-122"/>
                <a:cs typeface="Courier New" pitchFamily="34" charset="-120"/>
              </a:rPr>
              <a:t>    asked about a specific student."""</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record = MOCK_STUDENT_RECORDS.get(name)</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a:t>
            </a:r>
            <a:endParaRPr lang="en-US" sz="1250" dirty="0"/>
          </a:p>
          <a:p>
            <a:pPr algn="l" indent="0" marL="0">
              <a:lnSpc>
                <a:spcPct val="118000"/>
              </a:lnSpc>
              <a:buNone/>
            </a:pPr>
            <a:endParaRPr lang="en-US" sz="1250" dirty="0"/>
          </a:p>
          <a:p>
            <a:pPr algn="l" indent="0" marL="0">
              <a:lnSpc>
                <a:spcPct val="118000"/>
              </a:lnSpc>
              <a:buNone/>
            </a:pPr>
            <a:r>
              <a:rPr lang="en-US" sz="1250" dirty="0">
                <a:solidFill>
                  <a:srgbClr val="6FD3C4"/>
                </a:solidFill>
                <a:latin typeface="Courier New" pitchFamily="34" charset="0"/>
                <a:ea typeface="Courier New" pitchFamily="34" charset="-122"/>
                <a:cs typeface="Courier New" pitchFamily="34" charset="-120"/>
              </a:rPr>
              <a:t>tools = [get_word_count, lookup_student]</a:t>
            </a:r>
            <a:endParaRPr lang="en-US" sz="1250" dirty="0"/>
          </a:p>
        </p:txBody>
      </p:sp>
      <p:sp>
        <p:nvSpPr>
          <p:cNvPr id="6" name="Text 4"/>
          <p:cNvSpPr txBox="1"/>
          <p:nvPr/>
        </p:nvSpPr>
        <p:spPr>
          <a:xfrm>
            <a:off x="6766560" y="1508760"/>
            <a:ext cx="4846320" cy="457200"/>
          </a:xfrm>
          <a:prstGeom prst="rect">
            <a:avLst/>
          </a:prstGeom>
          <a:noFill/>
          <a:ln/>
        </p:spPr>
        <p:txBody>
          <a:bodyPr wrap="square" lIns="0" tIns="0" rIns="0" bIns="0" rtlCol="0" anchor="ctr"/>
          <a:lstStyle/>
          <a:p>
            <a:pPr algn="l" indent="0" marL="0">
              <a:buNone/>
            </a:pPr>
            <a:r>
              <a:rPr lang="en-US" sz="1600" b="1" dirty="0">
                <a:solidFill>
                  <a:srgbClr val="1D3557"/>
                </a:solidFill>
                <a:latin typeface="Calibri" pitchFamily="34" charset="0"/>
                <a:ea typeface="Calibri" pitchFamily="34" charset="-122"/>
                <a:cs typeface="Calibri" pitchFamily="34" charset="-120"/>
              </a:rPr>
              <a:t>What actually changed</a:t>
            </a:r>
            <a:endParaRPr lang="en-US" sz="1600" dirty="0"/>
          </a:p>
        </p:txBody>
      </p:sp>
      <p:sp>
        <p:nvSpPr>
          <p:cNvPr id="7" name="Shape 5"/>
          <p:cNvSpPr/>
          <p:nvPr/>
        </p:nvSpPr>
        <p:spPr>
          <a:xfrm>
            <a:off x="6766560" y="2185416"/>
            <a:ext cx="100584" cy="100584"/>
          </a:xfrm>
          <a:prstGeom prst="ellipse">
            <a:avLst/>
          </a:prstGeom>
          <a:solidFill>
            <a:srgbClr val="2A9D8F"/>
          </a:solidFill>
          <a:ln/>
        </p:spPr>
      </p:sp>
      <p:sp>
        <p:nvSpPr>
          <p:cNvPr id="8" name="Text 6"/>
          <p:cNvSpPr txBox="1"/>
          <p:nvPr/>
        </p:nvSpPr>
        <p:spPr>
          <a:xfrm>
            <a:off x="7022592" y="2048256"/>
            <a:ext cx="4636008" cy="566928"/>
          </a:xfrm>
          <a:prstGeom prst="rect">
            <a:avLst/>
          </a:prstGeom>
          <a:noFill/>
          <a:ln/>
        </p:spPr>
        <p:txBody>
          <a:bodyPr wrap="square" lIns="0" tIns="0" rIns="0" bIns="0" rtlCol="0" anchor="ctr"/>
          <a:lstStyle/>
          <a:p>
            <a:pPr algn="l" indent="0" marL="0">
              <a:buNone/>
            </a:pPr>
            <a:r>
              <a:rPr lang="en-US" sz="1450" dirty="0">
                <a:solidFill>
                  <a:srgbClr val="3A3A3A"/>
                </a:solidFill>
                <a:latin typeface="Calibri" pitchFamily="34" charset="0"/>
                <a:ea typeface="Calibri" pitchFamily="34" charset="-122"/>
                <a:cs typeface="Calibri" pitchFamily="34" charset="-120"/>
              </a:rPr>
              <a:t>The loop code: unchanged, character for character, from phase 1</a:t>
            </a:r>
            <a:endParaRPr lang="en-US" sz="1450" dirty="0"/>
          </a:p>
        </p:txBody>
      </p:sp>
      <p:sp>
        <p:nvSpPr>
          <p:cNvPr id="9" name="Shape 7"/>
          <p:cNvSpPr/>
          <p:nvPr/>
        </p:nvSpPr>
        <p:spPr>
          <a:xfrm>
            <a:off x="6766560" y="2752344"/>
            <a:ext cx="100584" cy="100584"/>
          </a:xfrm>
          <a:prstGeom prst="ellipse">
            <a:avLst/>
          </a:prstGeom>
          <a:solidFill>
            <a:srgbClr val="2A9D8F"/>
          </a:solidFill>
          <a:ln/>
        </p:spPr>
      </p:sp>
      <p:sp>
        <p:nvSpPr>
          <p:cNvPr id="10" name="Text 8"/>
          <p:cNvSpPr txBox="1"/>
          <p:nvPr/>
        </p:nvSpPr>
        <p:spPr>
          <a:xfrm>
            <a:off x="7022592" y="2615184"/>
            <a:ext cx="4636008" cy="566928"/>
          </a:xfrm>
          <a:prstGeom prst="rect">
            <a:avLst/>
          </a:prstGeom>
          <a:noFill/>
          <a:ln/>
        </p:spPr>
        <p:txBody>
          <a:bodyPr wrap="square" lIns="0" tIns="0" rIns="0" bIns="0" rtlCol="0" anchor="ctr"/>
          <a:lstStyle/>
          <a:p>
            <a:pPr algn="l" indent="0" marL="0">
              <a:buNone/>
            </a:pPr>
            <a:r>
              <a:rPr lang="en-US" sz="1450" dirty="0">
                <a:solidFill>
                  <a:srgbClr val="3A3A3A"/>
                </a:solidFill>
                <a:latin typeface="Calibri" pitchFamily="34" charset="0"/>
                <a:ea typeface="Calibri" pitchFamily="34" charset="-122"/>
                <a:cs typeface="Calibri" pitchFamily="34" charset="-120"/>
              </a:rPr>
              <a:t>One new @tool function, added to the tools list</a:t>
            </a:r>
            <a:endParaRPr lang="en-US" sz="1450" dirty="0"/>
          </a:p>
        </p:txBody>
      </p:sp>
      <p:sp>
        <p:nvSpPr>
          <p:cNvPr id="11" name="Shape 9"/>
          <p:cNvSpPr/>
          <p:nvPr/>
        </p:nvSpPr>
        <p:spPr>
          <a:xfrm>
            <a:off x="6766560" y="4206240"/>
            <a:ext cx="4892040" cy="1005840"/>
          </a:xfrm>
          <a:prstGeom prst="roundRect">
            <a:avLst>
              <a:gd name="adj" fmla="val 10909"/>
            </a:avLst>
          </a:prstGeom>
          <a:solidFill>
            <a:srgbClr val="F1F5F9"/>
          </a:solidFill>
          <a:ln/>
          <a:effectLst>
            <a:outerShdw sx="100000" sy="100000" kx="0" ky="0" algn="bl" rotWithShape="0" blurRad="76200" dist="25400" dir="5400000">
              <a:srgbClr val="1D3557">
                <a:alpha val="16000"/>
              </a:srgbClr>
            </a:outerShdw>
          </a:effectLst>
        </p:spPr>
      </p:sp>
      <p:sp>
        <p:nvSpPr>
          <p:cNvPr id="12" name="Text 10"/>
          <p:cNvSpPr txBox="1"/>
          <p:nvPr/>
        </p:nvSpPr>
        <p:spPr>
          <a:xfrm>
            <a:off x="6995160" y="4343400"/>
            <a:ext cx="4480560" cy="731520"/>
          </a:xfrm>
          <a:prstGeom prst="rect">
            <a:avLst/>
          </a:prstGeom>
          <a:noFill/>
          <a:ln/>
        </p:spPr>
        <p:txBody>
          <a:bodyPr wrap="square" lIns="0" tIns="0" rIns="0" bIns="0" rtlCol="0" anchor="ctr"/>
          <a:lstStyle/>
          <a:p>
            <a:pPr algn="l" indent="0" marL="0">
              <a:buNone/>
            </a:pPr>
            <a:r>
              <a:rPr lang="en-US" sz="1250" i="1" dirty="0">
                <a:solidFill>
                  <a:srgbClr val="6B7280"/>
                </a:solidFill>
                <a:latin typeface="Calibri" pitchFamily="34" charset="0"/>
                <a:ea typeface="Calibri" pitchFamily="34" charset="-122"/>
                <a:cs typeface="Calibri" pitchFamily="34" charset="-120"/>
              </a:rPr>
              <a:t>This is the entire pattern for “give your agent a new skill.”</a:t>
            </a:r>
            <a:endParaRPr lang="en-US" sz="1250" dirty="0"/>
          </a:p>
        </p:txBody>
      </p:sp>
      <p:sp>
        <p:nvSpPr>
          <p:cNvPr id="13" name="Text 11"/>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14" name="Text 12"/>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12 / 21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2800" b="1" dirty="0">
                <a:solidFill>
                  <a:srgbClr val="1D3557"/>
                </a:solidFill>
                <a:latin typeface="Bookman Old Style" pitchFamily="34" charset="0"/>
                <a:ea typeface="Bookman Old Style" pitchFamily="34" charset="-122"/>
                <a:cs typeface="Bookman Old Style" pitchFamily="34" charset="-120"/>
              </a:rPr>
              <a:t>Phase 3 — Memory</a:t>
            </a:r>
            <a:endParaRPr lang="en-US" sz="2800" dirty="0"/>
          </a:p>
        </p:txBody>
      </p:sp>
      <p:sp>
        <p:nvSpPr>
          <p:cNvPr id="3" name="Shape 1"/>
          <p:cNvSpPr/>
          <p:nvPr/>
        </p:nvSpPr>
        <p:spPr>
          <a:xfrm>
            <a:off x="548640" y="1417320"/>
            <a:ext cx="5943600" cy="4709160"/>
          </a:xfrm>
          <a:prstGeom prst="roundRect">
            <a:avLst>
              <a:gd name="adj" fmla="val 1942"/>
            </a:avLst>
          </a:prstGeom>
          <a:solidFill>
            <a:srgbClr val="0F1E33"/>
          </a:solidFill>
          <a:ln/>
          <a:effectLst>
            <a:outerShdw sx="100000" sy="100000" kx="0" ky="0" algn="bl" rotWithShape="0" blurRad="76200" dist="25400" dir="5400000">
              <a:srgbClr val="1D3557">
                <a:alpha val="16000"/>
              </a:srgbClr>
            </a:outerShdw>
          </a:effectLst>
        </p:spPr>
      </p:sp>
      <p:sp>
        <p:nvSpPr>
          <p:cNvPr id="4" name="Text 2"/>
          <p:cNvSpPr txBox="1"/>
          <p:nvPr/>
        </p:nvSpPr>
        <p:spPr>
          <a:xfrm>
            <a:off x="777240" y="1554480"/>
            <a:ext cx="5486400" cy="274320"/>
          </a:xfrm>
          <a:prstGeom prst="rect">
            <a:avLst/>
          </a:prstGeom>
          <a:noFill/>
          <a:ln/>
        </p:spPr>
        <p:txBody>
          <a:bodyPr wrap="square" lIns="0" tIns="0" rIns="0" bIns="0" rtlCol="0" anchor="ctr"/>
          <a:lstStyle/>
          <a:p>
            <a:pPr algn="l" indent="0" marL="0">
              <a:buNone/>
            </a:pPr>
            <a:r>
              <a:rPr lang="en-US" sz="1150" i="1" dirty="0">
                <a:solidFill>
                  <a:srgbClr val="D6E4F0"/>
                </a:solidFill>
                <a:latin typeface="Calibri" pitchFamily="34" charset="0"/>
                <a:ea typeface="Calibri" pitchFamily="34" charset="-122"/>
                <a:cs typeface="Calibri" pitchFamily="34" charset="-120"/>
              </a:rPr>
              <a:t>phase_03_memory/agent_with_memory.py</a:t>
            </a:r>
            <a:endParaRPr lang="en-US" sz="1150" dirty="0"/>
          </a:p>
        </p:txBody>
      </p:sp>
      <p:sp>
        <p:nvSpPr>
          <p:cNvPr id="5" name="Text 3"/>
          <p:cNvSpPr txBox="1"/>
          <p:nvPr/>
        </p:nvSpPr>
        <p:spPr>
          <a:xfrm>
            <a:off x="777240" y="1920240"/>
            <a:ext cx="5486400" cy="4023360"/>
          </a:xfrm>
          <a:prstGeom prst="rect">
            <a:avLst/>
          </a:prstGeom>
          <a:noFill/>
          <a:ln/>
        </p:spPr>
        <p:txBody>
          <a:bodyPr wrap="square" lIns="0" tIns="0" rIns="0" bIns="0" rtlCol="0" anchor="ctr"/>
          <a:lstStyle/>
          <a:p>
            <a:pPr algn="l" indent="0" marL="0">
              <a:lnSpc>
                <a:spcPct val="118000"/>
              </a:lnSpc>
              <a:buNone/>
            </a:pPr>
            <a:r>
              <a:rPr lang="en-US" sz="1250" dirty="0">
                <a:solidFill>
                  <a:srgbClr val="6FD3C4"/>
                </a:solidFill>
                <a:latin typeface="Courier New" pitchFamily="34" charset="0"/>
                <a:ea typeface="Courier New" pitchFamily="34" charset="-122"/>
                <a:cs typeface="Courier New" pitchFamily="34" charset="-120"/>
              </a:rPr>
              <a:t>conversation_history = []</a:t>
            </a:r>
            <a:endParaRPr lang="en-US" sz="1250" dirty="0"/>
          </a:p>
          <a:p>
            <a:pPr algn="l" indent="0" marL="0">
              <a:lnSpc>
                <a:spcPct val="118000"/>
              </a:lnSpc>
              <a:buNone/>
            </a:pPr>
            <a:r>
              <a:rPr lang="en-US" sz="1250" dirty="0">
                <a:solidFill>
                  <a:srgbClr val="8FB39A"/>
                </a:solidFill>
                <a:latin typeface="Courier New" pitchFamily="34" charset="0"/>
                <a:ea typeface="Courier New" pitchFamily="34" charset="-122"/>
                <a:cs typeface="Courier New" pitchFamily="34" charset="-120"/>
              </a:rPr>
              <a:t># ^ lives OUTSIDE the function, survives</a:t>
            </a:r>
            <a:endParaRPr lang="en-US" sz="1250" dirty="0"/>
          </a:p>
          <a:p>
            <a:pPr algn="l" indent="0" marL="0">
              <a:lnSpc>
                <a:spcPct val="118000"/>
              </a:lnSpc>
              <a:buNone/>
            </a:pPr>
            <a:r>
              <a:rPr lang="en-US" sz="1250" dirty="0">
                <a:solidFill>
                  <a:srgbClr val="8FB39A"/>
                </a:solidFill>
                <a:latin typeface="Courier New" pitchFamily="34" charset="0"/>
                <a:ea typeface="Courier New" pitchFamily="34" charset="-122"/>
                <a:cs typeface="Courier New" pitchFamily="34" charset="-120"/>
              </a:rPr>
              <a:t># between calls -- that's the whole trick</a:t>
            </a:r>
            <a:endParaRPr lang="en-US" sz="1250" dirty="0"/>
          </a:p>
          <a:p>
            <a:pPr algn="l" indent="0" marL="0">
              <a:lnSpc>
                <a:spcPct val="118000"/>
              </a:lnSpc>
              <a:buNone/>
            </a:pP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def run_agent(user_input):</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conversation_history.append(</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HumanMessage(content=user_input)</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ai_message = llm_with_tools.invoke(</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conversation_history</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a:t>
            </a:r>
            <a:endParaRPr lang="en-US" sz="1250" dirty="0"/>
          </a:p>
        </p:txBody>
      </p:sp>
      <p:sp>
        <p:nvSpPr>
          <p:cNvPr id="6" name="Text 4"/>
          <p:cNvSpPr txBox="1"/>
          <p:nvPr/>
        </p:nvSpPr>
        <p:spPr>
          <a:xfrm>
            <a:off x="6766560" y="1508760"/>
            <a:ext cx="4846320" cy="457200"/>
          </a:xfrm>
          <a:prstGeom prst="rect">
            <a:avLst/>
          </a:prstGeom>
          <a:noFill/>
          <a:ln/>
        </p:spPr>
        <p:txBody>
          <a:bodyPr wrap="square" lIns="0" tIns="0" rIns="0" bIns="0" rtlCol="0" anchor="ctr"/>
          <a:lstStyle/>
          <a:p>
            <a:pPr algn="l" indent="0" marL="0">
              <a:buNone/>
            </a:pPr>
            <a:r>
              <a:rPr lang="en-US" sz="1600" b="1" dirty="0">
                <a:solidFill>
                  <a:srgbClr val="1D3557"/>
                </a:solidFill>
                <a:latin typeface="Calibri" pitchFamily="34" charset="0"/>
                <a:ea typeface="Calibri" pitchFamily="34" charset="-122"/>
                <a:cs typeface="Calibri" pitchFamily="34" charset="-120"/>
              </a:rPr>
              <a:t>The change, in one line</a:t>
            </a:r>
            <a:endParaRPr lang="en-US" sz="1600" dirty="0"/>
          </a:p>
        </p:txBody>
      </p:sp>
      <p:sp>
        <p:nvSpPr>
          <p:cNvPr id="7" name="Shape 5"/>
          <p:cNvSpPr/>
          <p:nvPr/>
        </p:nvSpPr>
        <p:spPr>
          <a:xfrm>
            <a:off x="6766560" y="2185416"/>
            <a:ext cx="100584" cy="100584"/>
          </a:xfrm>
          <a:prstGeom prst="ellipse">
            <a:avLst/>
          </a:prstGeom>
          <a:solidFill>
            <a:srgbClr val="2A9D8F"/>
          </a:solidFill>
          <a:ln/>
        </p:spPr>
      </p:sp>
      <p:sp>
        <p:nvSpPr>
          <p:cNvPr id="8" name="Text 6"/>
          <p:cNvSpPr txBox="1"/>
          <p:nvPr/>
        </p:nvSpPr>
        <p:spPr>
          <a:xfrm>
            <a:off x="7022592" y="2048256"/>
            <a:ext cx="4636008" cy="566928"/>
          </a:xfrm>
          <a:prstGeom prst="rect">
            <a:avLst/>
          </a:prstGeom>
          <a:noFill/>
          <a:ln/>
        </p:spPr>
        <p:txBody>
          <a:bodyPr wrap="square" lIns="0" tIns="0" rIns="0" bIns="0" rtlCol="0" anchor="ctr"/>
          <a:lstStyle/>
          <a:p>
            <a:pPr algn="l" indent="0" marL="0">
              <a:buNone/>
            </a:pPr>
            <a:r>
              <a:rPr lang="en-US" sz="1400" dirty="0">
                <a:solidFill>
                  <a:srgbClr val="3A3A3A"/>
                </a:solidFill>
                <a:latin typeface="Calibri" pitchFamily="34" charset="0"/>
                <a:ea typeface="Calibri" pitchFamily="34" charset="-122"/>
                <a:cs typeface="Calibri" pitchFamily="34" charset="-120"/>
              </a:rPr>
              <a:t>conversation_history is declared outside the function and appended to, never recreated</a:t>
            </a:r>
            <a:endParaRPr lang="en-US" sz="1400" dirty="0"/>
          </a:p>
        </p:txBody>
      </p:sp>
      <p:sp>
        <p:nvSpPr>
          <p:cNvPr id="9" name="Shape 7"/>
          <p:cNvSpPr/>
          <p:nvPr/>
        </p:nvSpPr>
        <p:spPr>
          <a:xfrm>
            <a:off x="6766560" y="2752344"/>
            <a:ext cx="100584" cy="100584"/>
          </a:xfrm>
          <a:prstGeom prst="ellipse">
            <a:avLst/>
          </a:prstGeom>
          <a:solidFill>
            <a:srgbClr val="2A9D8F"/>
          </a:solidFill>
          <a:ln/>
        </p:spPr>
      </p:sp>
      <p:sp>
        <p:nvSpPr>
          <p:cNvPr id="10" name="Text 8"/>
          <p:cNvSpPr txBox="1"/>
          <p:nvPr/>
        </p:nvSpPr>
        <p:spPr>
          <a:xfrm>
            <a:off x="7022592" y="2615184"/>
            <a:ext cx="4636008" cy="566928"/>
          </a:xfrm>
          <a:prstGeom prst="rect">
            <a:avLst/>
          </a:prstGeom>
          <a:noFill/>
          <a:ln/>
        </p:spPr>
        <p:txBody>
          <a:bodyPr wrap="square" lIns="0" tIns="0" rIns="0" bIns="0" rtlCol="0" anchor="ctr"/>
          <a:lstStyle/>
          <a:p>
            <a:pPr algn="l" indent="0" marL="0">
              <a:buNone/>
            </a:pPr>
            <a:r>
              <a:rPr lang="en-US" sz="1400" dirty="0">
                <a:solidFill>
                  <a:srgbClr val="3A3A3A"/>
                </a:solidFill>
                <a:latin typeface="Calibri" pitchFamily="34" charset="0"/>
                <a:ea typeface="Calibri" pitchFamily="34" charset="-122"/>
                <a:cs typeface="Calibri" pitchFamily="34" charset="-120"/>
              </a:rPr>
              <a:t>No special “memory object” — memory is just a list that survives between calls</a:t>
            </a:r>
            <a:endParaRPr lang="en-US" sz="1400" dirty="0"/>
          </a:p>
        </p:txBody>
      </p:sp>
      <p:sp>
        <p:nvSpPr>
          <p:cNvPr id="11" name="Shape 9"/>
          <p:cNvSpPr/>
          <p:nvPr/>
        </p:nvSpPr>
        <p:spPr>
          <a:xfrm>
            <a:off x="6766560" y="4663440"/>
            <a:ext cx="4892040" cy="1005840"/>
          </a:xfrm>
          <a:prstGeom prst="roundRect">
            <a:avLst>
              <a:gd name="adj" fmla="val 10909"/>
            </a:avLst>
          </a:prstGeom>
          <a:solidFill>
            <a:srgbClr val="F1F5F9"/>
          </a:solidFill>
          <a:ln/>
          <a:effectLst>
            <a:outerShdw sx="100000" sy="100000" kx="0" ky="0" algn="bl" rotWithShape="0" blurRad="76200" dist="25400" dir="5400000">
              <a:srgbClr val="1D3557">
                <a:alpha val="16000"/>
              </a:srgbClr>
            </a:outerShdw>
          </a:effectLst>
        </p:spPr>
      </p:sp>
      <p:sp>
        <p:nvSpPr>
          <p:cNvPr id="12" name="Text 10"/>
          <p:cNvSpPr txBox="1"/>
          <p:nvPr/>
        </p:nvSpPr>
        <p:spPr>
          <a:xfrm>
            <a:off x="6995160" y="4800600"/>
            <a:ext cx="4480560" cy="731520"/>
          </a:xfrm>
          <a:prstGeom prst="rect">
            <a:avLst/>
          </a:prstGeom>
          <a:noFill/>
          <a:ln/>
        </p:spPr>
        <p:txBody>
          <a:bodyPr wrap="square" lIns="0" tIns="0" rIns="0" bIns="0" rtlCol="0" anchor="ctr"/>
          <a:lstStyle/>
          <a:p>
            <a:pPr algn="l" indent="0" marL="0">
              <a:buNone/>
            </a:pPr>
            <a:r>
              <a:rPr lang="en-US" sz="1250" i="1" dirty="0">
                <a:solidFill>
                  <a:srgbClr val="6B7280"/>
                </a:solidFill>
                <a:latin typeface="Calibri" pitchFamily="34" charset="0"/>
                <a:ea typeface="Calibri" pitchFamily="34" charset="-122"/>
                <a:cs typeface="Calibri" pitchFamily="34" charset="-120"/>
              </a:rPr>
              <a:t>Phases 1–2 rebuilt messages = [...] every call — that's why those agents “forgot” everything instantly.</a:t>
            </a:r>
            <a:endParaRPr lang="en-US" sz="1250" dirty="0"/>
          </a:p>
        </p:txBody>
      </p:sp>
      <p:sp>
        <p:nvSpPr>
          <p:cNvPr id="13" name="Text 11"/>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14" name="Text 12"/>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13 / 21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2800" b="1" dirty="0">
                <a:solidFill>
                  <a:srgbClr val="1D3557"/>
                </a:solidFill>
                <a:latin typeface="Bookman Old Style" pitchFamily="34" charset="0"/>
                <a:ea typeface="Bookman Old Style" pitchFamily="34" charset="-122"/>
                <a:cs typeface="Bookman Old Style" pitchFamily="34" charset="-120"/>
              </a:rPr>
              <a:t>Phase 4 — Chaining multiple steps</a:t>
            </a:r>
            <a:endParaRPr lang="en-US" sz="2800" dirty="0"/>
          </a:p>
        </p:txBody>
      </p:sp>
      <p:sp>
        <p:nvSpPr>
          <p:cNvPr id="3" name="Shape 1"/>
          <p:cNvSpPr/>
          <p:nvPr/>
        </p:nvSpPr>
        <p:spPr>
          <a:xfrm>
            <a:off x="548640" y="1417320"/>
            <a:ext cx="5943600" cy="4709160"/>
          </a:xfrm>
          <a:prstGeom prst="roundRect">
            <a:avLst>
              <a:gd name="adj" fmla="val 1942"/>
            </a:avLst>
          </a:prstGeom>
          <a:solidFill>
            <a:srgbClr val="0F1E33"/>
          </a:solidFill>
          <a:ln/>
          <a:effectLst>
            <a:outerShdw sx="100000" sy="100000" kx="0" ky="0" algn="bl" rotWithShape="0" blurRad="76200" dist="25400" dir="5400000">
              <a:srgbClr val="1D3557">
                <a:alpha val="16000"/>
              </a:srgbClr>
            </a:outerShdw>
          </a:effectLst>
        </p:spPr>
      </p:sp>
      <p:sp>
        <p:nvSpPr>
          <p:cNvPr id="4" name="Text 2"/>
          <p:cNvSpPr txBox="1"/>
          <p:nvPr/>
        </p:nvSpPr>
        <p:spPr>
          <a:xfrm>
            <a:off x="777240" y="1554480"/>
            <a:ext cx="5486400" cy="274320"/>
          </a:xfrm>
          <a:prstGeom prst="rect">
            <a:avLst/>
          </a:prstGeom>
          <a:noFill/>
          <a:ln/>
        </p:spPr>
        <p:txBody>
          <a:bodyPr wrap="square" lIns="0" tIns="0" rIns="0" bIns="0" rtlCol="0" anchor="ctr"/>
          <a:lstStyle/>
          <a:p>
            <a:pPr algn="l" indent="0" marL="0">
              <a:buNone/>
            </a:pPr>
            <a:r>
              <a:rPr lang="en-US" sz="1150" i="1" dirty="0">
                <a:solidFill>
                  <a:srgbClr val="D6E4F0"/>
                </a:solidFill>
                <a:latin typeface="Calibri" pitchFamily="34" charset="0"/>
                <a:ea typeface="Calibri" pitchFamily="34" charset="-122"/>
                <a:cs typeface="Calibri" pitchFamily="34" charset="-120"/>
              </a:rPr>
              <a:t>phase_04_multi_step_task/agent_task_chain.py</a:t>
            </a:r>
            <a:endParaRPr lang="en-US" sz="1150" dirty="0"/>
          </a:p>
        </p:txBody>
      </p:sp>
      <p:sp>
        <p:nvSpPr>
          <p:cNvPr id="5" name="Text 3"/>
          <p:cNvSpPr txBox="1"/>
          <p:nvPr/>
        </p:nvSpPr>
        <p:spPr>
          <a:xfrm>
            <a:off x="777240" y="1920240"/>
            <a:ext cx="5486400" cy="4023360"/>
          </a:xfrm>
          <a:prstGeom prst="rect">
            <a:avLst/>
          </a:prstGeom>
          <a:noFill/>
          <a:ln/>
        </p:spPr>
        <p:txBody>
          <a:bodyPr wrap="square" lIns="0" tIns="0" rIns="0" bIns="0" rtlCol="0" anchor="ctr"/>
          <a:lstStyle/>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for step in range(1, max_iterations + 1):</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ai_message = llm_with_tools.invoke(messages)</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messages.append(ai_message)</a:t>
            </a:r>
            <a:endParaRPr lang="en-US" sz="1250" dirty="0"/>
          </a:p>
          <a:p>
            <a:pPr algn="l" indent="0" marL="0">
              <a:lnSpc>
                <a:spcPct val="118000"/>
              </a:lnSpc>
              <a:buNone/>
            </a:pP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if not ai_message.tool_calls:</a:t>
            </a:r>
            <a:endParaRPr lang="en-US" sz="1250" dirty="0"/>
          </a:p>
          <a:p>
            <a:pPr algn="l" indent="0" marL="0">
              <a:lnSpc>
                <a:spcPct val="118000"/>
              </a:lnSpc>
              <a:buNone/>
            </a:pPr>
            <a:r>
              <a:rPr lang="en-US" sz="1250" dirty="0">
                <a:solidFill>
                  <a:srgbClr val="6FD3C4"/>
                </a:solidFill>
                <a:latin typeface="Courier New" pitchFamily="34" charset="0"/>
                <a:ea typeface="Courier New" pitchFamily="34" charset="-122"/>
                <a:cs typeface="Courier New" pitchFamily="34" charset="-120"/>
              </a:rPr>
              <a:t>        return ai_message.content</a:t>
            </a:r>
            <a:endParaRPr lang="en-US" sz="1250" dirty="0"/>
          </a:p>
          <a:p>
            <a:pPr algn="l" indent="0" marL="0">
              <a:lnSpc>
                <a:spcPct val="118000"/>
              </a:lnSpc>
              <a:buNone/>
            </a:pPr>
            <a:r>
              <a:rPr lang="en-US" sz="1250" dirty="0">
                <a:solidFill>
                  <a:srgbClr val="8FB39A"/>
                </a:solidFill>
                <a:latin typeface="Courier New" pitchFamily="34" charset="0"/>
                <a:ea typeface="Courier New" pitchFamily="34" charset="-122"/>
                <a:cs typeface="Courier New" pitchFamily="34" charset="-120"/>
              </a:rPr>
              <a:t>        # ^ the model decided it's done</a:t>
            </a:r>
            <a:endParaRPr lang="en-US" sz="1250" dirty="0"/>
          </a:p>
          <a:p>
            <a:pPr algn="l" indent="0" marL="0">
              <a:lnSpc>
                <a:spcPct val="118000"/>
              </a:lnSpc>
              <a:buNone/>
            </a:pP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for call in ai_message.tool_calls:</a:t>
            </a:r>
            <a:endParaRPr lang="en-US" sz="1250" dirty="0"/>
          </a:p>
          <a:p>
            <a:pPr algn="l" indent="0" marL="0">
              <a:lnSpc>
                <a:spcPct val="118000"/>
              </a:lnSpc>
              <a:buNone/>
            </a:pPr>
            <a:r>
              <a:rPr lang="en-US" sz="1250" dirty="0">
                <a:solidFill>
                  <a:srgbClr val="E7ECF3"/>
                </a:solidFill>
                <a:latin typeface="Courier New" pitchFamily="34" charset="0"/>
                <a:ea typeface="Courier New" pitchFamily="34" charset="-122"/>
                <a:cs typeface="Courier New" pitchFamily="34" charset="-120"/>
              </a:rPr>
              <a:t>        ...</a:t>
            </a:r>
            <a:endParaRPr lang="en-US" sz="1250" dirty="0"/>
          </a:p>
        </p:txBody>
      </p:sp>
      <p:sp>
        <p:nvSpPr>
          <p:cNvPr id="6" name="Text 4"/>
          <p:cNvSpPr txBox="1"/>
          <p:nvPr/>
        </p:nvSpPr>
        <p:spPr>
          <a:xfrm>
            <a:off x="6766560" y="1508760"/>
            <a:ext cx="4846320" cy="457200"/>
          </a:xfrm>
          <a:prstGeom prst="rect">
            <a:avLst/>
          </a:prstGeom>
          <a:noFill/>
          <a:ln/>
        </p:spPr>
        <p:txBody>
          <a:bodyPr wrap="square" lIns="0" tIns="0" rIns="0" bIns="0" rtlCol="0" anchor="ctr"/>
          <a:lstStyle/>
          <a:p>
            <a:pPr algn="l" indent="0" marL="0">
              <a:buNone/>
            </a:pPr>
            <a:r>
              <a:rPr lang="en-US" sz="1600" b="1" dirty="0">
                <a:solidFill>
                  <a:srgbClr val="1D3557"/>
                </a:solidFill>
                <a:latin typeface="Calibri" pitchFamily="34" charset="0"/>
                <a:ea typeface="Calibri" pitchFamily="34" charset="-122"/>
                <a:cs typeface="Calibri" pitchFamily="34" charset="-120"/>
              </a:rPr>
              <a:t>The new idea</a:t>
            </a:r>
            <a:endParaRPr lang="en-US" sz="1600" dirty="0"/>
          </a:p>
        </p:txBody>
      </p:sp>
      <p:sp>
        <p:nvSpPr>
          <p:cNvPr id="7" name="Shape 5"/>
          <p:cNvSpPr/>
          <p:nvPr/>
        </p:nvSpPr>
        <p:spPr>
          <a:xfrm>
            <a:off x="6766560" y="2185416"/>
            <a:ext cx="100584" cy="100584"/>
          </a:xfrm>
          <a:prstGeom prst="ellipse">
            <a:avLst/>
          </a:prstGeom>
          <a:solidFill>
            <a:srgbClr val="2A9D8F"/>
          </a:solidFill>
          <a:ln/>
        </p:spPr>
      </p:sp>
      <p:sp>
        <p:nvSpPr>
          <p:cNvPr id="8" name="Text 6"/>
          <p:cNvSpPr txBox="1"/>
          <p:nvPr/>
        </p:nvSpPr>
        <p:spPr>
          <a:xfrm>
            <a:off x="7022592" y="2048256"/>
            <a:ext cx="4636008" cy="566928"/>
          </a:xfrm>
          <a:prstGeom prst="rect">
            <a:avLst/>
          </a:prstGeom>
          <a:noFill/>
          <a:ln/>
        </p:spPr>
        <p:txBody>
          <a:bodyPr wrap="square" lIns="0" tIns="0" rIns="0" bIns="0" rtlCol="0" anchor="ctr"/>
          <a:lstStyle/>
          <a:p>
            <a:pPr algn="l" indent="0" marL="0">
              <a:buNone/>
            </a:pPr>
            <a:r>
              <a:rPr lang="en-US" sz="1450" dirty="0">
                <a:solidFill>
                  <a:srgbClr val="3A3A3A"/>
                </a:solidFill>
                <a:latin typeface="Calibri" pitchFamily="34" charset="0"/>
                <a:ea typeface="Calibri" pitchFamily="34" charset="-122"/>
                <a:cs typeface="Calibri" pitchFamily="34" charset="-120"/>
              </a:rPr>
              <a:t>Loop ROUNDS of tool-calling, not just one</a:t>
            </a:r>
            <a:endParaRPr lang="en-US" sz="1450" dirty="0"/>
          </a:p>
        </p:txBody>
      </p:sp>
      <p:sp>
        <p:nvSpPr>
          <p:cNvPr id="9" name="Shape 7"/>
          <p:cNvSpPr/>
          <p:nvPr/>
        </p:nvSpPr>
        <p:spPr>
          <a:xfrm>
            <a:off x="6766560" y="2752344"/>
            <a:ext cx="100584" cy="100584"/>
          </a:xfrm>
          <a:prstGeom prst="ellipse">
            <a:avLst/>
          </a:prstGeom>
          <a:solidFill>
            <a:srgbClr val="2A9D8F"/>
          </a:solidFill>
          <a:ln/>
        </p:spPr>
      </p:sp>
      <p:sp>
        <p:nvSpPr>
          <p:cNvPr id="10" name="Text 8"/>
          <p:cNvSpPr txBox="1"/>
          <p:nvPr/>
        </p:nvSpPr>
        <p:spPr>
          <a:xfrm>
            <a:off x="7022592" y="2615184"/>
            <a:ext cx="4636008" cy="566928"/>
          </a:xfrm>
          <a:prstGeom prst="rect">
            <a:avLst/>
          </a:prstGeom>
          <a:noFill/>
          <a:ln/>
        </p:spPr>
        <p:txBody>
          <a:bodyPr wrap="square" lIns="0" tIns="0" rIns="0" bIns="0" rtlCol="0" anchor="ctr"/>
          <a:lstStyle/>
          <a:p>
            <a:pPr algn="l" indent="0" marL="0">
              <a:buNone/>
            </a:pPr>
            <a:r>
              <a:rPr lang="en-US" sz="1450" dirty="0">
                <a:solidFill>
                  <a:srgbClr val="3A3A3A"/>
                </a:solidFill>
                <a:latin typeface="Calibri" pitchFamily="34" charset="0"/>
                <a:ea typeface="Calibri" pitchFamily="34" charset="-122"/>
                <a:cs typeface="Calibri" pitchFamily="34" charset="-120"/>
              </a:rPr>
              <a:t>Stop condition: the LLM itself decides it's done — not you</a:t>
            </a:r>
            <a:endParaRPr lang="en-US" sz="1450" dirty="0"/>
          </a:p>
        </p:txBody>
      </p:sp>
      <p:sp>
        <p:nvSpPr>
          <p:cNvPr id="11" name="Shape 9"/>
          <p:cNvSpPr/>
          <p:nvPr/>
        </p:nvSpPr>
        <p:spPr>
          <a:xfrm>
            <a:off x="6766560" y="3319272"/>
            <a:ext cx="100584" cy="100584"/>
          </a:xfrm>
          <a:prstGeom prst="ellipse">
            <a:avLst/>
          </a:prstGeom>
          <a:solidFill>
            <a:srgbClr val="2A9D8F"/>
          </a:solidFill>
          <a:ln/>
        </p:spPr>
      </p:sp>
      <p:sp>
        <p:nvSpPr>
          <p:cNvPr id="12" name="Text 10"/>
          <p:cNvSpPr txBox="1"/>
          <p:nvPr/>
        </p:nvSpPr>
        <p:spPr>
          <a:xfrm>
            <a:off x="7022592" y="3182112"/>
            <a:ext cx="4636008" cy="566928"/>
          </a:xfrm>
          <a:prstGeom prst="rect">
            <a:avLst/>
          </a:prstGeom>
          <a:noFill/>
          <a:ln/>
        </p:spPr>
        <p:txBody>
          <a:bodyPr wrap="square" lIns="0" tIns="0" rIns="0" bIns="0" rtlCol="0" anchor="ctr"/>
          <a:lstStyle/>
          <a:p>
            <a:pPr algn="l" indent="0" marL="0">
              <a:buNone/>
            </a:pPr>
            <a:r>
              <a:rPr lang="en-US" sz="1450" dirty="0">
                <a:solidFill>
                  <a:srgbClr val="3A3A3A"/>
                </a:solidFill>
                <a:latin typeface="Calibri" pitchFamily="34" charset="0"/>
                <a:ea typeface="Calibri" pitchFamily="34" charset="-122"/>
                <a:cs typeface="Calibri" pitchFamily="34" charset="-120"/>
              </a:rPr>
              <a:t>max_iterations is a safety net, not the real stop signal</a:t>
            </a:r>
            <a:endParaRPr lang="en-US" sz="1450" dirty="0"/>
          </a:p>
        </p:txBody>
      </p:sp>
      <p:sp>
        <p:nvSpPr>
          <p:cNvPr id="13" name="Shape 11"/>
          <p:cNvSpPr/>
          <p:nvPr/>
        </p:nvSpPr>
        <p:spPr>
          <a:xfrm>
            <a:off x="6766560" y="4800600"/>
            <a:ext cx="4892040" cy="1005840"/>
          </a:xfrm>
          <a:prstGeom prst="roundRect">
            <a:avLst>
              <a:gd name="adj" fmla="val 10909"/>
            </a:avLst>
          </a:prstGeom>
          <a:solidFill>
            <a:srgbClr val="F1F5F9"/>
          </a:solidFill>
          <a:ln/>
          <a:effectLst>
            <a:outerShdw sx="100000" sy="100000" kx="0" ky="0" algn="bl" rotWithShape="0" blurRad="76200" dist="25400" dir="5400000">
              <a:srgbClr val="1D3557">
                <a:alpha val="16000"/>
              </a:srgbClr>
            </a:outerShdw>
          </a:effectLst>
        </p:spPr>
      </p:sp>
      <p:sp>
        <p:nvSpPr>
          <p:cNvPr id="14" name="Text 12"/>
          <p:cNvSpPr txBox="1"/>
          <p:nvPr/>
        </p:nvSpPr>
        <p:spPr>
          <a:xfrm>
            <a:off x="6995160" y="4937760"/>
            <a:ext cx="4480560" cy="731520"/>
          </a:xfrm>
          <a:prstGeom prst="rect">
            <a:avLst/>
          </a:prstGeom>
          <a:noFill/>
          <a:ln/>
        </p:spPr>
        <p:txBody>
          <a:bodyPr wrap="square" lIns="0" tIns="0" rIns="0" bIns="0" rtlCol="0" anchor="ctr"/>
          <a:lstStyle/>
          <a:p>
            <a:pPr algn="l" indent="0" marL="0">
              <a:buNone/>
            </a:pPr>
            <a:r>
              <a:rPr lang="en-US" sz="1250" i="1" dirty="0">
                <a:solidFill>
                  <a:srgbClr val="6B7280"/>
                </a:solidFill>
                <a:latin typeface="Calibri" pitchFamily="34" charset="0"/>
                <a:ea typeface="Calibri" pitchFamily="34" charset="-122"/>
                <a:cs typeface="Calibri" pitchFamily="34" charset="-120"/>
              </a:rPr>
              <a:t>Watch for the QUEUE_EMPTY sentinel pattern — how you tell the agent “there's nothing left.”</a:t>
            </a:r>
            <a:endParaRPr lang="en-US" sz="1250" dirty="0"/>
          </a:p>
        </p:txBody>
      </p:sp>
      <p:sp>
        <p:nvSpPr>
          <p:cNvPr id="15" name="Text 13"/>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16" name="Text 14"/>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14 / 21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D3557"/>
                </a:solidFill>
                <a:latin typeface="Bookman Old Style" pitchFamily="34" charset="0"/>
                <a:ea typeface="Bookman Old Style" pitchFamily="34" charset="-122"/>
                <a:cs typeface="Bookman Old Style" pitchFamily="34" charset="-120"/>
              </a:rPr>
              <a:t>Today's three tracks</a:t>
            </a:r>
            <a:endParaRPr lang="en-US" sz="3200" dirty="0"/>
          </a:p>
        </p:txBody>
      </p:sp>
      <p:sp>
        <p:nvSpPr>
          <p:cNvPr id="3" name="Shape 1"/>
          <p:cNvSpPr/>
          <p:nvPr/>
        </p:nvSpPr>
        <p:spPr>
          <a:xfrm>
            <a:off x="548640" y="1600200"/>
            <a:ext cx="3611880" cy="4480560"/>
          </a:xfrm>
          <a:prstGeom prst="roundRect">
            <a:avLst>
              <a:gd name="adj" fmla="val 3038"/>
            </a:avLst>
          </a:prstGeom>
          <a:solidFill>
            <a:srgbClr val="F1F5F9"/>
          </a:solidFill>
          <a:ln/>
          <a:effectLst>
            <a:outerShdw sx="100000" sy="100000" kx="0" ky="0" algn="bl" rotWithShape="0" blurRad="76200" dist="25400" dir="5400000">
              <a:srgbClr val="1D3557">
                <a:alpha val="16000"/>
              </a:srgbClr>
            </a:outerShdw>
          </a:effectLst>
        </p:spPr>
      </p:sp>
      <p:sp>
        <p:nvSpPr>
          <p:cNvPr id="4" name="Shape 2"/>
          <p:cNvSpPr/>
          <p:nvPr/>
        </p:nvSpPr>
        <p:spPr>
          <a:xfrm>
            <a:off x="777240" y="1828800"/>
            <a:ext cx="502920" cy="502920"/>
          </a:xfrm>
          <a:prstGeom prst="ellipse">
            <a:avLst/>
          </a:prstGeom>
          <a:solidFill>
            <a:srgbClr val="1D3557"/>
          </a:solidFill>
          <a:ln/>
        </p:spPr>
      </p:sp>
      <p:sp>
        <p:nvSpPr>
          <p:cNvPr id="5" name="Text 3"/>
          <p:cNvSpPr txBox="1"/>
          <p:nvPr/>
        </p:nvSpPr>
        <p:spPr>
          <a:xfrm>
            <a:off x="777240" y="18288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a:t>
            </a:r>
            <a:endParaRPr lang="en-US" sz="1200" dirty="0"/>
          </a:p>
        </p:txBody>
      </p:sp>
      <p:sp>
        <p:nvSpPr>
          <p:cNvPr id="6" name="Text 4"/>
          <p:cNvSpPr txBox="1"/>
          <p:nvPr/>
        </p:nvSpPr>
        <p:spPr>
          <a:xfrm>
            <a:off x="1417320" y="1847088"/>
            <a:ext cx="2514600" cy="320040"/>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Robotics</a:t>
            </a:r>
            <a:endParaRPr lang="en-US" sz="1300" dirty="0"/>
          </a:p>
        </p:txBody>
      </p:sp>
      <p:sp>
        <p:nvSpPr>
          <p:cNvPr id="7" name="Text 5"/>
          <p:cNvSpPr txBox="1"/>
          <p:nvPr/>
        </p:nvSpPr>
        <p:spPr>
          <a:xfrm>
            <a:off x="822960" y="2423160"/>
            <a:ext cx="3063240" cy="685800"/>
          </a:xfrm>
          <a:prstGeom prst="rect">
            <a:avLst/>
          </a:prstGeom>
          <a:noFill/>
          <a:ln/>
        </p:spPr>
        <p:txBody>
          <a:bodyPr wrap="square" lIns="0" tIns="0" rIns="0" bIns="0" rtlCol="0" anchor="ctr"/>
          <a:lstStyle/>
          <a:p>
            <a:pPr algn="l" indent="0" marL="0">
              <a:buNone/>
            </a:pPr>
            <a:r>
              <a:rPr lang="en-US" sz="1550" b="1" i="1" dirty="0">
                <a:solidFill>
                  <a:srgbClr val="1D3557"/>
                </a:solidFill>
                <a:latin typeface="Bookman Old Style" pitchFamily="34" charset="0"/>
                <a:ea typeface="Bookman Old Style" pitchFamily="34" charset="-122"/>
                <a:cs typeface="Bookman Old Style" pitchFamily="34" charset="-120"/>
              </a:rPr>
              <a:t>The Rescue Drone Triage Agent</a:t>
            </a:r>
            <a:endParaRPr lang="en-US" sz="1550" dirty="0"/>
          </a:p>
        </p:txBody>
      </p:sp>
      <p:sp>
        <p:nvSpPr>
          <p:cNvPr id="8" name="Text 6"/>
          <p:cNvSpPr txBox="1"/>
          <p:nvPr/>
        </p:nvSpPr>
        <p:spPr>
          <a:xfrm>
            <a:off x="822960" y="3246120"/>
            <a:ext cx="3063240" cy="1005840"/>
          </a:xfrm>
          <a:prstGeom prst="rect">
            <a:avLst/>
          </a:prstGeom>
          <a:noFill/>
          <a:ln/>
        </p:spPr>
        <p:txBody>
          <a:bodyPr wrap="square" lIns="0" tIns="0" rIns="0" bIns="0" rtlCol="0" anchor="ctr"/>
          <a:lstStyle/>
          <a:p>
            <a:pPr algn="l" indent="0" marL="0">
              <a:buNone/>
            </a:pPr>
            <a:r>
              <a:rPr lang="en-US" sz="1200" dirty="0">
                <a:solidFill>
                  <a:srgbClr val="3A3A3A"/>
                </a:solidFill>
                <a:latin typeface="Calibri" pitchFamily="34" charset="0"/>
                <a:ea typeface="Calibri" pitchFamily="34" charset="-122"/>
                <a:cs typeface="Calibri" pitchFamily="34" charset="-120"/>
              </a:rPr>
              <a:t>Damage reports come in after an earthquake; the agent ranks them into a live dispatch list.</a:t>
            </a:r>
            <a:endParaRPr lang="en-US" sz="1200" dirty="0"/>
          </a:p>
        </p:txBody>
      </p:sp>
      <p:sp>
        <p:nvSpPr>
          <p:cNvPr id="9" name="Text 7"/>
          <p:cNvSpPr txBox="1"/>
          <p:nvPr/>
        </p:nvSpPr>
        <p:spPr>
          <a:xfrm>
            <a:off x="822960" y="4343400"/>
            <a:ext cx="3063240" cy="274320"/>
          </a:xfrm>
          <a:prstGeom prst="rect">
            <a:avLst/>
          </a:prstGeom>
          <a:noFill/>
          <a:ln/>
        </p:spPr>
        <p:txBody>
          <a:bodyPr wrap="square" lIns="0" tIns="0" rIns="0" bIns="0" rtlCol="0" anchor="ctr"/>
          <a:lstStyle/>
          <a:p>
            <a:pPr algn="l" indent="0" marL="0">
              <a:buNone/>
            </a:pPr>
            <a:r>
              <a:rPr lang="en-US" sz="1100" b="1" dirty="0">
                <a:solidFill>
                  <a:srgbClr val="2A9D8F"/>
                </a:solidFill>
                <a:latin typeface="Calibri" pitchFamily="34" charset="0"/>
                <a:ea typeface="Calibri" pitchFamily="34" charset="-122"/>
                <a:cs typeface="Calibri" pitchFamily="34" charset="-120"/>
              </a:rPr>
              <a:t>DONE =</a:t>
            </a:r>
            <a:endParaRPr lang="en-US" sz="1100" dirty="0"/>
          </a:p>
        </p:txBody>
      </p:sp>
      <p:sp>
        <p:nvSpPr>
          <p:cNvPr id="10" name="Text 8"/>
          <p:cNvSpPr txBox="1"/>
          <p:nvPr/>
        </p:nvSpPr>
        <p:spPr>
          <a:xfrm>
            <a:off x="822960" y="4617720"/>
            <a:ext cx="3063240" cy="1371600"/>
          </a:xfrm>
          <a:prstGeom prst="rect">
            <a:avLst/>
          </a:prstGeom>
          <a:noFill/>
          <a:ln/>
        </p:spPr>
        <p:txBody>
          <a:bodyPr wrap="square" lIns="0" tIns="0" rIns="0" bIns="0" rtlCol="0" anchor="ctr"/>
          <a:lstStyle/>
          <a:p>
            <a:pPr algn="l" indent="0" marL="0">
              <a:buNone/>
            </a:pPr>
            <a:r>
              <a:rPr lang="en-US" sz="1150" i="1" dirty="0">
                <a:solidFill>
                  <a:srgbClr val="3A3A3A"/>
                </a:solidFill>
                <a:latin typeface="Calibri" pitchFamily="34" charset="0"/>
                <a:ea typeface="Calibri" pitchFamily="34" charset="-122"/>
                <a:cs typeface="Calibri" pitchFamily="34" charset="-120"/>
              </a:rPr>
              <a:t>Paste in a new report live — watch it slot into the ranking with visible reasoning.</a:t>
            </a:r>
            <a:endParaRPr lang="en-US" sz="1150" dirty="0"/>
          </a:p>
        </p:txBody>
      </p:sp>
      <p:sp>
        <p:nvSpPr>
          <p:cNvPr id="11" name="Shape 9"/>
          <p:cNvSpPr/>
          <p:nvPr/>
        </p:nvSpPr>
        <p:spPr>
          <a:xfrm>
            <a:off x="4343400" y="1600200"/>
            <a:ext cx="3611880" cy="4480560"/>
          </a:xfrm>
          <a:prstGeom prst="roundRect">
            <a:avLst>
              <a:gd name="adj" fmla="val 3038"/>
            </a:avLst>
          </a:prstGeom>
          <a:solidFill>
            <a:srgbClr val="F1F5F9"/>
          </a:solidFill>
          <a:ln/>
          <a:effectLst>
            <a:outerShdw sx="100000" sy="100000" kx="0" ky="0" algn="bl" rotWithShape="0" blurRad="76200" dist="25400" dir="5400000">
              <a:srgbClr val="1D3557">
                <a:alpha val="16000"/>
              </a:srgbClr>
            </a:outerShdw>
          </a:effectLst>
        </p:spPr>
      </p:sp>
      <p:sp>
        <p:nvSpPr>
          <p:cNvPr id="12" name="Shape 10"/>
          <p:cNvSpPr/>
          <p:nvPr/>
        </p:nvSpPr>
        <p:spPr>
          <a:xfrm>
            <a:off x="4572000" y="1828800"/>
            <a:ext cx="502920" cy="502920"/>
          </a:xfrm>
          <a:prstGeom prst="ellipse">
            <a:avLst/>
          </a:prstGeom>
          <a:solidFill>
            <a:srgbClr val="1D3557"/>
          </a:solidFill>
          <a:ln/>
        </p:spPr>
      </p:sp>
      <p:sp>
        <p:nvSpPr>
          <p:cNvPr id="13" name="Text 11"/>
          <p:cNvSpPr txBox="1"/>
          <p:nvPr/>
        </p:nvSpPr>
        <p:spPr>
          <a:xfrm>
            <a:off x="4572000" y="18288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a:t>
            </a:r>
            <a:endParaRPr lang="en-US" sz="1200" dirty="0"/>
          </a:p>
        </p:txBody>
      </p:sp>
      <p:sp>
        <p:nvSpPr>
          <p:cNvPr id="14" name="Text 12"/>
          <p:cNvSpPr txBox="1"/>
          <p:nvPr/>
        </p:nvSpPr>
        <p:spPr>
          <a:xfrm>
            <a:off x="5212080" y="1847088"/>
            <a:ext cx="2514600" cy="320040"/>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AI / General</a:t>
            </a:r>
            <a:endParaRPr lang="en-US" sz="1300" dirty="0"/>
          </a:p>
        </p:txBody>
      </p:sp>
      <p:sp>
        <p:nvSpPr>
          <p:cNvPr id="15" name="Text 13"/>
          <p:cNvSpPr txBox="1"/>
          <p:nvPr/>
        </p:nvSpPr>
        <p:spPr>
          <a:xfrm>
            <a:off x="4617720" y="2423160"/>
            <a:ext cx="3063240" cy="685800"/>
          </a:xfrm>
          <a:prstGeom prst="rect">
            <a:avLst/>
          </a:prstGeom>
          <a:noFill/>
          <a:ln/>
        </p:spPr>
        <p:txBody>
          <a:bodyPr wrap="square" lIns="0" tIns="0" rIns="0" bIns="0" rtlCol="0" anchor="ctr"/>
          <a:lstStyle/>
          <a:p>
            <a:pPr algn="l" indent="0" marL="0">
              <a:buNone/>
            </a:pPr>
            <a:r>
              <a:rPr lang="en-US" sz="1550" b="1" i="1" dirty="0">
                <a:solidFill>
                  <a:srgbClr val="1D3557"/>
                </a:solidFill>
                <a:latin typeface="Bookman Old Style" pitchFamily="34" charset="0"/>
                <a:ea typeface="Bookman Old Style" pitchFamily="34" charset="-122"/>
                <a:cs typeface="Bookman Old Style" pitchFamily="34" charset="-120"/>
              </a:rPr>
              <a:t>The Study Group That Never Sleeps</a:t>
            </a:r>
            <a:endParaRPr lang="en-US" sz="1550" dirty="0"/>
          </a:p>
        </p:txBody>
      </p:sp>
      <p:sp>
        <p:nvSpPr>
          <p:cNvPr id="16" name="Text 14"/>
          <p:cNvSpPr txBox="1"/>
          <p:nvPr/>
        </p:nvSpPr>
        <p:spPr>
          <a:xfrm>
            <a:off x="4617720" y="3246120"/>
            <a:ext cx="3063240" cy="1005840"/>
          </a:xfrm>
          <a:prstGeom prst="rect">
            <a:avLst/>
          </a:prstGeom>
          <a:noFill/>
          <a:ln/>
        </p:spPr>
        <p:txBody>
          <a:bodyPr wrap="square" lIns="0" tIns="0" rIns="0" bIns="0" rtlCol="0" anchor="ctr"/>
          <a:lstStyle/>
          <a:p>
            <a:pPr algn="l" indent="0" marL="0">
              <a:buNone/>
            </a:pPr>
            <a:r>
              <a:rPr lang="en-US" sz="1200" dirty="0">
                <a:solidFill>
                  <a:srgbClr val="3A3A3A"/>
                </a:solidFill>
                <a:latin typeface="Calibri" pitchFamily="34" charset="0"/>
                <a:ea typeface="Calibri" pitchFamily="34" charset="-122"/>
                <a:cs typeface="Calibri" pitchFamily="34" charset="-120"/>
              </a:rPr>
              <a:t>One agent explains a concept, a second attacks it, a third fixes it.</a:t>
            </a:r>
            <a:endParaRPr lang="en-US" sz="1200" dirty="0"/>
          </a:p>
        </p:txBody>
      </p:sp>
      <p:sp>
        <p:nvSpPr>
          <p:cNvPr id="17" name="Text 15"/>
          <p:cNvSpPr txBox="1"/>
          <p:nvPr/>
        </p:nvSpPr>
        <p:spPr>
          <a:xfrm>
            <a:off x="4617720" y="4343400"/>
            <a:ext cx="3063240" cy="274320"/>
          </a:xfrm>
          <a:prstGeom prst="rect">
            <a:avLst/>
          </a:prstGeom>
          <a:noFill/>
          <a:ln/>
        </p:spPr>
        <p:txBody>
          <a:bodyPr wrap="square" lIns="0" tIns="0" rIns="0" bIns="0" rtlCol="0" anchor="ctr"/>
          <a:lstStyle/>
          <a:p>
            <a:pPr algn="l" indent="0" marL="0">
              <a:buNone/>
            </a:pPr>
            <a:r>
              <a:rPr lang="en-US" sz="1100" b="1" dirty="0">
                <a:solidFill>
                  <a:srgbClr val="2A9D8F"/>
                </a:solidFill>
                <a:latin typeface="Calibri" pitchFamily="34" charset="0"/>
                <a:ea typeface="Calibri" pitchFamily="34" charset="-122"/>
                <a:cs typeface="Calibri" pitchFamily="34" charset="-120"/>
              </a:rPr>
              <a:t>DONE =</a:t>
            </a:r>
            <a:endParaRPr lang="en-US" sz="1100" dirty="0"/>
          </a:p>
        </p:txBody>
      </p:sp>
      <p:sp>
        <p:nvSpPr>
          <p:cNvPr id="18" name="Text 16"/>
          <p:cNvSpPr txBox="1"/>
          <p:nvPr/>
        </p:nvSpPr>
        <p:spPr>
          <a:xfrm>
            <a:off x="4617720" y="4617720"/>
            <a:ext cx="3063240" cy="1371600"/>
          </a:xfrm>
          <a:prstGeom prst="rect">
            <a:avLst/>
          </a:prstGeom>
          <a:noFill/>
          <a:ln/>
        </p:spPr>
        <p:txBody>
          <a:bodyPr wrap="square" lIns="0" tIns="0" rIns="0" bIns="0" rtlCol="0" anchor="ctr"/>
          <a:lstStyle/>
          <a:p>
            <a:pPr algn="l" indent="0" marL="0">
              <a:buNone/>
            </a:pPr>
            <a:r>
              <a:rPr lang="en-US" sz="1150" i="1" dirty="0">
                <a:solidFill>
                  <a:srgbClr val="3A3A3A"/>
                </a:solidFill>
                <a:latin typeface="Calibri" pitchFamily="34" charset="0"/>
                <a:ea typeface="Calibri" pitchFamily="34" charset="-122"/>
                <a:cs typeface="Calibri" pitchFamily="34" charset="-120"/>
              </a:rPr>
              <a:t>A visible draft → challenge → revise exchange, on a topic you supply live.</a:t>
            </a:r>
            <a:endParaRPr lang="en-US" sz="1150" dirty="0"/>
          </a:p>
        </p:txBody>
      </p:sp>
      <p:sp>
        <p:nvSpPr>
          <p:cNvPr id="19" name="Shape 17"/>
          <p:cNvSpPr/>
          <p:nvPr/>
        </p:nvSpPr>
        <p:spPr>
          <a:xfrm>
            <a:off x="8138160" y="1600200"/>
            <a:ext cx="3611880" cy="4480560"/>
          </a:xfrm>
          <a:prstGeom prst="roundRect">
            <a:avLst>
              <a:gd name="adj" fmla="val 3038"/>
            </a:avLst>
          </a:prstGeom>
          <a:solidFill>
            <a:srgbClr val="F1F5F9"/>
          </a:solidFill>
          <a:ln/>
          <a:effectLst>
            <a:outerShdw sx="100000" sy="100000" kx="0" ky="0" algn="bl" rotWithShape="0" blurRad="76200" dist="25400" dir="5400000">
              <a:srgbClr val="1D3557">
                <a:alpha val="16000"/>
              </a:srgbClr>
            </a:outerShdw>
          </a:effectLst>
        </p:spPr>
      </p:sp>
      <p:sp>
        <p:nvSpPr>
          <p:cNvPr id="20" name="Shape 18"/>
          <p:cNvSpPr/>
          <p:nvPr/>
        </p:nvSpPr>
        <p:spPr>
          <a:xfrm>
            <a:off x="8366760" y="1828800"/>
            <a:ext cx="502920" cy="502920"/>
          </a:xfrm>
          <a:prstGeom prst="ellipse">
            <a:avLst/>
          </a:prstGeom>
          <a:solidFill>
            <a:srgbClr val="1D3557"/>
          </a:solidFill>
          <a:ln/>
        </p:spPr>
      </p:sp>
      <p:sp>
        <p:nvSpPr>
          <p:cNvPr id="21" name="Text 19"/>
          <p:cNvSpPr txBox="1"/>
          <p:nvPr/>
        </p:nvSpPr>
        <p:spPr>
          <a:xfrm>
            <a:off x="8366760" y="18288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CY</a:t>
            </a:r>
            <a:endParaRPr lang="en-US" sz="1200" dirty="0"/>
          </a:p>
        </p:txBody>
      </p:sp>
      <p:sp>
        <p:nvSpPr>
          <p:cNvPr id="22" name="Text 20"/>
          <p:cNvSpPr txBox="1"/>
          <p:nvPr/>
        </p:nvSpPr>
        <p:spPr>
          <a:xfrm>
            <a:off x="9006840" y="1847088"/>
            <a:ext cx="2514600" cy="320040"/>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Cybersecurity</a:t>
            </a:r>
            <a:endParaRPr lang="en-US" sz="1300" dirty="0"/>
          </a:p>
        </p:txBody>
      </p:sp>
      <p:sp>
        <p:nvSpPr>
          <p:cNvPr id="23" name="Text 21"/>
          <p:cNvSpPr txBox="1"/>
          <p:nvPr/>
        </p:nvSpPr>
        <p:spPr>
          <a:xfrm>
            <a:off x="8412480" y="2423160"/>
            <a:ext cx="3063240" cy="685800"/>
          </a:xfrm>
          <a:prstGeom prst="rect">
            <a:avLst/>
          </a:prstGeom>
          <a:noFill/>
          <a:ln/>
        </p:spPr>
        <p:txBody>
          <a:bodyPr wrap="square" lIns="0" tIns="0" rIns="0" bIns="0" rtlCol="0" anchor="ctr"/>
          <a:lstStyle/>
          <a:p>
            <a:pPr algn="l" indent="0" marL="0">
              <a:buNone/>
            </a:pPr>
            <a:r>
              <a:rPr lang="en-US" sz="1550" b="1" i="1" dirty="0">
                <a:solidFill>
                  <a:srgbClr val="1D3557"/>
                </a:solidFill>
                <a:latin typeface="Bookman Old Style" pitchFamily="34" charset="0"/>
                <a:ea typeface="Bookman Old Style" pitchFamily="34" charset="-122"/>
                <a:cs typeface="Bookman Old Style" pitchFamily="34" charset="-120"/>
              </a:rPr>
              <a:t>Catch the Intruder</a:t>
            </a:r>
            <a:endParaRPr lang="en-US" sz="1550" dirty="0"/>
          </a:p>
        </p:txBody>
      </p:sp>
      <p:sp>
        <p:nvSpPr>
          <p:cNvPr id="24" name="Text 22"/>
          <p:cNvSpPr txBox="1"/>
          <p:nvPr/>
        </p:nvSpPr>
        <p:spPr>
          <a:xfrm>
            <a:off x="8412480" y="3246120"/>
            <a:ext cx="3063240" cy="1005840"/>
          </a:xfrm>
          <a:prstGeom prst="rect">
            <a:avLst/>
          </a:prstGeom>
          <a:noFill/>
          <a:ln/>
        </p:spPr>
        <p:txBody>
          <a:bodyPr wrap="square" lIns="0" tIns="0" rIns="0" bIns="0" rtlCol="0" anchor="ctr"/>
          <a:lstStyle/>
          <a:p>
            <a:pPr algn="l" indent="0" marL="0">
              <a:buNone/>
            </a:pPr>
            <a:r>
              <a:rPr lang="en-US" sz="1200" dirty="0">
                <a:solidFill>
                  <a:srgbClr val="3A3A3A"/>
                </a:solidFill>
                <a:latin typeface="Calibri" pitchFamily="34" charset="0"/>
                <a:ea typeface="Calibri" pitchFamily="34" charset="-122"/>
                <a:cs typeface="Calibri" pitchFamily="34" charset="-120"/>
              </a:rPr>
              <a:t>The agent watches a stream of login attempts and flags brute-force patterns and impossible travel.</a:t>
            </a:r>
            <a:endParaRPr lang="en-US" sz="1200" dirty="0"/>
          </a:p>
        </p:txBody>
      </p:sp>
      <p:sp>
        <p:nvSpPr>
          <p:cNvPr id="25" name="Text 23"/>
          <p:cNvSpPr txBox="1"/>
          <p:nvPr/>
        </p:nvSpPr>
        <p:spPr>
          <a:xfrm>
            <a:off x="8412480" y="4343400"/>
            <a:ext cx="3063240" cy="274320"/>
          </a:xfrm>
          <a:prstGeom prst="rect">
            <a:avLst/>
          </a:prstGeom>
          <a:noFill/>
          <a:ln/>
        </p:spPr>
        <p:txBody>
          <a:bodyPr wrap="square" lIns="0" tIns="0" rIns="0" bIns="0" rtlCol="0" anchor="ctr"/>
          <a:lstStyle/>
          <a:p>
            <a:pPr algn="l" indent="0" marL="0">
              <a:buNone/>
            </a:pPr>
            <a:r>
              <a:rPr lang="en-US" sz="1100" b="1" dirty="0">
                <a:solidFill>
                  <a:srgbClr val="2A9D8F"/>
                </a:solidFill>
                <a:latin typeface="Calibri" pitchFamily="34" charset="0"/>
                <a:ea typeface="Calibri" pitchFamily="34" charset="-122"/>
                <a:cs typeface="Calibri" pitchFamily="34" charset="-120"/>
              </a:rPr>
              <a:t>DONE =</a:t>
            </a:r>
            <a:endParaRPr lang="en-US" sz="1100" dirty="0"/>
          </a:p>
        </p:txBody>
      </p:sp>
      <p:sp>
        <p:nvSpPr>
          <p:cNvPr id="26" name="Text 24"/>
          <p:cNvSpPr txBox="1"/>
          <p:nvPr/>
        </p:nvSpPr>
        <p:spPr>
          <a:xfrm>
            <a:off x="8412480" y="4617720"/>
            <a:ext cx="3063240" cy="1371600"/>
          </a:xfrm>
          <a:prstGeom prst="rect">
            <a:avLst/>
          </a:prstGeom>
          <a:noFill/>
          <a:ln/>
        </p:spPr>
        <p:txBody>
          <a:bodyPr wrap="square" lIns="0" tIns="0" rIns="0" bIns="0" rtlCol="0" anchor="ctr"/>
          <a:lstStyle/>
          <a:p>
            <a:pPr algn="l" indent="0" marL="0">
              <a:buNone/>
            </a:pPr>
            <a:r>
              <a:rPr lang="en-US" sz="1150" i="1" dirty="0">
                <a:solidFill>
                  <a:srgbClr val="3A3A3A"/>
                </a:solidFill>
                <a:latin typeface="Calibri" pitchFamily="34" charset="0"/>
                <a:ea typeface="Calibri" pitchFamily="34" charset="-122"/>
                <a:cs typeface="Calibri" pitchFamily="34" charset="-120"/>
              </a:rPr>
              <a:t>Slip in an obvious attack live — watch it get caught and explained.</a:t>
            </a:r>
            <a:endParaRPr lang="en-US" sz="1150" dirty="0"/>
          </a:p>
        </p:txBody>
      </p:sp>
      <p:sp>
        <p:nvSpPr>
          <p:cNvPr id="27" name="Text 25"/>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28" name="Text 26"/>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15 / 21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D3557"/>
                </a:solidFill>
                <a:latin typeface="Bookman Old Style" pitchFamily="34" charset="0"/>
                <a:ea typeface="Bookman Old Style" pitchFamily="34" charset="-122"/>
                <a:cs typeface="Bookman Old Style" pitchFamily="34" charset="-120"/>
              </a:rPr>
              <a:t>Tools you need</a:t>
            </a:r>
            <a:endParaRPr lang="en-US" sz="3200" dirty="0"/>
          </a:p>
        </p:txBody>
      </p:sp>
      <p:sp>
        <p:nvSpPr>
          <p:cNvPr id="3" name="Shape 1"/>
          <p:cNvSpPr/>
          <p:nvPr/>
        </p:nvSpPr>
        <p:spPr>
          <a:xfrm>
            <a:off x="640080" y="1920240"/>
            <a:ext cx="594360" cy="594360"/>
          </a:xfrm>
          <a:prstGeom prst="ellipse">
            <a:avLst/>
          </a:prstGeom>
          <a:solidFill>
            <a:srgbClr val="1D3557"/>
          </a:solidFill>
          <a:ln/>
        </p:spPr>
      </p:sp>
      <p:sp>
        <p:nvSpPr>
          <p:cNvPr id="4" name="Text 2"/>
          <p:cNvSpPr txBox="1"/>
          <p:nvPr/>
        </p:nvSpPr>
        <p:spPr>
          <a:xfrm>
            <a:off x="640080" y="19202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508760" y="1938528"/>
            <a:ext cx="8686800" cy="457200"/>
          </a:xfrm>
          <a:prstGeom prst="rect">
            <a:avLst/>
          </a:prstGeom>
          <a:noFill/>
          <a:ln/>
        </p:spPr>
        <p:txBody>
          <a:bodyPr wrap="square" lIns="0" tIns="0" rIns="0" bIns="0" rtlCol="0" anchor="ctr"/>
          <a:lstStyle/>
          <a:p>
            <a:pPr algn="l" indent="0" marL="0">
              <a:buNone/>
            </a:pPr>
            <a:r>
              <a:rPr lang="en-US" sz="1900" b="1" dirty="0">
                <a:solidFill>
                  <a:srgbClr val="1D3557"/>
                </a:solidFill>
                <a:latin typeface="Calibri" pitchFamily="34" charset="0"/>
                <a:ea typeface="Calibri" pitchFamily="34" charset="-122"/>
                <a:cs typeface="Calibri" pitchFamily="34" charset="-120"/>
              </a:rPr>
              <a:t>A free Groq API key</a:t>
            </a:r>
            <a:endParaRPr lang="en-US" sz="1900" dirty="0"/>
          </a:p>
        </p:txBody>
      </p:sp>
      <p:sp>
        <p:nvSpPr>
          <p:cNvPr id="6" name="Text 4"/>
          <p:cNvSpPr txBox="1"/>
          <p:nvPr/>
        </p:nvSpPr>
        <p:spPr>
          <a:xfrm>
            <a:off x="1508760" y="2423160"/>
            <a:ext cx="8686800" cy="365760"/>
          </a:xfrm>
          <a:prstGeom prst="rect">
            <a:avLst/>
          </a:prstGeom>
          <a:noFill/>
          <a:ln/>
        </p:spPr>
        <p:txBody>
          <a:bodyPr wrap="square" lIns="0" tIns="0" rIns="0" bIns="0" rtlCol="0" anchor="ctr"/>
          <a:lstStyle/>
          <a:p>
            <a:pPr algn="l" indent="0" marL="0">
              <a:buNone/>
            </a:pPr>
            <a:r>
              <a:rPr lang="en-US" sz="1400" b="1" dirty="0">
                <a:solidFill>
                  <a:srgbClr val="2A9D8F"/>
                </a:solidFill>
                <a:latin typeface="Calibri" pitchFamily="34" charset="0"/>
                <a:ea typeface="Calibri" pitchFamily="34" charset="-122"/>
                <a:cs typeface="Calibri" pitchFamily="34" charset="-120"/>
              </a:rPr>
              <a:t>console.groq.com/keys</a:t>
            </a:r>
            <a:endParaRPr lang="en-US" sz="1400" dirty="0"/>
          </a:p>
        </p:txBody>
      </p:sp>
      <p:sp>
        <p:nvSpPr>
          <p:cNvPr id="7" name="Shape 5"/>
          <p:cNvSpPr/>
          <p:nvPr/>
        </p:nvSpPr>
        <p:spPr>
          <a:xfrm>
            <a:off x="640080" y="3337560"/>
            <a:ext cx="594360" cy="594360"/>
          </a:xfrm>
          <a:prstGeom prst="ellipse">
            <a:avLst/>
          </a:prstGeom>
          <a:solidFill>
            <a:srgbClr val="1D3557"/>
          </a:solidFill>
          <a:ln/>
        </p:spPr>
      </p:sp>
      <p:sp>
        <p:nvSpPr>
          <p:cNvPr id="8" name="Text 6"/>
          <p:cNvSpPr txBox="1"/>
          <p:nvPr/>
        </p:nvSpPr>
        <p:spPr>
          <a:xfrm>
            <a:off x="640080" y="333756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508760" y="3355848"/>
            <a:ext cx="8686800" cy="457200"/>
          </a:xfrm>
          <a:prstGeom prst="rect">
            <a:avLst/>
          </a:prstGeom>
          <a:noFill/>
          <a:ln/>
        </p:spPr>
        <p:txBody>
          <a:bodyPr wrap="square" lIns="0" tIns="0" rIns="0" bIns="0" rtlCol="0" anchor="ctr"/>
          <a:lstStyle/>
          <a:p>
            <a:pPr algn="l" indent="0" marL="0">
              <a:buNone/>
            </a:pPr>
            <a:r>
              <a:rPr lang="en-US" sz="1900" b="1" dirty="0">
                <a:solidFill>
                  <a:srgbClr val="1D3557"/>
                </a:solidFill>
                <a:latin typeface="Calibri" pitchFamily="34" charset="0"/>
                <a:ea typeface="Calibri" pitchFamily="34" charset="-122"/>
                <a:cs typeface="Calibri" pitchFamily="34" charset="-120"/>
              </a:rPr>
              <a:t>Google Antigravity (or your preferred AI-assisted IDE)</a:t>
            </a:r>
            <a:endParaRPr lang="en-US" sz="1900" dirty="0"/>
          </a:p>
        </p:txBody>
      </p:sp>
      <p:sp>
        <p:nvSpPr>
          <p:cNvPr id="10" name="Shape 8"/>
          <p:cNvSpPr/>
          <p:nvPr/>
        </p:nvSpPr>
        <p:spPr>
          <a:xfrm>
            <a:off x="640080" y="4754880"/>
            <a:ext cx="10789920" cy="1234440"/>
          </a:xfrm>
          <a:prstGeom prst="roundRect">
            <a:avLst>
              <a:gd name="adj" fmla="val 8889"/>
            </a:avLst>
          </a:prstGeom>
          <a:solidFill>
            <a:srgbClr val="F1F5F9"/>
          </a:solidFill>
          <a:ln/>
          <a:effectLst>
            <a:outerShdw sx="100000" sy="100000" kx="0" ky="0" algn="bl" rotWithShape="0" blurRad="76200" dist="25400" dir="5400000">
              <a:srgbClr val="1D3557">
                <a:alpha val="16000"/>
              </a:srgbClr>
            </a:outerShdw>
          </a:effectLst>
        </p:spPr>
      </p:sp>
      <p:sp>
        <p:nvSpPr>
          <p:cNvPr id="11" name="Text 9"/>
          <p:cNvSpPr txBox="1"/>
          <p:nvPr/>
        </p:nvSpPr>
        <p:spPr>
          <a:xfrm>
            <a:off x="914400" y="4937760"/>
            <a:ext cx="10241280" cy="365760"/>
          </a:xfrm>
          <a:prstGeom prst="rect">
            <a:avLst/>
          </a:prstGeom>
          <a:noFill/>
          <a:ln/>
        </p:spPr>
        <p:txBody>
          <a:bodyPr wrap="square" lIns="0" tIns="0" rIns="0" bIns="0" rtlCol="0" anchor="ctr"/>
          <a:lstStyle/>
          <a:p>
            <a:pPr algn="l" indent="0" marL="0">
              <a:buNone/>
            </a:pPr>
            <a:r>
              <a:rPr lang="en-US" sz="1500" b="1" dirty="0">
                <a:solidFill>
                  <a:srgbClr val="1D3557"/>
                </a:solidFill>
                <a:latin typeface="Calibri" pitchFamily="34" charset="0"/>
                <a:ea typeface="Calibri" pitchFamily="34" charset="-122"/>
                <a:cs typeface="Calibri" pitchFamily="34" charset="-120"/>
              </a:rPr>
              <a:t>Both should already be set up — if not, do it in the next 2 minutes while I finish talking.</a:t>
            </a:r>
            <a:endParaRPr lang="en-US" sz="1500" dirty="0"/>
          </a:p>
        </p:txBody>
      </p:sp>
      <p:sp>
        <p:nvSpPr>
          <p:cNvPr id="12" name="Text 10"/>
          <p:cNvSpPr txBox="1"/>
          <p:nvPr/>
        </p:nvSpPr>
        <p:spPr>
          <a:xfrm>
            <a:off x="914400" y="5349240"/>
            <a:ext cx="10241280" cy="365760"/>
          </a:xfrm>
          <a:prstGeom prst="rect">
            <a:avLst/>
          </a:prstGeom>
          <a:noFill/>
          <a:ln/>
        </p:spPr>
        <p:txBody>
          <a:bodyPr wrap="square" lIns="0" tIns="0" rIns="0" bIns="0" rtlCol="0" anchor="ctr"/>
          <a:lstStyle/>
          <a:p>
            <a:pPr algn="l" indent="0" marL="0">
              <a:buNone/>
            </a:pPr>
            <a:r>
              <a:rPr lang="en-US" sz="1250" i="1" dirty="0">
                <a:solidFill>
                  <a:srgbClr val="6B7280"/>
                </a:solidFill>
                <a:latin typeface="Calibri" pitchFamily="34" charset="0"/>
                <a:ea typeface="Calibri" pitchFamily="34" charset="-122"/>
                <a:cs typeface="Calibri" pitchFamily="34" charset="-120"/>
              </a:rPr>
              <a:t>Confirm your key actually works with phase_00_setup/check_environment.py</a:t>
            </a:r>
            <a:endParaRPr lang="en-US" sz="1250" dirty="0"/>
          </a:p>
        </p:txBody>
      </p:sp>
      <p:sp>
        <p:nvSpPr>
          <p:cNvPr id="13" name="Text 11"/>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14" name="Text 12"/>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16 / 21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D3557"/>
                </a:solidFill>
                <a:latin typeface="Bookman Old Style" pitchFamily="34" charset="0"/>
                <a:ea typeface="Bookman Old Style" pitchFamily="34" charset="-122"/>
                <a:cs typeface="Bookman Old Style" pitchFamily="34" charset="-120"/>
              </a:rPr>
              <a:t>How the next hour works</a:t>
            </a:r>
            <a:endParaRPr lang="en-US" sz="3200" dirty="0"/>
          </a:p>
        </p:txBody>
      </p:sp>
      <p:sp>
        <p:nvSpPr>
          <p:cNvPr id="3" name="Shape 1"/>
          <p:cNvSpPr/>
          <p:nvPr/>
        </p:nvSpPr>
        <p:spPr>
          <a:xfrm>
            <a:off x="1843888" y="2194560"/>
            <a:ext cx="1188720" cy="1188720"/>
          </a:xfrm>
          <a:prstGeom prst="ellipse">
            <a:avLst/>
          </a:prstGeom>
          <a:solidFill>
            <a:srgbClr val="1D3557"/>
          </a:solidFill>
          <a:ln/>
        </p:spPr>
      </p:sp>
      <p:sp>
        <p:nvSpPr>
          <p:cNvPr id="4" name="Text 2"/>
          <p:cNvSpPr txBox="1"/>
          <p:nvPr/>
        </p:nvSpPr>
        <p:spPr>
          <a:xfrm>
            <a:off x="1843888" y="2194560"/>
            <a:ext cx="1188720" cy="11887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5" name="Text 3"/>
          <p:cNvSpPr txBox="1"/>
          <p:nvPr/>
        </p:nvSpPr>
        <p:spPr>
          <a:xfrm>
            <a:off x="1478128" y="3520440"/>
            <a:ext cx="1920240" cy="640080"/>
          </a:xfrm>
          <a:prstGeom prst="rect">
            <a:avLst/>
          </a:prstGeom>
          <a:noFill/>
          <a:ln/>
        </p:spPr>
        <p:txBody>
          <a:bodyPr wrap="square" lIns="0" tIns="0" rIns="0" bIns="0" rtlCol="0" anchor="ctr"/>
          <a:lstStyle/>
          <a:p>
            <a:pPr algn="ctr" indent="0" marL="0">
              <a:buNone/>
            </a:pPr>
            <a:r>
              <a:rPr lang="en-US" sz="1300" b="1" dirty="0">
                <a:solidFill>
                  <a:srgbClr val="1D3557"/>
                </a:solidFill>
                <a:latin typeface="Calibri" pitchFamily="34" charset="0"/>
                <a:ea typeface="Calibri" pitchFamily="34" charset="-122"/>
                <a:cs typeface="Calibri" pitchFamily="34" charset="-120"/>
              </a:rPr>
              <a:t>Clone</a:t>
            </a:r>
            <a:endParaRPr lang="en-US" sz="1300" dirty="0"/>
          </a:p>
          <a:p>
            <a:pPr algn="ctr" indent="0" marL="0">
              <a:buNone/>
            </a:pPr>
            <a:r>
              <a:rPr lang="en-US" sz="1300" b="1" dirty="0">
                <a:solidFill>
                  <a:srgbClr val="1D3557"/>
                </a:solidFill>
                <a:latin typeface="Calibri" pitchFamily="34" charset="0"/>
                <a:ea typeface="Calibri" pitchFamily="34" charset="-122"/>
                <a:cs typeface="Calibri" pitchFamily="34" charset="-120"/>
              </a:rPr>
              <a:t>the repo</a:t>
            </a:r>
            <a:endParaRPr lang="en-US" sz="1300" dirty="0"/>
          </a:p>
        </p:txBody>
      </p:sp>
      <p:sp>
        <p:nvSpPr>
          <p:cNvPr id="6" name="Text 4"/>
          <p:cNvSpPr txBox="1"/>
          <p:nvPr/>
        </p:nvSpPr>
        <p:spPr>
          <a:xfrm>
            <a:off x="3032608" y="2194560"/>
            <a:ext cx="640080" cy="1188720"/>
          </a:xfrm>
          <a:prstGeom prst="rect">
            <a:avLst/>
          </a:prstGeom>
          <a:noFill/>
          <a:ln/>
        </p:spPr>
        <p:txBody>
          <a:bodyPr wrap="square" lIns="0" tIns="0" rIns="0" bIns="0" rtlCol="0" anchor="ctr"/>
          <a:lstStyle/>
          <a:p>
            <a:pPr algn="ctr" indent="0" marL="0">
              <a:buNone/>
            </a:pPr>
            <a:r>
              <a:rPr lang="en-US" sz="2200" b="1" dirty="0">
                <a:solidFill>
                  <a:srgbClr val="2A9D8F"/>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3672688" y="2194560"/>
            <a:ext cx="1188720" cy="1188720"/>
          </a:xfrm>
          <a:prstGeom prst="ellipse">
            <a:avLst/>
          </a:prstGeom>
          <a:solidFill>
            <a:srgbClr val="1D3557"/>
          </a:solidFill>
          <a:ln/>
        </p:spPr>
      </p:sp>
      <p:sp>
        <p:nvSpPr>
          <p:cNvPr id="8" name="Text 6"/>
          <p:cNvSpPr txBox="1"/>
          <p:nvPr/>
        </p:nvSpPr>
        <p:spPr>
          <a:xfrm>
            <a:off x="3672688" y="2194560"/>
            <a:ext cx="1188720" cy="11887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9" name="Text 7"/>
          <p:cNvSpPr txBox="1"/>
          <p:nvPr/>
        </p:nvSpPr>
        <p:spPr>
          <a:xfrm>
            <a:off x="3306928" y="3520440"/>
            <a:ext cx="1920240" cy="640080"/>
          </a:xfrm>
          <a:prstGeom prst="rect">
            <a:avLst/>
          </a:prstGeom>
          <a:noFill/>
          <a:ln/>
        </p:spPr>
        <p:txBody>
          <a:bodyPr wrap="square" lIns="0" tIns="0" rIns="0" bIns="0" rtlCol="0" anchor="ctr"/>
          <a:lstStyle/>
          <a:p>
            <a:pPr algn="ctr" indent="0" marL="0">
              <a:buNone/>
            </a:pPr>
            <a:r>
              <a:rPr lang="en-US" sz="1300" b="1" dirty="0">
                <a:solidFill>
                  <a:srgbClr val="1D3557"/>
                </a:solidFill>
                <a:latin typeface="Calibri" pitchFamily="34" charset="0"/>
                <a:ea typeface="Calibri" pitchFamily="34" charset="-122"/>
                <a:cs typeface="Calibri" pitchFamily="34" charset="-120"/>
              </a:rPr>
              <a:t>Pick a</a:t>
            </a:r>
            <a:endParaRPr lang="en-US" sz="1300" dirty="0"/>
          </a:p>
          <a:p>
            <a:pPr algn="ctr" indent="0" marL="0">
              <a:buNone/>
            </a:pPr>
            <a:r>
              <a:rPr lang="en-US" sz="1300" b="1" dirty="0">
                <a:solidFill>
                  <a:srgbClr val="1D3557"/>
                </a:solidFill>
                <a:latin typeface="Calibri" pitchFamily="34" charset="0"/>
                <a:ea typeface="Calibri" pitchFamily="34" charset="-122"/>
                <a:cs typeface="Calibri" pitchFamily="34" charset="-120"/>
              </a:rPr>
              <a:t>track</a:t>
            </a:r>
            <a:endParaRPr lang="en-US" sz="1300" dirty="0"/>
          </a:p>
        </p:txBody>
      </p:sp>
      <p:sp>
        <p:nvSpPr>
          <p:cNvPr id="10" name="Text 8"/>
          <p:cNvSpPr txBox="1"/>
          <p:nvPr/>
        </p:nvSpPr>
        <p:spPr>
          <a:xfrm>
            <a:off x="4861408" y="2194560"/>
            <a:ext cx="640080" cy="1188720"/>
          </a:xfrm>
          <a:prstGeom prst="rect">
            <a:avLst/>
          </a:prstGeom>
          <a:noFill/>
          <a:ln/>
        </p:spPr>
        <p:txBody>
          <a:bodyPr wrap="square" lIns="0" tIns="0" rIns="0" bIns="0" rtlCol="0" anchor="ctr"/>
          <a:lstStyle/>
          <a:p>
            <a:pPr algn="ctr" indent="0" marL="0">
              <a:buNone/>
            </a:pPr>
            <a:r>
              <a:rPr lang="en-US" sz="2200" b="1" dirty="0">
                <a:solidFill>
                  <a:srgbClr val="2A9D8F"/>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501488" y="2194560"/>
            <a:ext cx="1188720" cy="1188720"/>
          </a:xfrm>
          <a:prstGeom prst="ellipse">
            <a:avLst/>
          </a:prstGeom>
          <a:solidFill>
            <a:srgbClr val="1D3557"/>
          </a:solidFill>
          <a:ln/>
        </p:spPr>
      </p:sp>
      <p:sp>
        <p:nvSpPr>
          <p:cNvPr id="12" name="Text 10"/>
          <p:cNvSpPr txBox="1"/>
          <p:nvPr/>
        </p:nvSpPr>
        <p:spPr>
          <a:xfrm>
            <a:off x="5501488" y="2194560"/>
            <a:ext cx="1188720" cy="11887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3" name="Text 11"/>
          <p:cNvSpPr txBox="1"/>
          <p:nvPr/>
        </p:nvSpPr>
        <p:spPr>
          <a:xfrm>
            <a:off x="5135728" y="3520440"/>
            <a:ext cx="1920240" cy="640080"/>
          </a:xfrm>
          <a:prstGeom prst="rect">
            <a:avLst/>
          </a:prstGeom>
          <a:noFill/>
          <a:ln/>
        </p:spPr>
        <p:txBody>
          <a:bodyPr wrap="square" lIns="0" tIns="0" rIns="0" bIns="0" rtlCol="0" anchor="ctr"/>
          <a:lstStyle/>
          <a:p>
            <a:pPr algn="ctr" indent="0" marL="0">
              <a:buNone/>
            </a:pPr>
            <a:r>
              <a:rPr lang="en-US" sz="1300" b="1" dirty="0">
                <a:solidFill>
                  <a:srgbClr val="1D3557"/>
                </a:solidFill>
                <a:latin typeface="Calibri" pitchFamily="34" charset="0"/>
                <a:ea typeface="Calibri" pitchFamily="34" charset="-122"/>
                <a:cs typeface="Calibri" pitchFamily="34" charset="-120"/>
              </a:rPr>
              <a:t>Build from</a:t>
            </a:r>
            <a:endParaRPr lang="en-US" sz="1300" dirty="0"/>
          </a:p>
          <a:p>
            <a:pPr algn="ctr" indent="0" marL="0">
              <a:buNone/>
            </a:pPr>
            <a:r>
              <a:rPr lang="en-US" sz="1300" b="1" dirty="0">
                <a:solidFill>
                  <a:srgbClr val="1D3557"/>
                </a:solidFill>
                <a:latin typeface="Calibri" pitchFamily="34" charset="0"/>
                <a:ea typeface="Calibri" pitchFamily="34" charset="-122"/>
                <a:cs typeface="Calibri" pitchFamily="34" charset="-120"/>
              </a:rPr>
              <a:t>starter/</a:t>
            </a:r>
            <a:endParaRPr lang="en-US" sz="1300" dirty="0"/>
          </a:p>
        </p:txBody>
      </p:sp>
      <p:sp>
        <p:nvSpPr>
          <p:cNvPr id="14" name="Text 12"/>
          <p:cNvSpPr txBox="1"/>
          <p:nvPr/>
        </p:nvSpPr>
        <p:spPr>
          <a:xfrm>
            <a:off x="6690208" y="2194560"/>
            <a:ext cx="640080" cy="1188720"/>
          </a:xfrm>
          <a:prstGeom prst="rect">
            <a:avLst/>
          </a:prstGeom>
          <a:noFill/>
          <a:ln/>
        </p:spPr>
        <p:txBody>
          <a:bodyPr wrap="square" lIns="0" tIns="0" rIns="0" bIns="0" rtlCol="0" anchor="ctr"/>
          <a:lstStyle/>
          <a:p>
            <a:pPr algn="ctr" indent="0" marL="0">
              <a:buNone/>
            </a:pPr>
            <a:r>
              <a:rPr lang="en-US" sz="2200" b="1" dirty="0">
                <a:solidFill>
                  <a:srgbClr val="2A9D8F"/>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7330288" y="2194560"/>
            <a:ext cx="1188720" cy="1188720"/>
          </a:xfrm>
          <a:prstGeom prst="ellipse">
            <a:avLst/>
          </a:prstGeom>
          <a:solidFill>
            <a:srgbClr val="1D3557"/>
          </a:solidFill>
          <a:ln/>
        </p:spPr>
      </p:sp>
      <p:sp>
        <p:nvSpPr>
          <p:cNvPr id="16" name="Text 14"/>
          <p:cNvSpPr txBox="1"/>
          <p:nvPr/>
        </p:nvSpPr>
        <p:spPr>
          <a:xfrm>
            <a:off x="7330288" y="2194560"/>
            <a:ext cx="1188720" cy="11887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17" name="Text 15"/>
          <p:cNvSpPr txBox="1"/>
          <p:nvPr/>
        </p:nvSpPr>
        <p:spPr>
          <a:xfrm>
            <a:off x="6964528" y="3520440"/>
            <a:ext cx="1920240" cy="640080"/>
          </a:xfrm>
          <a:prstGeom prst="rect">
            <a:avLst/>
          </a:prstGeom>
          <a:noFill/>
          <a:ln/>
        </p:spPr>
        <p:txBody>
          <a:bodyPr wrap="square" lIns="0" tIns="0" rIns="0" bIns="0" rtlCol="0" anchor="ctr"/>
          <a:lstStyle/>
          <a:p>
            <a:pPr algn="ctr" indent="0" marL="0">
              <a:buNone/>
            </a:pPr>
            <a:r>
              <a:rPr lang="en-US" sz="1300" b="1" dirty="0">
                <a:solidFill>
                  <a:srgbClr val="1D3557"/>
                </a:solidFill>
                <a:latin typeface="Calibri" pitchFamily="34" charset="0"/>
                <a:ea typeface="Calibri" pitchFamily="34" charset="-122"/>
                <a:cs typeface="Calibri" pitchFamily="34" charset="-120"/>
              </a:rPr>
              <a:t>Ask for</a:t>
            </a:r>
            <a:endParaRPr lang="en-US" sz="1300" dirty="0"/>
          </a:p>
          <a:p>
            <a:pPr algn="ctr" indent="0" marL="0">
              <a:buNone/>
            </a:pPr>
            <a:r>
              <a:rPr lang="en-US" sz="1300" b="1" dirty="0">
                <a:solidFill>
                  <a:srgbClr val="1D3557"/>
                </a:solidFill>
                <a:latin typeface="Calibri" pitchFamily="34" charset="0"/>
                <a:ea typeface="Calibri" pitchFamily="34" charset="-122"/>
                <a:cs typeface="Calibri" pitchFamily="34" charset="-120"/>
              </a:rPr>
              <a:t>help</a:t>
            </a:r>
            <a:endParaRPr lang="en-US" sz="1300" dirty="0"/>
          </a:p>
        </p:txBody>
      </p:sp>
      <p:sp>
        <p:nvSpPr>
          <p:cNvPr id="18" name="Text 16"/>
          <p:cNvSpPr txBox="1"/>
          <p:nvPr/>
        </p:nvSpPr>
        <p:spPr>
          <a:xfrm>
            <a:off x="8519008" y="2194560"/>
            <a:ext cx="640080" cy="1188720"/>
          </a:xfrm>
          <a:prstGeom prst="rect">
            <a:avLst/>
          </a:prstGeom>
          <a:noFill/>
          <a:ln/>
        </p:spPr>
        <p:txBody>
          <a:bodyPr wrap="square" lIns="0" tIns="0" rIns="0" bIns="0" rtlCol="0" anchor="ctr"/>
          <a:lstStyle/>
          <a:p>
            <a:pPr algn="ctr" indent="0" marL="0">
              <a:buNone/>
            </a:pPr>
            <a:r>
              <a:rPr lang="en-US" sz="2200" b="1" dirty="0">
                <a:solidFill>
                  <a:srgbClr val="2A9D8F"/>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9159088" y="2194560"/>
            <a:ext cx="1188720" cy="1188720"/>
          </a:xfrm>
          <a:prstGeom prst="ellipse">
            <a:avLst/>
          </a:prstGeom>
          <a:solidFill>
            <a:srgbClr val="1D3557"/>
          </a:solidFill>
          <a:ln/>
        </p:spPr>
      </p:sp>
      <p:sp>
        <p:nvSpPr>
          <p:cNvPr id="20" name="Text 18"/>
          <p:cNvSpPr txBox="1"/>
          <p:nvPr/>
        </p:nvSpPr>
        <p:spPr>
          <a:xfrm>
            <a:off x="9159088" y="2194560"/>
            <a:ext cx="1188720" cy="11887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a:t>
            </a:r>
            <a:endParaRPr lang="en-US" sz="2600" dirty="0"/>
          </a:p>
        </p:txBody>
      </p:sp>
      <p:sp>
        <p:nvSpPr>
          <p:cNvPr id="21" name="Text 19"/>
          <p:cNvSpPr txBox="1"/>
          <p:nvPr/>
        </p:nvSpPr>
        <p:spPr>
          <a:xfrm>
            <a:off x="8793328" y="3520440"/>
            <a:ext cx="1920240" cy="640080"/>
          </a:xfrm>
          <a:prstGeom prst="rect">
            <a:avLst/>
          </a:prstGeom>
          <a:noFill/>
          <a:ln/>
        </p:spPr>
        <p:txBody>
          <a:bodyPr wrap="square" lIns="0" tIns="0" rIns="0" bIns="0" rtlCol="0" anchor="ctr"/>
          <a:lstStyle/>
          <a:p>
            <a:pPr algn="ctr" indent="0" marL="0">
              <a:buNone/>
            </a:pPr>
            <a:r>
              <a:rPr lang="en-US" sz="1300" b="1" dirty="0">
                <a:solidFill>
                  <a:srgbClr val="1D3557"/>
                </a:solidFill>
                <a:latin typeface="Calibri" pitchFamily="34" charset="0"/>
                <a:ea typeface="Calibri" pitchFamily="34" charset="-122"/>
                <a:cs typeface="Calibri" pitchFamily="34" charset="-120"/>
              </a:rPr>
              <a:t>Demo at</a:t>
            </a:r>
            <a:endParaRPr lang="en-US" sz="1300" dirty="0"/>
          </a:p>
          <a:p>
            <a:pPr algn="ctr" indent="0" marL="0">
              <a:buNone/>
            </a:pPr>
            <a:r>
              <a:rPr lang="en-US" sz="1300" b="1" dirty="0">
                <a:solidFill>
                  <a:srgbClr val="1D3557"/>
                </a:solidFill>
                <a:latin typeface="Calibri" pitchFamily="34" charset="0"/>
                <a:ea typeface="Calibri" pitchFamily="34" charset="-122"/>
                <a:cs typeface="Calibri" pitchFamily="34" charset="-120"/>
              </a:rPr>
              <a:t>3:45</a:t>
            </a:r>
            <a:endParaRPr lang="en-US" sz="1300" dirty="0"/>
          </a:p>
        </p:txBody>
      </p:sp>
      <p:sp>
        <p:nvSpPr>
          <p:cNvPr id="22" name="Shape 20"/>
          <p:cNvSpPr/>
          <p:nvPr/>
        </p:nvSpPr>
        <p:spPr>
          <a:xfrm>
            <a:off x="640080" y="4617720"/>
            <a:ext cx="10881360" cy="1463040"/>
          </a:xfrm>
          <a:prstGeom prst="roundRect">
            <a:avLst>
              <a:gd name="adj" fmla="val 7500"/>
            </a:avLst>
          </a:prstGeom>
          <a:solidFill>
            <a:srgbClr val="F1F5F9"/>
          </a:solidFill>
          <a:ln/>
          <a:effectLst>
            <a:outerShdw sx="100000" sy="100000" kx="0" ky="0" algn="bl" rotWithShape="0" blurRad="76200" dist="25400" dir="5400000">
              <a:srgbClr val="1D3557">
                <a:alpha val="16000"/>
              </a:srgbClr>
            </a:outerShdw>
          </a:effectLst>
        </p:spPr>
      </p:sp>
      <p:sp>
        <p:nvSpPr>
          <p:cNvPr id="23" name="Text 21"/>
          <p:cNvSpPr txBox="1"/>
          <p:nvPr/>
        </p:nvSpPr>
        <p:spPr>
          <a:xfrm>
            <a:off x="914400" y="4800600"/>
            <a:ext cx="10332720" cy="1097280"/>
          </a:xfrm>
          <a:prstGeom prst="rect">
            <a:avLst/>
          </a:prstGeom>
          <a:noFill/>
          <a:ln/>
        </p:spPr>
        <p:txBody>
          <a:bodyPr wrap="square" lIns="0" tIns="0" rIns="0" bIns="0" rtlCol="0" anchor="ctr"/>
          <a:lstStyle/>
          <a:p>
            <a:pPr algn="l" indent="0" marL="0">
              <a:buNone/>
            </a:pPr>
            <a:r>
              <a:rPr lang="en-US" sz="1400" i="1" dirty="0">
                <a:solidFill>
                  <a:srgbClr val="3A3A3A"/>
                </a:solidFill>
                <a:latin typeface="Calibri" pitchFamily="34" charset="0"/>
                <a:ea typeface="Calibri" pitchFamily="34" charset="-122"/>
                <a:cs typeface="Calibri" pitchFamily="34" charset="-120"/>
              </a:rPr>
              <a:t>If you don't finish, that's fine — jump to whichever phase matches your remaining time, phase_00 through phase_04 each work standalone. Stuck? reference_solution/ is there to check against, not to copy first.</a:t>
            </a:r>
            <a:endParaRPr lang="en-US" sz="1400" dirty="0"/>
          </a:p>
        </p:txBody>
      </p:sp>
      <p:sp>
        <p:nvSpPr>
          <p:cNvPr id="24" name="Text 22"/>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25" name="Text 23"/>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17 / 21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D3557"/>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2A9D8F">
              <a:alpha val="12000"/>
            </a:srgbClr>
          </a:solidFill>
          <a:ln/>
        </p:spPr>
      </p:sp>
      <p:sp>
        <p:nvSpPr>
          <p:cNvPr id="3" name="Shape 1"/>
          <p:cNvSpPr/>
          <p:nvPr/>
        </p:nvSpPr>
        <p:spPr>
          <a:xfrm>
            <a:off x="-2103120" y="4480560"/>
            <a:ext cx="3840480" cy="3840480"/>
          </a:xfrm>
          <a:prstGeom prst="ellipse">
            <a:avLst/>
          </a:prstGeom>
          <a:solidFill>
            <a:srgbClr val="2A9D8F">
              <a:alpha val="10000"/>
            </a:srgbClr>
          </a:solidFill>
          <a:ln/>
        </p:spPr>
      </p:sp>
      <p:sp>
        <p:nvSpPr>
          <p:cNvPr id="4" name="Text 2"/>
          <p:cNvSpPr txBox="1"/>
          <p:nvPr/>
        </p:nvSpPr>
        <p:spPr>
          <a:xfrm>
            <a:off x="822960" y="1371600"/>
            <a:ext cx="10058400" cy="457200"/>
          </a:xfrm>
          <a:prstGeom prst="rect">
            <a:avLst/>
          </a:prstGeom>
          <a:noFill/>
          <a:ln/>
        </p:spPr>
        <p:txBody>
          <a:bodyPr wrap="square" lIns="0" tIns="0" rIns="0" bIns="0" rtlCol="0" anchor="ctr"/>
          <a:lstStyle/>
          <a:p>
            <a:pPr algn="l" indent="0" marL="0">
              <a:buNone/>
            </a:pPr>
            <a:r>
              <a:rPr lang="en-US" sz="1500" b="1" dirty="0">
                <a:solidFill>
                  <a:srgbClr val="D6E4F0"/>
                </a:solidFill>
                <a:latin typeface="Calibri" pitchFamily="34" charset="0"/>
                <a:ea typeface="Calibri" pitchFamily="34" charset="-122"/>
                <a:cs typeface="Calibri" pitchFamily="34" charset="-120"/>
              </a:rPr>
              <a:t>ONE MORE THING</a:t>
            </a:r>
            <a:endParaRPr lang="en-US" sz="1500" dirty="0"/>
          </a:p>
        </p:txBody>
      </p:sp>
      <p:sp>
        <p:nvSpPr>
          <p:cNvPr id="5" name="Text 3"/>
          <p:cNvSpPr txBox="1"/>
          <p:nvPr/>
        </p:nvSpPr>
        <p:spPr>
          <a:xfrm>
            <a:off x="822960" y="1965960"/>
            <a:ext cx="10332720" cy="1371600"/>
          </a:xfrm>
          <a:prstGeom prst="rect">
            <a:avLst/>
          </a:prstGeom>
          <a:noFill/>
          <a:ln/>
        </p:spPr>
        <p:txBody>
          <a:bodyPr wrap="square" lIns="0" tIns="0" rIns="0" bIns="0" rtlCol="0" anchor="ctr"/>
          <a:lstStyle/>
          <a:p>
            <a:pPr algn="l" indent="0" marL="0">
              <a:buNone/>
            </a:pPr>
            <a:r>
              <a:rPr lang="en-US" sz="3300" b="1" dirty="0">
                <a:solidFill>
                  <a:srgbClr val="FFFFFF"/>
                </a:solidFill>
                <a:latin typeface="Bookman Old Style" pitchFamily="34" charset="0"/>
                <a:ea typeface="Bookman Old Style" pitchFamily="34" charset="-122"/>
                <a:cs typeface="Bookman Old Style" pitchFamily="34" charset="-120"/>
              </a:rPr>
              <a:t>This entire workshop was built by an AI agent.</a:t>
            </a:r>
            <a:endParaRPr lang="en-US" sz="3300" dirty="0"/>
          </a:p>
        </p:txBody>
      </p:sp>
      <p:sp>
        <p:nvSpPr>
          <p:cNvPr id="6" name="Text 4"/>
          <p:cNvSpPr txBox="1"/>
          <p:nvPr/>
        </p:nvSpPr>
        <p:spPr>
          <a:xfrm>
            <a:off x="822960" y="3429000"/>
            <a:ext cx="10058400" cy="1188720"/>
          </a:xfrm>
          <a:prstGeom prst="rect">
            <a:avLst/>
          </a:prstGeom>
          <a:noFill/>
          <a:ln/>
        </p:spPr>
        <p:txBody>
          <a:bodyPr wrap="square" lIns="0" tIns="0" rIns="0" bIns="0" rtlCol="0" anchor="ctr"/>
          <a:lstStyle/>
          <a:p>
            <a:pPr algn="l" indent="0" marL="0">
              <a:lnSpc>
                <a:spcPct val="130000"/>
              </a:lnSpc>
              <a:buNone/>
            </a:pPr>
            <a:r>
              <a:rPr lang="en-US" sz="1700" i="1" dirty="0">
                <a:solidFill>
                  <a:srgbClr val="D6E4F0"/>
                </a:solidFill>
                <a:latin typeface="Calibri" pitchFamily="34" charset="0"/>
                <a:ea typeface="Calibri" pitchFamily="34" charset="-122"/>
                <a:cs typeface="Calibri" pitchFamily="34" charset="-120"/>
              </a:rPr>
              <a:t>The slides. The phase-by-phase code. The three track projects. This cheat sheet.</a:t>
            </a:r>
            <a:endParaRPr lang="en-US" sz="1700" dirty="0"/>
          </a:p>
          <a:p>
            <a:pPr algn="l" indent="0" marL="0">
              <a:lnSpc>
                <a:spcPct val="130000"/>
              </a:lnSpc>
              <a:buNone/>
            </a:pPr>
            <a:r>
              <a:rPr lang="en-US" sz="1700" i="1" dirty="0">
                <a:solidFill>
                  <a:srgbClr val="D6E4F0"/>
                </a:solidFill>
                <a:latin typeface="Calibri" pitchFamily="34" charset="0"/>
                <a:ea typeface="Calibri" pitchFamily="34" charset="-122"/>
                <a:cs typeface="Calibri" pitchFamily="34" charset="-120"/>
              </a:rPr>
              <a:t>Me as the human in the loop — the exact same agent loop you just watched in phases 1–4.</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3200" b="1" dirty="0">
                <a:solidFill>
                  <a:srgbClr val="1D3557"/>
                </a:solidFill>
                <a:latin typeface="Bookman Old Style" pitchFamily="34" charset="0"/>
                <a:ea typeface="Bookman Old Style" pitchFamily="34" charset="-122"/>
                <a:cs typeface="Bookman Old Style" pitchFamily="34" charset="-120"/>
              </a:rPr>
              <a:t>How I actually build real projects with agentic AI</a:t>
            </a:r>
            <a:endParaRPr lang="en-US" sz="3200" dirty="0"/>
          </a:p>
        </p:txBody>
      </p:sp>
      <p:sp>
        <p:nvSpPr>
          <p:cNvPr id="3" name="Shape 1"/>
          <p:cNvSpPr/>
          <p:nvPr/>
        </p:nvSpPr>
        <p:spPr>
          <a:xfrm>
            <a:off x="640080" y="1783080"/>
            <a:ext cx="621792" cy="621792"/>
          </a:xfrm>
          <a:prstGeom prst="ellipse">
            <a:avLst/>
          </a:prstGeom>
          <a:solidFill>
            <a:srgbClr val="1D3557"/>
          </a:solidFill>
          <a:ln/>
        </p:spPr>
      </p:sp>
      <p:sp>
        <p:nvSpPr>
          <p:cNvPr id="4" name="Text 2"/>
          <p:cNvSpPr txBox="1"/>
          <p:nvPr/>
        </p:nvSpPr>
        <p:spPr>
          <a:xfrm>
            <a:off x="640080" y="1783080"/>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1508760" y="1764792"/>
            <a:ext cx="9601200" cy="365760"/>
          </a:xfrm>
          <a:prstGeom prst="rect">
            <a:avLst/>
          </a:prstGeom>
          <a:noFill/>
          <a:ln/>
        </p:spPr>
        <p:txBody>
          <a:bodyPr wrap="square" lIns="0" tIns="0" rIns="0" bIns="0" rtlCol="0" anchor="ctr"/>
          <a:lstStyle/>
          <a:p>
            <a:pPr algn="l" indent="0" marL="0">
              <a:buNone/>
            </a:pPr>
            <a:r>
              <a:rPr lang="en-US" sz="1800" b="1" dirty="0">
                <a:solidFill>
                  <a:srgbClr val="1D3557"/>
                </a:solidFill>
                <a:latin typeface="Calibri" pitchFamily="34" charset="0"/>
                <a:ea typeface="Calibri" pitchFamily="34" charset="-122"/>
                <a:cs typeface="Calibri" pitchFamily="34" charset="-120"/>
              </a:rPr>
              <a:t>Start with ONE long prompt</a:t>
            </a:r>
            <a:endParaRPr lang="en-US" sz="1800" dirty="0"/>
          </a:p>
        </p:txBody>
      </p:sp>
      <p:sp>
        <p:nvSpPr>
          <p:cNvPr id="6" name="Text 4"/>
          <p:cNvSpPr txBox="1"/>
          <p:nvPr/>
        </p:nvSpPr>
        <p:spPr>
          <a:xfrm>
            <a:off x="1508760" y="2148840"/>
            <a:ext cx="9692640" cy="594360"/>
          </a:xfrm>
          <a:prstGeom prst="rect">
            <a:avLst/>
          </a:prstGeom>
          <a:noFill/>
          <a:ln/>
        </p:spPr>
        <p:txBody>
          <a:bodyPr wrap="square" lIns="0" tIns="0" rIns="0" bIns="0" rtlCol="0" anchor="ctr"/>
          <a:lstStyle/>
          <a:p>
            <a:pPr algn="l" indent="0" marL="0">
              <a:buNone/>
            </a:pPr>
            <a:r>
              <a:rPr lang="en-US" sz="1400" dirty="0">
                <a:solidFill>
                  <a:srgbClr val="6B7280"/>
                </a:solidFill>
                <a:latin typeface="Calibri" pitchFamily="34" charset="0"/>
                <a:ea typeface="Calibri" pitchFamily="34" charset="-122"/>
                <a:cs typeface="Calibri" pitchFamily="34" charset="-120"/>
              </a:rPr>
              <a:t>Describe the entire problem — often voice-dictated, not typed, so nothing gets left out for the sake of brevity.</a:t>
            </a:r>
            <a:endParaRPr lang="en-US" sz="1400" dirty="0"/>
          </a:p>
        </p:txBody>
      </p:sp>
      <p:sp>
        <p:nvSpPr>
          <p:cNvPr id="7" name="Shape 5"/>
          <p:cNvSpPr/>
          <p:nvPr/>
        </p:nvSpPr>
        <p:spPr>
          <a:xfrm>
            <a:off x="640080" y="3017520"/>
            <a:ext cx="621792" cy="621792"/>
          </a:xfrm>
          <a:prstGeom prst="ellipse">
            <a:avLst/>
          </a:prstGeom>
          <a:solidFill>
            <a:srgbClr val="1D3557"/>
          </a:solidFill>
          <a:ln/>
        </p:spPr>
      </p:sp>
      <p:sp>
        <p:nvSpPr>
          <p:cNvPr id="8" name="Text 6"/>
          <p:cNvSpPr txBox="1"/>
          <p:nvPr/>
        </p:nvSpPr>
        <p:spPr>
          <a:xfrm>
            <a:off x="640080" y="3017520"/>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508760" y="2999232"/>
            <a:ext cx="9601200" cy="365760"/>
          </a:xfrm>
          <a:prstGeom prst="rect">
            <a:avLst/>
          </a:prstGeom>
          <a:noFill/>
          <a:ln/>
        </p:spPr>
        <p:txBody>
          <a:bodyPr wrap="square" lIns="0" tIns="0" rIns="0" bIns="0" rtlCol="0" anchor="ctr"/>
          <a:lstStyle/>
          <a:p>
            <a:pPr algn="l" indent="0" marL="0">
              <a:buNone/>
            </a:pPr>
            <a:r>
              <a:rPr lang="en-US" sz="1800" b="1" dirty="0">
                <a:solidFill>
                  <a:srgbClr val="1D3557"/>
                </a:solidFill>
                <a:latin typeface="Calibri" pitchFamily="34" charset="0"/>
                <a:ea typeface="Calibri" pitchFamily="34" charset="-122"/>
                <a:cs typeface="Calibri" pitchFamily="34" charset="-120"/>
              </a:rPr>
              <a:t>Feed in what already exists</a:t>
            </a:r>
            <a:endParaRPr lang="en-US" sz="1800" dirty="0"/>
          </a:p>
        </p:txBody>
      </p:sp>
      <p:sp>
        <p:nvSpPr>
          <p:cNvPr id="10" name="Text 8"/>
          <p:cNvSpPr txBox="1"/>
          <p:nvPr/>
        </p:nvSpPr>
        <p:spPr>
          <a:xfrm>
            <a:off x="1508760" y="3383280"/>
            <a:ext cx="9692640" cy="594360"/>
          </a:xfrm>
          <a:prstGeom prst="rect">
            <a:avLst/>
          </a:prstGeom>
          <a:noFill/>
          <a:ln/>
        </p:spPr>
        <p:txBody>
          <a:bodyPr wrap="square" lIns="0" tIns="0" rIns="0" bIns="0" rtlCol="0" anchor="ctr"/>
          <a:lstStyle/>
          <a:p>
            <a:pPr algn="l" indent="0" marL="0">
              <a:buNone/>
            </a:pPr>
            <a:r>
              <a:rPr lang="en-US" sz="1400" dirty="0">
                <a:solidFill>
                  <a:srgbClr val="6B7280"/>
                </a:solidFill>
                <a:latin typeface="Calibri" pitchFamily="34" charset="0"/>
                <a:ea typeface="Calibri" pitchFamily="34" charset="-122"/>
                <a:cs typeface="Calibri" pitchFamily="34" charset="-120"/>
              </a:rPr>
              <a:t>A PRD, user stories, an architecture proposal, sometimes even a frontend someone on the team (or the client) already built.</a:t>
            </a:r>
            <a:endParaRPr lang="en-US" sz="1400" dirty="0"/>
          </a:p>
        </p:txBody>
      </p:sp>
      <p:sp>
        <p:nvSpPr>
          <p:cNvPr id="11" name="Shape 9"/>
          <p:cNvSpPr/>
          <p:nvPr/>
        </p:nvSpPr>
        <p:spPr>
          <a:xfrm>
            <a:off x="640080" y="4251960"/>
            <a:ext cx="621792" cy="621792"/>
          </a:xfrm>
          <a:prstGeom prst="ellipse">
            <a:avLst/>
          </a:prstGeom>
          <a:solidFill>
            <a:srgbClr val="1D3557"/>
          </a:solidFill>
          <a:ln/>
        </p:spPr>
      </p:sp>
      <p:sp>
        <p:nvSpPr>
          <p:cNvPr id="12" name="Text 10"/>
          <p:cNvSpPr txBox="1"/>
          <p:nvPr/>
        </p:nvSpPr>
        <p:spPr>
          <a:xfrm>
            <a:off x="640080" y="4251960"/>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1"/>
          <p:cNvSpPr txBox="1"/>
          <p:nvPr/>
        </p:nvSpPr>
        <p:spPr>
          <a:xfrm>
            <a:off x="1508760" y="4233672"/>
            <a:ext cx="9601200" cy="365760"/>
          </a:xfrm>
          <a:prstGeom prst="rect">
            <a:avLst/>
          </a:prstGeom>
          <a:noFill/>
          <a:ln/>
        </p:spPr>
        <p:txBody>
          <a:bodyPr wrap="square" lIns="0" tIns="0" rIns="0" bIns="0" rtlCol="0" anchor="ctr"/>
          <a:lstStyle/>
          <a:p>
            <a:pPr algn="l" indent="0" marL="0">
              <a:buNone/>
            </a:pPr>
            <a:r>
              <a:rPr lang="en-US" sz="1800" b="1" dirty="0">
                <a:solidFill>
                  <a:srgbClr val="1D3557"/>
                </a:solidFill>
                <a:latin typeface="Calibri" pitchFamily="34" charset="0"/>
                <a:ea typeface="Calibri" pitchFamily="34" charset="-122"/>
                <a:cs typeface="Calibri" pitchFamily="34" charset="-120"/>
              </a:rPr>
              <a:t>Ask for two documents FIRST</a:t>
            </a:r>
            <a:endParaRPr lang="en-US" sz="1800" dirty="0"/>
          </a:p>
        </p:txBody>
      </p:sp>
      <p:sp>
        <p:nvSpPr>
          <p:cNvPr id="14" name="Text 12"/>
          <p:cNvSpPr txBox="1"/>
          <p:nvPr/>
        </p:nvSpPr>
        <p:spPr>
          <a:xfrm>
            <a:off x="1508760" y="4617720"/>
            <a:ext cx="9692640" cy="594360"/>
          </a:xfrm>
          <a:prstGeom prst="rect">
            <a:avLst/>
          </a:prstGeom>
          <a:noFill/>
          <a:ln/>
        </p:spPr>
        <p:txBody>
          <a:bodyPr wrap="square" lIns="0" tIns="0" rIns="0" bIns="0" rtlCol="0" anchor="ctr"/>
          <a:lstStyle/>
          <a:p>
            <a:pPr algn="l" indent="0" marL="0">
              <a:buNone/>
            </a:pPr>
            <a:r>
              <a:rPr lang="en-US" sz="1400" dirty="0">
                <a:solidFill>
                  <a:srgbClr val="6B7280"/>
                </a:solidFill>
                <a:latin typeface="Calibri" pitchFamily="34" charset="0"/>
                <a:ea typeface="Calibri" pitchFamily="34" charset="-122"/>
                <a:cs typeface="Calibri" pitchFamily="34" charset="-120"/>
              </a:rPr>
              <a:t>Before any code gets written: a plan, and a task list. Not code yet — structure first.</a:t>
            </a:r>
            <a:endParaRPr lang="en-US" sz="1400" dirty="0"/>
          </a:p>
        </p:txBody>
      </p:sp>
      <p:sp>
        <p:nvSpPr>
          <p:cNvPr id="15" name="Text 13"/>
          <p:cNvSpPr txBox="1"/>
          <p:nvPr/>
        </p:nvSpPr>
        <p:spPr>
          <a:xfrm>
            <a:off x="640080" y="5806440"/>
            <a:ext cx="10698480" cy="548640"/>
          </a:xfrm>
          <a:prstGeom prst="rect">
            <a:avLst/>
          </a:prstGeom>
          <a:noFill/>
          <a:ln/>
        </p:spPr>
        <p:txBody>
          <a:bodyPr wrap="square" lIns="0" tIns="0" rIns="0" bIns="0" rtlCol="0" anchor="ctr"/>
          <a:lstStyle/>
          <a:p>
            <a:pPr algn="l" indent="0" marL="0">
              <a:buNone/>
            </a:pPr>
            <a:r>
              <a:rPr lang="en-US" sz="1300" i="1" dirty="0">
                <a:solidFill>
                  <a:srgbClr val="6B7280"/>
                </a:solidFill>
                <a:latin typeface="Calibri" pitchFamily="34" charset="0"/>
                <a:ea typeface="Calibri" pitchFamily="34" charset="-122"/>
                <a:cs typeface="Calibri" pitchFamily="34" charset="-120"/>
              </a:rPr>
              <a:t>This is the direct follow-up to the last slide: here's literally the method used to build today's materials, and it works the same way on your own projects — a client's app, a class project, anything.</a:t>
            </a:r>
            <a:endParaRPr lang="en-US" sz="1300" dirty="0"/>
          </a:p>
        </p:txBody>
      </p:sp>
      <p:sp>
        <p:nvSpPr>
          <p:cNvPr id="16" name="Text 14"/>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17" name="Text 15"/>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19 / 21</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algn="l" indent="0" marL="0">
              <a:buNone/>
            </a:pPr>
            <a:r>
              <a:rPr lang="en-US" sz="2700" b="1" dirty="0">
                <a:solidFill>
                  <a:srgbClr val="1D3557"/>
                </a:solidFill>
                <a:latin typeface="Bookman Old Style" pitchFamily="34" charset="0"/>
                <a:ea typeface="Bookman Old Style" pitchFamily="34" charset="-122"/>
                <a:cs typeface="Bookman Old Style" pitchFamily="34" charset="-120"/>
              </a:rPr>
              <a:t>PLAN.md + TASKS.md — the two-document system</a:t>
            </a:r>
            <a:endParaRPr lang="en-US" sz="2700" dirty="0"/>
          </a:p>
        </p:txBody>
      </p:sp>
      <p:sp>
        <p:nvSpPr>
          <p:cNvPr id="3" name="Shape 1"/>
          <p:cNvSpPr/>
          <p:nvPr/>
        </p:nvSpPr>
        <p:spPr>
          <a:xfrm>
            <a:off x="548640" y="1508760"/>
            <a:ext cx="5394960" cy="3794760"/>
          </a:xfrm>
          <a:prstGeom prst="roundRect">
            <a:avLst>
              <a:gd name="adj" fmla="val 2892"/>
            </a:avLst>
          </a:prstGeom>
          <a:solidFill>
            <a:srgbClr val="F1F5F9"/>
          </a:solidFill>
          <a:ln/>
          <a:effectLst>
            <a:outerShdw sx="100000" sy="100000" kx="0" ky="0" algn="bl" rotWithShape="0" blurRad="76200" dist="25400" dir="5400000">
              <a:srgbClr val="1D3557">
                <a:alpha val="16000"/>
              </a:srgbClr>
            </a:outerShdw>
          </a:effectLst>
        </p:spPr>
      </p:sp>
      <p:sp>
        <p:nvSpPr>
          <p:cNvPr id="4" name="Text 2"/>
          <p:cNvSpPr txBox="1"/>
          <p:nvPr/>
        </p:nvSpPr>
        <p:spPr>
          <a:xfrm>
            <a:off x="822960" y="1737360"/>
            <a:ext cx="4846320" cy="365760"/>
          </a:xfrm>
          <a:prstGeom prst="rect">
            <a:avLst/>
          </a:prstGeom>
          <a:noFill/>
          <a:ln/>
        </p:spPr>
        <p:txBody>
          <a:bodyPr wrap="square" lIns="0" tIns="0" rIns="0" bIns="0" rtlCol="0" anchor="ctr"/>
          <a:lstStyle/>
          <a:p>
            <a:pPr algn="l" indent="0" marL="0">
              <a:buNone/>
            </a:pPr>
            <a:r>
              <a:rPr lang="en-US" sz="1800" b="1" dirty="0">
                <a:solidFill>
                  <a:srgbClr val="1D3557"/>
                </a:solidFill>
                <a:latin typeface="Calibri" pitchFamily="34" charset="0"/>
                <a:ea typeface="Calibri" pitchFamily="34" charset="-122"/>
                <a:cs typeface="Calibri" pitchFamily="34" charset="-120"/>
              </a:rPr>
              <a:t>PLAN.md</a:t>
            </a:r>
            <a:endParaRPr lang="en-US" sz="1800" dirty="0"/>
          </a:p>
        </p:txBody>
      </p:sp>
      <p:sp>
        <p:nvSpPr>
          <p:cNvPr id="5" name="Shape 3"/>
          <p:cNvSpPr/>
          <p:nvPr/>
        </p:nvSpPr>
        <p:spPr>
          <a:xfrm>
            <a:off x="822960" y="2368296"/>
            <a:ext cx="100584" cy="100584"/>
          </a:xfrm>
          <a:prstGeom prst="ellipse">
            <a:avLst/>
          </a:prstGeom>
          <a:solidFill>
            <a:srgbClr val="2A9D8F"/>
          </a:solidFill>
          <a:ln/>
        </p:spPr>
      </p:sp>
      <p:sp>
        <p:nvSpPr>
          <p:cNvPr id="6" name="Text 4"/>
          <p:cNvSpPr txBox="1"/>
          <p:nvPr/>
        </p:nvSpPr>
        <p:spPr>
          <a:xfrm>
            <a:off x="1078992" y="2231136"/>
            <a:ext cx="4590288" cy="640080"/>
          </a:xfrm>
          <a:prstGeom prst="rect">
            <a:avLst/>
          </a:prstGeom>
          <a:noFill/>
          <a:ln/>
        </p:spPr>
        <p:txBody>
          <a:bodyPr wrap="square" lIns="0" tIns="0" rIns="0" bIns="0" rtlCol="0" anchor="ctr"/>
          <a:lstStyle/>
          <a:p>
            <a:pPr algn="l" indent="0" marL="0">
              <a:buNone/>
            </a:pPr>
            <a:r>
              <a:rPr lang="en-US" sz="1350" dirty="0">
                <a:solidFill>
                  <a:srgbClr val="3A3A3A"/>
                </a:solidFill>
                <a:latin typeface="Calibri" pitchFamily="34" charset="0"/>
                <a:ea typeface="Calibri" pitchFamily="34" charset="-122"/>
                <a:cs typeface="Calibri" pitchFamily="34" charset="-120"/>
              </a:rPr>
              <a:t>Breaks the project into PHASES, in logical dependency order</a:t>
            </a:r>
            <a:endParaRPr lang="en-US" sz="1350" dirty="0"/>
          </a:p>
        </p:txBody>
      </p:sp>
      <p:sp>
        <p:nvSpPr>
          <p:cNvPr id="7" name="Shape 5"/>
          <p:cNvSpPr/>
          <p:nvPr/>
        </p:nvSpPr>
        <p:spPr>
          <a:xfrm>
            <a:off x="822960" y="3008376"/>
            <a:ext cx="100584" cy="100584"/>
          </a:xfrm>
          <a:prstGeom prst="ellipse">
            <a:avLst/>
          </a:prstGeom>
          <a:solidFill>
            <a:srgbClr val="2A9D8F"/>
          </a:solidFill>
          <a:ln/>
        </p:spPr>
      </p:sp>
      <p:sp>
        <p:nvSpPr>
          <p:cNvPr id="8" name="Text 6"/>
          <p:cNvSpPr txBox="1"/>
          <p:nvPr/>
        </p:nvSpPr>
        <p:spPr>
          <a:xfrm>
            <a:off x="1078992" y="2871216"/>
            <a:ext cx="4590288" cy="685800"/>
          </a:xfrm>
          <a:prstGeom prst="rect">
            <a:avLst/>
          </a:prstGeom>
          <a:noFill/>
          <a:ln/>
        </p:spPr>
        <p:txBody>
          <a:bodyPr wrap="square" lIns="0" tIns="0" rIns="0" bIns="0" rtlCol="0" anchor="ctr"/>
          <a:lstStyle/>
          <a:p>
            <a:pPr algn="l" indent="0" marL="0">
              <a:buNone/>
            </a:pPr>
            <a:r>
              <a:rPr lang="en-US" sz="1350" dirty="0">
                <a:solidFill>
                  <a:srgbClr val="3A3A3A"/>
                </a:solidFill>
                <a:latin typeface="Calibri" pitchFamily="34" charset="0"/>
                <a:ea typeface="Calibri" pitchFamily="34" charset="-122"/>
                <a:cs typeface="Calibri" pitchFamily="34" charset="-120"/>
              </a:rPr>
              <a:t>One paragraph per phase: what it covers, why it comes where it does</a:t>
            </a:r>
            <a:endParaRPr lang="en-US" sz="1350" dirty="0"/>
          </a:p>
        </p:txBody>
      </p:sp>
      <p:sp>
        <p:nvSpPr>
          <p:cNvPr id="9" name="Text 7"/>
          <p:cNvSpPr txBox="1"/>
          <p:nvPr/>
        </p:nvSpPr>
        <p:spPr>
          <a:xfrm>
            <a:off x="822960" y="3749040"/>
            <a:ext cx="4846320" cy="1371600"/>
          </a:xfrm>
          <a:prstGeom prst="rect">
            <a:avLst/>
          </a:prstGeom>
          <a:noFill/>
          <a:ln/>
        </p:spPr>
        <p:txBody>
          <a:bodyPr wrap="square" lIns="0" tIns="0" rIns="0" bIns="0" rtlCol="0" anchor="ctr"/>
          <a:lstStyle/>
          <a:p>
            <a:pPr algn="l" indent="0" marL="0">
              <a:buNone/>
            </a:pPr>
            <a:r>
              <a:rPr lang="en-US" sz="1150" i="1" dirty="0">
                <a:solidFill>
                  <a:srgbClr val="6B7280"/>
                </a:solidFill>
                <a:latin typeface="Calibri" pitchFamily="34" charset="0"/>
                <a:ea typeface="Calibri" pitchFamily="34" charset="-122"/>
                <a:cs typeface="Calibri" pitchFamily="34" charset="-120"/>
              </a:rPr>
              <a:t>Phase 1: Data model &amp; auth  →  Phase 2: Core API  →  Phase 3: Frontend integration  →  ...</a:t>
            </a:r>
            <a:endParaRPr lang="en-US" sz="1150" dirty="0"/>
          </a:p>
        </p:txBody>
      </p:sp>
      <p:sp>
        <p:nvSpPr>
          <p:cNvPr id="10" name="Shape 8"/>
          <p:cNvSpPr/>
          <p:nvPr/>
        </p:nvSpPr>
        <p:spPr>
          <a:xfrm>
            <a:off x="6263640" y="1508760"/>
            <a:ext cx="5394960" cy="3794760"/>
          </a:xfrm>
          <a:prstGeom prst="roundRect">
            <a:avLst>
              <a:gd name="adj" fmla="val 2892"/>
            </a:avLst>
          </a:prstGeom>
          <a:solidFill>
            <a:srgbClr val="1D3557"/>
          </a:solidFill>
          <a:ln/>
          <a:effectLst>
            <a:outerShdw sx="100000" sy="100000" kx="0" ky="0" algn="bl" rotWithShape="0" blurRad="76200" dist="25400" dir="5400000">
              <a:srgbClr val="1D3557">
                <a:alpha val="16000"/>
              </a:srgbClr>
            </a:outerShdw>
          </a:effectLst>
        </p:spPr>
      </p:sp>
      <p:sp>
        <p:nvSpPr>
          <p:cNvPr id="11" name="Text 9"/>
          <p:cNvSpPr txBox="1"/>
          <p:nvPr/>
        </p:nvSpPr>
        <p:spPr>
          <a:xfrm>
            <a:off x="6537960" y="1737360"/>
            <a:ext cx="4846320" cy="36576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TASKS.md</a:t>
            </a:r>
            <a:endParaRPr lang="en-US" sz="1800" dirty="0"/>
          </a:p>
        </p:txBody>
      </p:sp>
      <p:sp>
        <p:nvSpPr>
          <p:cNvPr id="12" name="Shape 10"/>
          <p:cNvSpPr/>
          <p:nvPr/>
        </p:nvSpPr>
        <p:spPr>
          <a:xfrm>
            <a:off x="6537960" y="2368296"/>
            <a:ext cx="100584" cy="100584"/>
          </a:xfrm>
          <a:prstGeom prst="ellipse">
            <a:avLst/>
          </a:prstGeom>
          <a:solidFill>
            <a:srgbClr val="2A9D8F"/>
          </a:solidFill>
          <a:ln/>
        </p:spPr>
      </p:sp>
      <p:sp>
        <p:nvSpPr>
          <p:cNvPr id="13" name="Text 11"/>
          <p:cNvSpPr txBox="1"/>
          <p:nvPr/>
        </p:nvSpPr>
        <p:spPr>
          <a:xfrm>
            <a:off x="6793992" y="2231136"/>
            <a:ext cx="4590288" cy="502920"/>
          </a:xfrm>
          <a:prstGeom prst="rect">
            <a:avLst/>
          </a:prstGeom>
          <a:noFill/>
          <a:ln/>
        </p:spPr>
        <p:txBody>
          <a:bodyPr wrap="square" lIns="0" tIns="0" rIns="0" bIns="0" rtlCol="0" anchor="ctr"/>
          <a:lstStyle/>
          <a:p>
            <a:pPr algn="l" indent="0" marL="0">
              <a:buNone/>
            </a:pPr>
            <a:r>
              <a:rPr lang="en-US" sz="1350" dirty="0">
                <a:solidFill>
                  <a:srgbClr val="FFFFFF"/>
                </a:solidFill>
                <a:latin typeface="Calibri" pitchFamily="34" charset="0"/>
                <a:ea typeface="Calibri" pitchFamily="34" charset="-122"/>
                <a:cs typeface="Calibri" pitchFamily="34" charset="-120"/>
              </a:rPr>
              <a:t>Same phases, broken into specific checkbox action items</a:t>
            </a:r>
            <a:endParaRPr lang="en-US" sz="1350" dirty="0"/>
          </a:p>
        </p:txBody>
      </p:sp>
      <p:sp>
        <p:nvSpPr>
          <p:cNvPr id="14" name="Text 12"/>
          <p:cNvSpPr txBox="1"/>
          <p:nvPr/>
        </p:nvSpPr>
        <p:spPr>
          <a:xfrm>
            <a:off x="6537960" y="2880360"/>
            <a:ext cx="4846320" cy="914400"/>
          </a:xfrm>
          <a:prstGeom prst="rect">
            <a:avLst/>
          </a:prstGeom>
          <a:noFill/>
          <a:ln/>
        </p:spPr>
        <p:txBody>
          <a:bodyPr wrap="square" lIns="0" tIns="0" rIns="0" bIns="0" rtlCol="0" anchor="ctr"/>
          <a:lstStyle/>
          <a:p>
            <a:pPr algn="l" indent="0" marL="0">
              <a:lnSpc>
                <a:spcPct val="125000"/>
              </a:lnSpc>
              <a:buNone/>
            </a:pPr>
            <a:r>
              <a:rPr lang="en-US" sz="1150" dirty="0">
                <a:solidFill>
                  <a:srgbClr val="D6E4F0"/>
                </a:solidFill>
                <a:latin typeface="Courier New" pitchFamily="34" charset="0"/>
                <a:ea typeface="Courier New" pitchFamily="34" charset="-122"/>
                <a:cs typeface="Courier New" pitchFamily="34" charset="-120"/>
              </a:rPr>
              <a:t>[ ] Define User + Session schema</a:t>
            </a:r>
            <a:endParaRPr lang="en-US" sz="1150" dirty="0"/>
          </a:p>
          <a:p>
            <a:pPr algn="l" indent="0" marL="0">
              <a:lnSpc>
                <a:spcPct val="125000"/>
              </a:lnSpc>
              <a:buNone/>
            </a:pPr>
            <a:r>
              <a:rPr lang="en-US" sz="1150" dirty="0">
                <a:solidFill>
                  <a:srgbClr val="D6E4F0"/>
                </a:solidFill>
                <a:latin typeface="Courier New" pitchFamily="34" charset="0"/>
                <a:ea typeface="Courier New" pitchFamily="34" charset="-122"/>
                <a:cs typeface="Courier New" pitchFamily="34" charset="-120"/>
              </a:rPr>
              <a:t>[ ] Implement POST /api/login</a:t>
            </a:r>
            <a:endParaRPr lang="en-US" sz="1150" dirty="0"/>
          </a:p>
          <a:p>
            <a:pPr algn="l" indent="0" marL="0">
              <a:lnSpc>
                <a:spcPct val="125000"/>
              </a:lnSpc>
              <a:buNone/>
            </a:pPr>
            <a:r>
              <a:rPr lang="en-US" sz="1150" dirty="0">
                <a:solidFill>
                  <a:srgbClr val="D6E4F0"/>
                </a:solidFill>
                <a:latin typeface="Courier New" pitchFamily="34" charset="0"/>
                <a:ea typeface="Courier New" pitchFamily="34" charset="-122"/>
                <a:cs typeface="Courier New" pitchFamily="34" charset="-120"/>
              </a:rPr>
              <a:t>[ ] Wire up 3 auth frontend routes</a:t>
            </a:r>
            <a:endParaRPr lang="en-US" sz="1150" dirty="0"/>
          </a:p>
        </p:txBody>
      </p:sp>
      <p:sp>
        <p:nvSpPr>
          <p:cNvPr id="15" name="Text 13"/>
          <p:cNvSpPr txBox="1"/>
          <p:nvPr/>
        </p:nvSpPr>
        <p:spPr>
          <a:xfrm>
            <a:off x="6537960" y="3977640"/>
            <a:ext cx="4846320" cy="822960"/>
          </a:xfrm>
          <a:prstGeom prst="rect">
            <a:avLst/>
          </a:prstGeom>
          <a:noFill/>
          <a:ln/>
        </p:spPr>
        <p:txBody>
          <a:bodyPr wrap="square" lIns="0" tIns="0" rIns="0" bIns="0" rtlCol="0" anchor="ctr"/>
          <a:lstStyle/>
          <a:p>
            <a:pPr algn="l" indent="0" marL="0">
              <a:buNone/>
            </a:pPr>
            <a:r>
              <a:rPr lang="en-US" sz="1350" b="1" dirty="0">
                <a:solidFill>
                  <a:srgbClr val="6FD3C4"/>
                </a:solidFill>
                <a:latin typeface="Calibri" pitchFamily="34" charset="0"/>
                <a:ea typeface="Calibri" pitchFamily="34" charset="-122"/>
                <a:cs typeface="Calibri" pitchFamily="34" charset="-120"/>
              </a:rPr>
              <a:t>Every phase ends with a clear DEFINITION OF DONE.</a:t>
            </a:r>
            <a:endParaRPr lang="en-US" sz="1350" dirty="0"/>
          </a:p>
        </p:txBody>
      </p:sp>
      <p:sp>
        <p:nvSpPr>
          <p:cNvPr id="16" name="Shape 14"/>
          <p:cNvSpPr/>
          <p:nvPr/>
        </p:nvSpPr>
        <p:spPr>
          <a:xfrm>
            <a:off x="548640" y="5486400"/>
            <a:ext cx="11109960" cy="868680"/>
          </a:xfrm>
          <a:prstGeom prst="roundRect">
            <a:avLst>
              <a:gd name="adj" fmla="val 12632"/>
            </a:avLst>
          </a:prstGeom>
          <a:solidFill>
            <a:srgbClr val="F1F5F9"/>
          </a:solidFill>
          <a:ln/>
          <a:effectLst>
            <a:outerShdw sx="100000" sy="100000" kx="0" ky="0" algn="bl" rotWithShape="0" blurRad="76200" dist="25400" dir="5400000">
              <a:srgbClr val="1D3557">
                <a:alpha val="16000"/>
              </a:srgbClr>
            </a:outerShdw>
          </a:effectLst>
        </p:spPr>
      </p:sp>
      <p:sp>
        <p:nvSpPr>
          <p:cNvPr id="17" name="Text 15"/>
          <p:cNvSpPr txBox="1"/>
          <p:nvPr/>
        </p:nvSpPr>
        <p:spPr>
          <a:xfrm>
            <a:off x="822960" y="5650992"/>
            <a:ext cx="10561320" cy="594360"/>
          </a:xfrm>
          <a:prstGeom prst="rect">
            <a:avLst/>
          </a:prstGeom>
          <a:noFill/>
          <a:ln/>
        </p:spPr>
        <p:txBody>
          <a:bodyPr wrap="square" lIns="0" tIns="0" rIns="0" bIns="0" rtlCol="0" anchor="ctr"/>
          <a:lstStyle/>
          <a:p>
            <a:pPr algn="l" indent="0" marL="0">
              <a:buNone/>
            </a:pPr>
            <a:r>
              <a:rPr lang="en-US" sz="1350" b="1" dirty="0">
                <a:solidFill>
                  <a:srgbClr val="1D3557"/>
                </a:solidFill>
                <a:latin typeface="Calibri" pitchFamily="34" charset="0"/>
                <a:ea typeface="Calibri" pitchFamily="34" charset="-122"/>
                <a:cs typeface="Calibri" pitchFamily="34" charset="-120"/>
              </a:rPr>
              <a:t>Then: execute PHASE BY PHASE with an agentic coding assistant (e.g. Claude Code), checking off tasks as they complete. Dramatically fewer mistakes than “just start coding.”</a:t>
            </a:r>
            <a:endParaRPr lang="en-US" sz="1350" dirty="0"/>
          </a:p>
        </p:txBody>
      </p:sp>
      <p:sp>
        <p:nvSpPr>
          <p:cNvPr id="18" name="Text 16"/>
          <p:cNvSpPr txBox="1"/>
          <p:nvPr/>
        </p:nvSpPr>
        <p:spPr>
          <a:xfrm>
            <a:off x="548640" y="6537960"/>
            <a:ext cx="5486400" cy="274320"/>
          </a:xfrm>
          <a:prstGeom prst="rect">
            <a:avLst/>
          </a:prstGeom>
          <a:noFill/>
          <a:ln/>
        </p:spPr>
        <p:txBody>
          <a:bodyPr wrap="square" lIns="0" tIns="0" rIns="0" bIns="0" rtlCol="0" anchor="ctr"/>
          <a:lstStyle/>
          <a:p>
            <a:pPr algn="l" indent="0" marL="0">
              <a:buNone/>
            </a:pPr>
            <a:r>
              <a:rPr lang="en-US" sz="1000" dirty="0">
                <a:solidFill>
                  <a:srgbClr val="9AA5B1"/>
                </a:solidFill>
                <a:latin typeface="Calibri" pitchFamily="34" charset="0"/>
                <a:ea typeface="Calibri" pitchFamily="34" charset="-122"/>
                <a:cs typeface="Calibri" pitchFamily="34" charset="-120"/>
              </a:rPr>
              <a:t>AI Agent Development Workshop</a:t>
            </a:r>
            <a:endParaRPr lang="en-US" sz="1000" dirty="0"/>
          </a:p>
        </p:txBody>
      </p:sp>
      <p:sp>
        <p:nvSpPr>
          <p:cNvPr id="19" name="Text 17"/>
          <p:cNvSpPr txBox="1"/>
          <p:nvPr/>
        </p:nvSpPr>
        <p:spPr>
          <a:xfrm>
            <a:off x="10881360" y="6537960"/>
            <a:ext cx="82296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20 / 21</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D3557"/>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2A9D8F">
              <a:alpha val="12000"/>
            </a:srgbClr>
          </a:solidFill>
          <a:ln/>
        </p:spPr>
      </p:sp>
      <p:sp>
        <p:nvSpPr>
          <p:cNvPr id="3" name="Shape 1"/>
          <p:cNvSpPr/>
          <p:nvPr/>
        </p:nvSpPr>
        <p:spPr>
          <a:xfrm>
            <a:off x="-2103120" y="4480560"/>
            <a:ext cx="3840480" cy="3840480"/>
          </a:xfrm>
          <a:prstGeom prst="ellipse">
            <a:avLst/>
          </a:prstGeom>
          <a:solidFill>
            <a:srgbClr val="2A9D8F">
              <a:alpha val="10000"/>
            </a:srgbClr>
          </a:solidFill>
          <a:ln/>
        </p:spPr>
      </p:sp>
      <p:sp>
        <p:nvSpPr>
          <p:cNvPr id="4" name="Text 2"/>
          <p:cNvSpPr txBox="1"/>
          <p:nvPr/>
        </p:nvSpPr>
        <p:spPr>
          <a:xfrm>
            <a:off x="822960" y="1005840"/>
            <a:ext cx="10058400" cy="411480"/>
          </a:xfrm>
          <a:prstGeom prst="rect">
            <a:avLst/>
          </a:prstGeom>
          <a:noFill/>
          <a:ln/>
        </p:spPr>
        <p:txBody>
          <a:bodyPr wrap="square" lIns="0" tIns="0" rIns="0" bIns="0" rtlCol="0" anchor="ctr"/>
          <a:lstStyle/>
          <a:p>
            <a:pPr algn="l" indent="0" marL="0">
              <a:buNone/>
            </a:pPr>
            <a:r>
              <a:rPr lang="en-US" sz="1500" b="1" dirty="0">
                <a:solidFill>
                  <a:srgbClr val="D6E4F0"/>
                </a:solidFill>
                <a:latin typeface="Calibri" pitchFamily="34" charset="0"/>
                <a:ea typeface="Calibri" pitchFamily="34" charset="-122"/>
                <a:cs typeface="Calibri" pitchFamily="34" charset="-120"/>
              </a:rPr>
              <a:t>THE TAKEAWAY</a:t>
            </a:r>
            <a:endParaRPr lang="en-US" sz="1500" dirty="0"/>
          </a:p>
        </p:txBody>
      </p:sp>
      <p:sp>
        <p:nvSpPr>
          <p:cNvPr id="5" name="Shape 3"/>
          <p:cNvSpPr/>
          <p:nvPr/>
        </p:nvSpPr>
        <p:spPr>
          <a:xfrm>
            <a:off x="822960" y="1682496"/>
            <a:ext cx="100584" cy="100584"/>
          </a:xfrm>
          <a:prstGeom prst="ellipse">
            <a:avLst/>
          </a:prstGeom>
          <a:solidFill>
            <a:srgbClr val="2A9D8F"/>
          </a:solidFill>
          <a:ln/>
        </p:spPr>
      </p:sp>
      <p:sp>
        <p:nvSpPr>
          <p:cNvPr id="6" name="Text 4"/>
          <p:cNvSpPr txBox="1"/>
          <p:nvPr/>
        </p:nvSpPr>
        <p:spPr>
          <a:xfrm>
            <a:off x="1078992" y="1545336"/>
            <a:ext cx="9619488" cy="777240"/>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A one-page cheat sheet: core steps, prompt template, key links, “stuck at X → jump to phase Y” — plus the PLAN.md/TASKS.md workflow</a:t>
            </a:r>
            <a:endParaRPr lang="en-US" sz="1600" dirty="0"/>
          </a:p>
        </p:txBody>
      </p:sp>
      <p:sp>
        <p:nvSpPr>
          <p:cNvPr id="7" name="Shape 5"/>
          <p:cNvSpPr/>
          <p:nvPr/>
        </p:nvSpPr>
        <p:spPr>
          <a:xfrm>
            <a:off x="822960" y="2459736"/>
            <a:ext cx="100584" cy="100584"/>
          </a:xfrm>
          <a:prstGeom prst="ellipse">
            <a:avLst/>
          </a:prstGeom>
          <a:solidFill>
            <a:srgbClr val="2A9D8F"/>
          </a:solidFill>
          <a:ln/>
        </p:spPr>
      </p:sp>
      <p:sp>
        <p:nvSpPr>
          <p:cNvPr id="8" name="Text 6"/>
          <p:cNvSpPr txBox="1"/>
          <p:nvPr/>
        </p:nvSpPr>
        <p:spPr>
          <a:xfrm>
            <a:off x="1078992" y="2322576"/>
            <a:ext cx="9619488" cy="594360"/>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template/new_agent_template.py — a reusable scaffold for your next agent project, after today</a:t>
            </a:r>
            <a:endParaRPr lang="en-US" sz="1600" dirty="0"/>
          </a:p>
        </p:txBody>
      </p:sp>
      <p:sp>
        <p:nvSpPr>
          <p:cNvPr id="9" name="Text 7"/>
          <p:cNvSpPr txBox="1"/>
          <p:nvPr/>
        </p:nvSpPr>
        <p:spPr>
          <a:xfrm>
            <a:off x="822960" y="4114800"/>
            <a:ext cx="10332720" cy="1463040"/>
          </a:xfrm>
          <a:prstGeom prst="rect">
            <a:avLst/>
          </a:prstGeom>
          <a:noFill/>
          <a:ln/>
        </p:spPr>
        <p:txBody>
          <a:bodyPr wrap="square" lIns="0" tIns="0" rIns="0" bIns="0" rtlCol="0" anchor="ctr"/>
          <a:lstStyle/>
          <a:p>
            <a:pPr algn="l" indent="0" marL="0">
              <a:buNone/>
            </a:pPr>
            <a:r>
              <a:rPr lang="en-US" sz="5600" b="1" dirty="0">
                <a:solidFill>
                  <a:srgbClr val="FFFFFF"/>
                </a:solidFill>
                <a:latin typeface="Bookman Old Style" pitchFamily="34" charset="0"/>
                <a:ea typeface="Bookman Old Style" pitchFamily="34" charset="-122"/>
                <a:cs typeface="Bookman Old Style" pitchFamily="34" charset="-120"/>
              </a:rPr>
              <a:t>Let's build.</a:t>
            </a:r>
            <a:endParaRPr lang="en-US" sz="5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2026-09-04T08:13:53Z</dcterms:created>
  <dcterms:modified xsi:type="dcterms:W3CDTF">2026-09-04T08:13:53Z</dcterms:modified>
</cp:coreProperties>
</file>