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presentation.xml" ContentType="application/vnd.openxmlformats-officedocument.presentationml.presentation.main+xml"/>
  <Override PartName="/ppt/slides/slide18.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slideLayouts/slideLayout1.xml" ContentType="application/vnd.openxmlformats-officedocument.presentationml.slideLayout+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r>
              <a:rPr lang="en-US" sz="1800" b="0" u="none" strike="noStrike">
                <a:solidFill>
                  <a:schemeClr val="dk1"/>
                </a:solidFill>
                <a:effectLst/>
                <a:uFillTx/>
                <a:latin typeface="Calibri"/>
              </a:rPr>
              <a:t>Click to move the slide</a:t>
            </a:r>
            <a:endParaRPr lang="en-US" sz="1800" b="0" u="none" strike="noStrike">
              <a:solidFill>
                <a:schemeClr val="dk1"/>
              </a:solidFill>
              <a:effectLst/>
              <a:uFillTx/>
              <a:latin typeface="Calibri"/>
            </a:endParaRPr>
          </a:p>
        </p:txBody>
      </p:sp>
      <p:sp>
        <p:nvSpPr>
          <p:cNvPr id="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DD977BC0-1926-4B28-9C01-4347EAA797ED}"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 name="PlaceHolder 1"/>
          <p:cNvSpPr>
            <a:spLocks noGrp="1"/>
          </p:cNvSpPr>
          <p:nvPr>
            <p:ph type="sldImg"/>
          </p:nvPr>
        </p:nvSpPr>
        <p:spPr>
          <a:xfrm>
            <a:off x="685800" y="1143000"/>
            <a:ext cx="5486040" cy="3085920"/>
          </a:xfrm>
          <a:prstGeom prst="rect">
            <a:avLst/>
          </a:prstGeom>
          <a:ln w="0">
            <a:noFill/>
          </a:ln>
        </p:spPr>
      </p:sp>
      <p:sp>
        <p:nvSpPr>
          <p:cNvPr id="34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Quick welcome. Set expectations: fully hands-on, nobody needs prior agent-building experience, and by 4:00 PM everyone will have run a real agent they built themselves.</a:t>
            </a:r>
            <a:endParaRPr lang="en-US" sz="2000" b="0" u="none" strike="noStrike">
              <a:solidFill>
                <a:srgbClr val="000000"/>
              </a:solidFill>
              <a:effectLst/>
              <a:uFillTx/>
              <a:latin typeface="Arial"/>
            </a:endParaRPr>
          </a:p>
        </p:txBody>
      </p:sp>
      <p:sp>
        <p:nvSpPr>
          <p:cNvPr id="342"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9188662-7E1D-4435-9034-36010FC083F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3" name="PlaceHolder 1"/>
          <p:cNvSpPr>
            <a:spLocks noGrp="1"/>
          </p:cNvSpPr>
          <p:nvPr>
            <p:ph type="sldImg"/>
          </p:nvPr>
        </p:nvSpPr>
        <p:spPr>
          <a:xfrm>
            <a:off x="685800" y="1143000"/>
            <a:ext cx="5486040" cy="3085920"/>
          </a:xfrm>
          <a:prstGeom prst="rect">
            <a:avLst/>
          </a:prstGeom>
          <a:ln w="0">
            <a:noFill/>
          </a:ln>
        </p:spPr>
      </p:sp>
      <p:sp>
        <p:nvSpPr>
          <p:cNvPr id="34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This isn't a niche skill for one track — it's relevant whether you end up doing robotics, general ML, or security work. Frame it as: today you're not learning a toy, you're doing the thing companies are currently hiring for, and the numbers back that up — the postings are growing much faster than the talent pool.</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 Statista (Growth in AI job postings by specialized skill), jobsbyculture.com (Agentic AI hiring boom 2026), Belitsoft AI agent development forecast 2026 (citing Gartner), Second Talent (Global AI talent shortage statistics 2026).</a:t>
            </a:r>
            <a:endParaRPr lang="en-US" sz="2000" b="0" u="none" strike="noStrike">
              <a:solidFill>
                <a:srgbClr val="000000"/>
              </a:solidFill>
              <a:effectLst/>
              <a:uFillTx/>
              <a:latin typeface="Arial"/>
            </a:endParaRPr>
          </a:p>
        </p:txBody>
      </p:sp>
      <p:sp>
        <p:nvSpPr>
          <p:cNvPr id="345"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1BE2315-290B-48EC-AE66-1327C972299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 name="PlaceHolder 1"/>
          <p:cNvSpPr>
            <a:spLocks noGrp="1"/>
          </p:cNvSpPr>
          <p:nvPr>
            <p:ph type="sldImg"/>
          </p:nvPr>
        </p:nvSpPr>
        <p:spPr>
          <a:xfrm>
            <a:off x="685800" y="1143000"/>
            <a:ext cx="5486040" cy="3085920"/>
          </a:xfrm>
          <a:prstGeom prst="rect">
            <a:avLst/>
          </a:prstGeom>
          <a:ln w="0">
            <a:noFill/>
          </a:ln>
        </p:spPr>
      </p:sp>
      <p:sp>
        <p:nvSpPr>
          <p:cNvPr id="34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key word is 'decide.' In a plain LLM call, you write 100% of the control flow. In an agent, the model itself decides at runtime whether it needs more information before it can answer. That handoff of control is the entire idea — everything else today is detail on top of that one idea.</a:t>
            </a:r>
            <a:endParaRPr lang="en-US" sz="2000" b="0" u="none" strike="noStrike">
              <a:solidFill>
                <a:srgbClr val="000000"/>
              </a:solidFill>
              <a:effectLst/>
              <a:uFillTx/>
              <a:latin typeface="Arial"/>
            </a:endParaRPr>
          </a:p>
        </p:txBody>
      </p:sp>
      <p:sp>
        <p:nvSpPr>
          <p:cNvPr id="348"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B3A1869-C31E-4F10-9FB6-FBBFAE525CF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9" name="PlaceHolder 1"/>
          <p:cNvSpPr>
            <a:spLocks noGrp="1"/>
          </p:cNvSpPr>
          <p:nvPr>
            <p:ph type="sldImg"/>
          </p:nvPr>
        </p:nvSpPr>
        <p:spPr>
          <a:xfrm>
            <a:off x="685800" y="1143000"/>
            <a:ext cx="5486040" cy="3085920"/>
          </a:xfrm>
          <a:prstGeom prst="rect">
            <a:avLst/>
          </a:prstGeom>
          <a:ln w="0">
            <a:noFill/>
          </a:ln>
        </p:spPr>
      </p:sp>
      <p:sp>
        <p:nvSpPr>
          <p:cNvPr id="35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the split that matters most. The intelligence layer is essentially rented — you call an API, Groq runs the model. Almost everything you personally build today is the agentic layer. That's the difference between 'I called an API' and 'I built an agent.'</a:t>
            </a:r>
            <a:endParaRPr lang="en-US" sz="2000" b="0" u="none" strike="noStrike">
              <a:solidFill>
                <a:srgbClr val="000000"/>
              </a:solidFill>
              <a:effectLst/>
              <a:uFillTx/>
              <a:latin typeface="Arial"/>
            </a:endParaRPr>
          </a:p>
        </p:txBody>
      </p:sp>
      <p:sp>
        <p:nvSpPr>
          <p:cNvPr id="351"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3D575F1-6AD1-4EAF-AE6A-9D606F120F9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 name="PlaceHolder 1"/>
          <p:cNvSpPr>
            <a:spLocks noGrp="1"/>
          </p:cNvSpPr>
          <p:nvPr>
            <p:ph type="sldImg"/>
          </p:nvPr>
        </p:nvSpPr>
        <p:spPr>
          <a:xfrm>
            <a:off x="685800" y="1143000"/>
            <a:ext cx="5486040" cy="3085920"/>
          </a:xfrm>
          <a:prstGeom prst="rect">
            <a:avLst/>
          </a:prstGeom>
          <a:ln w="0">
            <a:noFill/>
          </a:ln>
        </p:spPr>
      </p:sp>
      <p:sp>
        <p:nvSpPr>
          <p:cNvPr id="35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Map this straight onto today's tracks so it's not abstract: the drone agent retrieves a report and decides a priority; the study-group agents chain draft → critique → revise; the cybersecurity agent retrieves login events and decides which ones are suspicious. Same four verbs, three different stories.</a:t>
            </a:r>
            <a:endParaRPr lang="en-US" sz="2000" b="0" u="none" strike="noStrike">
              <a:solidFill>
                <a:srgbClr val="000000"/>
              </a:solidFill>
              <a:effectLst/>
              <a:uFillTx/>
              <a:latin typeface="Arial"/>
            </a:endParaRPr>
          </a:p>
        </p:txBody>
      </p:sp>
      <p:sp>
        <p:nvSpPr>
          <p:cNvPr id="354"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F0100E7-F55F-4E8D-9CB1-624AC15C771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5" name="PlaceHolder 1"/>
          <p:cNvSpPr>
            <a:spLocks noGrp="1"/>
          </p:cNvSpPr>
          <p:nvPr>
            <p:ph type="sldImg"/>
          </p:nvPr>
        </p:nvSpPr>
        <p:spPr>
          <a:xfrm>
            <a:off x="685800" y="1143000"/>
            <a:ext cx="5486040" cy="3085920"/>
          </a:xfrm>
          <a:prstGeom prst="rect">
            <a:avLst/>
          </a:prstGeom>
          <a:ln w="0">
            <a:noFill/>
          </a:ln>
        </p:spPr>
      </p:sp>
      <p:sp>
        <p:nvSpPr>
          <p:cNvPr id="35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Aim this directly at the Cybersecurity cohort. Today's 'Catch the Intruder' track uses an agent defensively — but as you build it, also think adversarially: what if one of those login-attempt strings were crafted to make the agent do something other than what you intended? You don't need to solve that today, just start noticing it as a category of bug, not just 'wrong output.'</a:t>
            </a:r>
            <a:endParaRPr lang="en-US" sz="2000" b="0" u="none" strike="noStrike">
              <a:solidFill>
                <a:srgbClr val="000000"/>
              </a:solidFill>
              <a:effectLst/>
              <a:uFillTx/>
              <a:latin typeface="Arial"/>
            </a:endParaRPr>
          </a:p>
        </p:txBody>
      </p:sp>
      <p:sp>
        <p:nvSpPr>
          <p:cNvPr id="357"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8E258BE-A418-4A06-9553-0FD88C02892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8" name="PlaceHolder 1"/>
          <p:cNvSpPr>
            <a:spLocks noGrp="1"/>
          </p:cNvSpPr>
          <p:nvPr>
            <p:ph type="sldImg"/>
          </p:nvPr>
        </p:nvSpPr>
        <p:spPr>
          <a:xfrm>
            <a:off x="685800" y="1143000"/>
            <a:ext cx="5486040" cy="3085920"/>
          </a:xfrm>
          <a:prstGeom prst="rect">
            <a:avLst/>
          </a:prstGeom>
          <a:ln w="0">
            <a:noFill/>
          </a:ln>
        </p:spPr>
      </p:sp>
      <p:sp>
        <p:nvSpPr>
          <p:cNvPr id="35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Briefly acknowledge the landscape exists (LlamaIndex, raw SDKs, newer frameworks) without detouring into a comparison — the point is LangChain is the most transferable thing to learn today, not that it's the only option forever.</a:t>
            </a:r>
            <a:endParaRPr lang="en-US" sz="2000" b="0" u="none" strike="noStrike">
              <a:solidFill>
                <a:srgbClr val="000000"/>
              </a:solidFill>
              <a:effectLst/>
              <a:uFillTx/>
              <a:latin typeface="Arial"/>
            </a:endParaRPr>
          </a:p>
        </p:txBody>
      </p:sp>
      <p:sp>
        <p:nvSpPr>
          <p:cNvPr id="360"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D4AB0A8-D293-42CC-B528-BE352F30282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1" name="PlaceHolder 1"/>
          <p:cNvSpPr>
            <a:spLocks noGrp="1"/>
          </p:cNvSpPr>
          <p:nvPr>
            <p:ph type="sldImg"/>
          </p:nvPr>
        </p:nvSpPr>
        <p:spPr>
          <a:xfrm>
            <a:off x="685800" y="1143000"/>
            <a:ext cx="5486040" cy="3085920"/>
          </a:xfrm>
          <a:prstGeom prst="rect">
            <a:avLst/>
          </a:prstGeom>
          <a:ln w="0">
            <a:noFill/>
          </a:ln>
        </p:spPr>
      </p:sp>
      <p:sp>
        <p:nvSpPr>
          <p:cNvPr id="36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vocabulary — chat model, message, tool, bind_tools, tool_calls — is the exact set of words you'll point at over and over in the code in a minute. Worth saying explicitly: 'there are only four new concepts here, everything else is plain Python you already know.'</a:t>
            </a:r>
            <a:endParaRPr lang="en-US" sz="2000" b="0" u="none" strike="noStrike">
              <a:solidFill>
                <a:srgbClr val="000000"/>
              </a:solidFill>
              <a:effectLst/>
              <a:uFillTx/>
              <a:latin typeface="Arial"/>
            </a:endParaRPr>
          </a:p>
        </p:txBody>
      </p:sp>
      <p:sp>
        <p:nvSpPr>
          <p:cNvPr id="363"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84AB2EE-3DB7-45A1-825F-085EFAD4726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4" name="PlaceHolder 1"/>
          <p:cNvSpPr>
            <a:spLocks noGrp="1"/>
          </p:cNvSpPr>
          <p:nvPr>
            <p:ph type="sldImg"/>
          </p:nvPr>
        </p:nvSpPr>
        <p:spPr>
          <a:xfrm>
            <a:off x="685800" y="1143000"/>
            <a:ext cx="5486040" cy="3085920"/>
          </a:xfrm>
          <a:prstGeom prst="rect">
            <a:avLst/>
          </a:prstGeom>
          <a:ln w="0">
            <a:noFill/>
          </a:ln>
        </p:spPr>
      </p:sp>
      <p:sp>
        <p:nvSpPr>
          <p:cNvPr id="36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the hinge slide before you switch to walking the actual code live. Tell them: 'I'm going to open the real files now — phase by phase — and everything after this slide is the same five lines of loop logic, so once phase 1 clicks, phases 2 through 4 are just "what got added," not new concepts.'</a:t>
            </a:r>
            <a:endParaRPr lang="en-US" sz="2000" b="0" u="none" strike="noStrike">
              <a:solidFill>
                <a:srgbClr val="000000"/>
              </a:solidFill>
              <a:effectLst/>
              <a:uFillTx/>
              <a:latin typeface="Arial"/>
            </a:endParaRPr>
          </a:p>
        </p:txBody>
      </p:sp>
      <p:sp>
        <p:nvSpPr>
          <p:cNvPr id="366"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7893B7F-DA83-406B-A075-41E7E2DE572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7" name="PlaceHolder 1"/>
          <p:cNvSpPr>
            <a:spLocks noGrp="1"/>
          </p:cNvSpPr>
          <p:nvPr>
            <p:ph type="sldImg"/>
          </p:nvPr>
        </p:nvSpPr>
        <p:spPr>
          <a:xfrm>
            <a:off x="685800" y="1143000"/>
            <a:ext cx="5486040" cy="3085920"/>
          </a:xfrm>
          <a:prstGeom prst="rect">
            <a:avLst/>
          </a:prstGeom>
          <a:ln w="0">
            <a:noFill/>
          </a:ln>
        </p:spPr>
      </p:sp>
      <p:sp>
        <p:nvSpPr>
          <p:cNvPr id="36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Point out this is the file they should have already run before today. If anyone's showing a FAIL right now, this is the moment to fix it, not during the build block. Briefly show the four check_* function names and the pass/fail print style so they recognize the pattern.</a:t>
            </a:r>
            <a:endParaRPr lang="en-US" sz="2000" b="0" u="none" strike="noStrike">
              <a:solidFill>
                <a:srgbClr val="000000"/>
              </a:solidFill>
              <a:effectLst/>
              <a:uFillTx/>
              <a:latin typeface="Arial"/>
            </a:endParaRPr>
          </a:p>
        </p:txBody>
      </p:sp>
      <p:sp>
        <p:nvSpPr>
          <p:cNvPr id="369"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5A76271-674E-4806-A5E6-0F7DEAEC398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0" name="PlaceHolder 1"/>
          <p:cNvSpPr>
            <a:spLocks noGrp="1"/>
          </p:cNvSpPr>
          <p:nvPr>
            <p:ph type="sldImg"/>
          </p:nvPr>
        </p:nvSpPr>
        <p:spPr>
          <a:xfrm>
            <a:off x="685800" y="1143000"/>
            <a:ext cx="5486040" cy="3085920"/>
          </a:xfrm>
          <a:prstGeom prst="rect">
            <a:avLst/>
          </a:prstGeom>
          <a:ln w="0">
            <a:noFill/>
          </a:ln>
        </p:spPr>
      </p:sp>
      <p:sp>
        <p:nvSpPr>
          <p:cNvPr id="37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the slide to slow down on — everything later is a variation of this exact loop. Walk the docstring specifically: 'the model has never seen this function's code, it only ever reads this one sentence to decide when to call it.' Show what happens if you ask it something that doesn't need the tool at all (tool_calls comes back empty) versus something that does.</a:t>
            </a:r>
            <a:endParaRPr lang="en-US" sz="2000" b="0" u="none" strike="noStrike">
              <a:solidFill>
                <a:srgbClr val="000000"/>
              </a:solidFill>
              <a:effectLst/>
              <a:uFillTx/>
              <a:latin typeface="Arial"/>
            </a:endParaRPr>
          </a:p>
        </p:txBody>
      </p:sp>
      <p:sp>
        <p:nvSpPr>
          <p:cNvPr id="372"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34922A1-B802-4E95-834C-70CC6BD27EA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3" name="PlaceHolder 1"/>
          <p:cNvSpPr>
            <a:spLocks noGrp="1"/>
          </p:cNvSpPr>
          <p:nvPr>
            <p:ph type="sldImg"/>
          </p:nvPr>
        </p:nvSpPr>
        <p:spPr>
          <a:xfrm>
            <a:off x="685800" y="1143000"/>
            <a:ext cx="5486040" cy="3085920"/>
          </a:xfrm>
          <a:prstGeom prst="rect">
            <a:avLst/>
          </a:prstGeom>
          <a:ln w="0">
            <a:noFill/>
          </a:ln>
        </p:spPr>
      </p:sp>
      <p:sp>
        <p:nvSpPr>
          <p:cNvPr id="37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Make the 'nothing else changed' point explicit — maybe even scroll both files side by side for a second. The takeaway they should walk away with: adding a capability to their track project later is just 'write a function, decorate it, add it to a list,' not a bigger architectural change.</a:t>
            </a:r>
            <a:endParaRPr lang="en-US" sz="2000" b="0" u="none" strike="noStrike">
              <a:solidFill>
                <a:srgbClr val="000000"/>
              </a:solidFill>
              <a:effectLst/>
              <a:uFillTx/>
              <a:latin typeface="Arial"/>
            </a:endParaRPr>
          </a:p>
        </p:txBody>
      </p:sp>
      <p:sp>
        <p:nvSpPr>
          <p:cNvPr id="375"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CE39391-9B11-4533-83C2-DBEF0C95240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6" name="PlaceHolder 1"/>
          <p:cNvSpPr>
            <a:spLocks noGrp="1"/>
          </p:cNvSpPr>
          <p:nvPr>
            <p:ph type="sldImg"/>
          </p:nvPr>
        </p:nvSpPr>
        <p:spPr>
          <a:xfrm>
            <a:off x="685800" y="1143000"/>
            <a:ext cx="5486040" cy="3085920"/>
          </a:xfrm>
          <a:prstGeom prst="rect">
            <a:avLst/>
          </a:prstGeom>
          <a:ln w="0">
            <a:noFill/>
          </a:ln>
        </p:spPr>
      </p:sp>
      <p:sp>
        <p:nvSpPr>
          <p:cNvPr id="37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Contrast with phases 1–2, where messages = [...] was rebuilt fresh every call — that's why those agents 'forgot' everything instantly. Ask rhetorically: 'what's the simplest possible way to make something remember? Don't throw it away.' That's it.</a:t>
            </a:r>
            <a:endParaRPr lang="en-US" sz="2000" b="0" u="none" strike="noStrike">
              <a:solidFill>
                <a:srgbClr val="000000"/>
              </a:solidFill>
              <a:effectLst/>
              <a:uFillTx/>
              <a:latin typeface="Arial"/>
            </a:endParaRPr>
          </a:p>
        </p:txBody>
      </p:sp>
      <p:sp>
        <p:nvSpPr>
          <p:cNvPr id="378"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0B42DBF-4170-4391-9C20-386157FA7EB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9" name="PlaceHolder 1"/>
          <p:cNvSpPr>
            <a:spLocks noGrp="1"/>
          </p:cNvSpPr>
          <p:nvPr>
            <p:ph type="sldImg"/>
          </p:nvPr>
        </p:nvSpPr>
        <p:spPr>
          <a:xfrm>
            <a:off x="685800" y="1143000"/>
            <a:ext cx="5486040" cy="3085920"/>
          </a:xfrm>
          <a:prstGeom prst="rect">
            <a:avLst/>
          </a:prstGeom>
          <a:ln w="0">
            <a:noFill/>
          </a:ln>
        </p:spPr>
      </p:sp>
      <p:sp>
        <p:nvSpPr>
          <p:cNvPr id="38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the pattern every track project actually needs — processing a whole queue of drone reports / login attempts / whatever, not just one item. Point at the QUEUE_EMPTY sentinel as the concrete example of 'how do you tell the agent it's done' — this is the one thing that trips people up when they build their own version, so name it explicitly.</a:t>
            </a:r>
            <a:endParaRPr lang="en-US" sz="2000" b="0" u="none" strike="noStrike">
              <a:solidFill>
                <a:srgbClr val="000000"/>
              </a:solidFill>
              <a:effectLst/>
              <a:uFillTx/>
              <a:latin typeface="Arial"/>
            </a:endParaRPr>
          </a:p>
        </p:txBody>
      </p:sp>
      <p:sp>
        <p:nvSpPr>
          <p:cNvPr id="381"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69A3EAB-8AA1-4654-8CF5-5D2D22DFCB7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2" name="PlaceHolder 1"/>
          <p:cNvSpPr>
            <a:spLocks noGrp="1"/>
          </p:cNvSpPr>
          <p:nvPr>
            <p:ph type="sldImg"/>
          </p:nvPr>
        </p:nvSpPr>
        <p:spPr>
          <a:xfrm>
            <a:off x="685800" y="1143000"/>
            <a:ext cx="5486040" cy="3085920"/>
          </a:xfrm>
          <a:prstGeom prst="rect">
            <a:avLst/>
          </a:prstGeom>
          <a:ln w="0">
            <a:noFill/>
          </a:ln>
        </p:spPr>
      </p:sp>
      <p:sp>
        <p:nvSpPr>
          <p:cNvPr id="38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Pick whichever story matches your own background for the live-code demo at 2:30. Mention the AI track is the most technically ambitious (3 agents) and has a documented fallback to 2 agents if a group is short on time — so nobody should avoid it out of fear of running out of time.</a:t>
            </a:r>
            <a:endParaRPr lang="en-US" sz="2000" b="0" u="none" strike="noStrike">
              <a:solidFill>
                <a:srgbClr val="000000"/>
              </a:solidFill>
              <a:effectLst/>
              <a:uFillTx/>
              <a:latin typeface="Arial"/>
            </a:endParaRPr>
          </a:p>
        </p:txBody>
      </p:sp>
      <p:sp>
        <p:nvSpPr>
          <p:cNvPr id="384" name="PlaceHolder 3"/>
          <p:cNvSpPr>
            <a:spLocks noGrp="1"/>
          </p:cNvSpPr>
          <p:nvPr>
            <p:ph type="sldNum" idx="1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CF9DC04-4DCD-48E9-8301-B28E5A0F1CA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5" name="PlaceHolder 1"/>
          <p:cNvSpPr>
            <a:spLocks noGrp="1"/>
          </p:cNvSpPr>
          <p:nvPr>
            <p:ph type="sldImg"/>
          </p:nvPr>
        </p:nvSpPr>
        <p:spPr>
          <a:xfrm>
            <a:off x="685800" y="1143000"/>
            <a:ext cx="5486040" cy="3085920"/>
          </a:xfrm>
          <a:prstGeom prst="rect">
            <a:avLst/>
          </a:prstGeom>
          <a:ln w="0">
            <a:noFill/>
          </a:ln>
        </p:spPr>
      </p:sp>
      <p:sp>
        <p:nvSpPr>
          <p:cNvPr id="38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Give a short pause here for stragglers to get their key. This is also the moment to mention phase_00_setup/check_environment.py again as the way to confirm the key actually works before 2:45.</a:t>
            </a:r>
            <a:endParaRPr lang="en-US" sz="2000" b="0" u="none" strike="noStrike">
              <a:solidFill>
                <a:srgbClr val="000000"/>
              </a:solidFill>
              <a:effectLst/>
              <a:uFillTx/>
              <a:latin typeface="Arial"/>
            </a:endParaRPr>
          </a:p>
        </p:txBody>
      </p:sp>
      <p:sp>
        <p:nvSpPr>
          <p:cNvPr id="387"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0F66E63-FBB5-4EC6-A019-36576AC5615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8" name="PlaceHolder 1"/>
          <p:cNvSpPr>
            <a:spLocks noGrp="1"/>
          </p:cNvSpPr>
          <p:nvPr>
            <p:ph type="sldImg"/>
          </p:nvPr>
        </p:nvSpPr>
        <p:spPr>
          <a:xfrm>
            <a:off x="685800" y="1143000"/>
            <a:ext cx="5486040" cy="3085920"/>
          </a:xfrm>
          <a:prstGeom prst="rect">
            <a:avLst/>
          </a:prstGeom>
          <a:ln w="0">
            <a:noFill/>
          </a:ln>
        </p:spPr>
      </p:sp>
      <p:sp>
        <p:nvSpPr>
          <p:cNvPr id="38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Reassure the mixed-skill room explicitly: 'if you don't finish, that's fine — jump to whichever phase matches your remaining time, phase_00 through phase_04 each work standalone.' Point at the reference_solution/ folder as a 'look here if truly stuck,' not a 'copy this first.'</a:t>
            </a:r>
            <a:endParaRPr lang="en-US" sz="2000" b="0" u="none" strike="noStrike">
              <a:solidFill>
                <a:srgbClr val="000000"/>
              </a:solidFill>
              <a:effectLst/>
              <a:uFillTx/>
              <a:latin typeface="Arial"/>
            </a:endParaRPr>
          </a:p>
        </p:txBody>
      </p:sp>
      <p:sp>
        <p:nvSpPr>
          <p:cNvPr id="390" name="PlaceHolder 3"/>
          <p:cNvSpPr>
            <a:spLocks noGrp="1"/>
          </p:cNvSpPr>
          <p:nvPr>
            <p:ph type="sldNum" idx="2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BE481CB-89E0-4F20-8162-4DB6B97777D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1" name="PlaceHolder 1"/>
          <p:cNvSpPr>
            <a:spLocks noGrp="1"/>
          </p:cNvSpPr>
          <p:nvPr>
            <p:ph type="sldImg"/>
          </p:nvPr>
        </p:nvSpPr>
        <p:spPr>
          <a:xfrm>
            <a:off x="685800" y="1143000"/>
            <a:ext cx="5486040" cy="3085920"/>
          </a:xfrm>
          <a:prstGeom prst="rect">
            <a:avLst/>
          </a:prstGeom>
          <a:ln w="0">
            <a:noFill/>
          </a:ln>
        </p:spPr>
      </p:sp>
      <p:sp>
        <p:nvSpPr>
          <p:cNvPr id="39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Save this as a reveal, not something you mention earlier — let it land. Say something like: 'Everything you've looked at for the last 30 minutes was built this way. If an agent can build the material for teaching you to build agents, think about what's possible once you're the one steering it.' Ties straight back to slide 2 — this isn't a hypothetical hiring trend, it's how this exact session got made.</a:t>
            </a:r>
            <a:endParaRPr lang="en-US" sz="2000" b="0" u="none" strike="noStrike">
              <a:solidFill>
                <a:srgbClr val="000000"/>
              </a:solidFill>
              <a:effectLst/>
              <a:uFillTx/>
              <a:latin typeface="Arial"/>
            </a:endParaRPr>
          </a:p>
        </p:txBody>
      </p:sp>
      <p:sp>
        <p:nvSpPr>
          <p:cNvPr id="393" name="PlaceHolder 3"/>
          <p:cNvSpPr>
            <a:spLocks noGrp="1"/>
          </p:cNvSpPr>
          <p:nvPr>
            <p:ph type="sldNum" idx="2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48DD705-CE73-472C-85C2-4893346768A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4" name="PlaceHolder 1"/>
          <p:cNvSpPr>
            <a:spLocks noGrp="1"/>
          </p:cNvSpPr>
          <p:nvPr>
            <p:ph type="sldImg"/>
          </p:nvPr>
        </p:nvSpPr>
        <p:spPr>
          <a:xfrm>
            <a:off x="685800" y="1143000"/>
            <a:ext cx="5486040" cy="3085920"/>
          </a:xfrm>
          <a:prstGeom prst="rect">
            <a:avLst/>
          </a:prstGeom>
          <a:ln w="0">
            <a:noFill/>
          </a:ln>
        </p:spPr>
      </p:sp>
      <p:sp>
        <p:nvSpPr>
          <p:cNvPr id="39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Hand off to the 2:30 live-code demo here. Remind them the cheat sheet is what to keep open on a second screen/phone while building, not something to read now.</a:t>
            </a:r>
            <a:endParaRPr lang="en-US" sz="2000" b="0" u="none" strike="noStrike">
              <a:solidFill>
                <a:srgbClr val="000000"/>
              </a:solidFill>
              <a:effectLst/>
              <a:uFillTx/>
              <a:latin typeface="Arial"/>
            </a:endParaRPr>
          </a:p>
        </p:txBody>
      </p:sp>
      <p:sp>
        <p:nvSpPr>
          <p:cNvPr id="396" name="PlaceHolder 3"/>
          <p:cNvSpPr>
            <a:spLocks noGrp="1"/>
          </p:cNvSpPr>
          <p:nvPr>
            <p:ph type="sldNum" idx="2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B6BCABE-5B19-42D1-A7B0-ECBBA207BC71}"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Calibri"/>
              </a:defRPr>
            </a:lvl1pPr>
          </a:lstStyle>
          <a:p>
            <a:pPr indent="0" algn="l">
              <a:buNone/>
            </a:pPr>
            <a:r>
              <a:rPr lang="en-US" sz="1800" b="0" u="none" strike="noStrike">
                <a:solidFill>
                  <a:schemeClr val="dk1"/>
                </a:solidFill>
                <a:effectLst/>
                <a:uFillTx/>
                <a:latin typeface="Calibri"/>
              </a:rPr>
              <a:t>Click to edit the title text format</a:t>
            </a:r>
            <a:endParaRPr lang="en-US"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D3557"/>
        </a:solidFill>
      </p:bgPr>
    </p:bg>
    <p:spTree>
      <p:nvGrpSpPr>
        <p:cNvPr id="1" name=""/>
        <p:cNvGrpSpPr/>
        <p:nvPr/>
      </p:nvGrpSpPr>
      <p:grpSpPr>
        <a:xfrm>
          <a:off x="0" y="0"/>
          <a:ext cx="0" cy="0"/>
          <a:chOff x="0" y="0"/>
          <a:chExt cx="0" cy="0"/>
        </a:xfrm>
      </p:grpSpPr>
      <p:sp>
        <p:nvSpPr>
          <p:cNvPr id="10" name="Shape 0"/>
          <p:cNvSpPr/>
          <p:nvPr/>
        </p:nvSpPr>
        <p:spPr>
          <a:xfrm>
            <a:off x="8778240" y="-2011680"/>
            <a:ext cx="5486040" cy="5486040"/>
          </a:xfrm>
          <a:prstGeom prst="ellipse">
            <a:avLst/>
          </a:prstGeom>
          <a:solidFill>
            <a:srgbClr val="2A9D8F">
              <a:alpha val="12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 name="Shape 1"/>
          <p:cNvSpPr/>
          <p:nvPr/>
        </p:nvSpPr>
        <p:spPr>
          <a:xfrm>
            <a:off x="-2103120" y="4480560"/>
            <a:ext cx="3840120" cy="3840120"/>
          </a:xfrm>
          <a:prstGeom prst="ellipse">
            <a:avLst/>
          </a:prstGeom>
          <a:solidFill>
            <a:srgbClr val="2A9D8F">
              <a:alpha val="10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 name="Text 2"/>
          <p:cNvSpPr/>
          <p:nvPr/>
        </p:nvSpPr>
        <p:spPr>
          <a:xfrm>
            <a:off x="822960" y="2148840"/>
            <a:ext cx="1051524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rgbClr val="FFFFFF"/>
                </a:solidFill>
                <a:effectLst/>
                <a:uFillTx/>
                <a:latin typeface="Bookman Old Style"/>
                <a:ea typeface="Bookman Old Style"/>
              </a:rPr>
              <a:t>AI AGENT DEVELOPMENT WORKSHOP</a:t>
            </a:r>
            <a:endParaRPr lang="en-US" sz="4000" b="0" u="none" strike="noStrike">
              <a:solidFill>
                <a:srgbClr val="FFFFFF"/>
              </a:solidFill>
              <a:effectLst/>
              <a:uFillTx/>
              <a:latin typeface="Arial"/>
            </a:endParaRPr>
          </a:p>
        </p:txBody>
      </p:sp>
      <p:sp>
        <p:nvSpPr>
          <p:cNvPr id="13" name="Text 3"/>
          <p:cNvSpPr/>
          <p:nvPr/>
        </p:nvSpPr>
        <p:spPr>
          <a:xfrm>
            <a:off x="822960" y="3063240"/>
            <a:ext cx="105152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0" i="1" u="none" strike="noStrike">
                <a:solidFill>
                  <a:srgbClr val="D6E4F0"/>
                </a:solidFill>
                <a:effectLst/>
                <a:uFillTx/>
                <a:latin typeface="Calibri"/>
                <a:ea typeface="Calibri"/>
              </a:rPr>
              <a:t>Building your first LLM agent — LangChain + Groq</a:t>
            </a:r>
            <a:endParaRPr lang="en-US" sz="2000" b="0" u="none" strike="noStrike">
              <a:solidFill>
                <a:srgbClr val="FFFFFF"/>
              </a:solidFill>
              <a:effectLst/>
              <a:uFillTx/>
              <a:latin typeface="Arial"/>
            </a:endParaRPr>
          </a:p>
        </p:txBody>
      </p:sp>
      <p:sp>
        <p:nvSpPr>
          <p:cNvPr id="14" name="Shape 4"/>
          <p:cNvSpPr/>
          <p:nvPr/>
        </p:nvSpPr>
        <p:spPr>
          <a:xfrm>
            <a:off x="822960" y="4160520"/>
            <a:ext cx="145800" cy="145800"/>
          </a:xfrm>
          <a:prstGeom prst="ellipse">
            <a:avLst/>
          </a:prstGeom>
          <a:solidFill>
            <a:srgbClr val="2A9D8F"/>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 name="Text 5"/>
          <p:cNvSpPr/>
          <p:nvPr/>
        </p:nvSpPr>
        <p:spPr>
          <a:xfrm>
            <a:off x="1097280" y="4041720"/>
            <a:ext cx="82292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FFFFFF"/>
                </a:solidFill>
                <a:effectLst/>
                <a:uFillTx/>
                <a:latin typeface="Calibri"/>
                <a:ea typeface="Calibri"/>
              </a:rPr>
              <a:t>Ing. Luis Felipe Hernández Mora  ·  Universidad de Costa Rica</a:t>
            </a:r>
            <a:endParaRPr lang="en-US" sz="1500" b="0" u="none" strike="noStrike">
              <a:solidFill>
                <a:srgbClr val="FFFFFF"/>
              </a:solidFill>
              <a:effectLst/>
              <a:uFillTx/>
              <a:latin typeface="Arial"/>
            </a:endParaRPr>
          </a:p>
        </p:txBody>
      </p:sp>
      <p:sp>
        <p:nvSpPr>
          <p:cNvPr id="16" name="Text 6"/>
          <p:cNvSpPr/>
          <p:nvPr/>
        </p:nvSpPr>
        <p:spPr>
          <a:xfrm>
            <a:off x="1097280" y="4316040"/>
            <a:ext cx="82292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D6E4F0"/>
                </a:solidFill>
                <a:effectLst/>
                <a:uFillTx/>
                <a:latin typeface="Calibri"/>
                <a:ea typeface="Calibri"/>
              </a:rPr>
              <a:t>Guest session · Amrita University · Sept, 2026</a:t>
            </a:r>
            <a:endParaRPr lang="en-US"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 name="Text 0"/>
          <p:cNvSpPr/>
          <p:nvPr/>
        </p:nvSpPr>
        <p:spPr>
          <a:xfrm>
            <a:off x="548640" y="411480"/>
            <a:ext cx="110638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D3557"/>
                </a:solidFill>
                <a:effectLst/>
                <a:uFillTx/>
                <a:latin typeface="Bookman Old Style"/>
                <a:ea typeface="Bookman Old Style"/>
              </a:rPr>
              <a:t>Why this matters</a:t>
            </a:r>
            <a:endParaRPr lang="en-US" sz="3200" b="0" u="none" strike="noStrike">
              <a:solidFill>
                <a:srgbClr val="000000"/>
              </a:solidFill>
              <a:effectLst/>
              <a:uFillTx/>
              <a:latin typeface="Arial"/>
            </a:endParaRPr>
          </a:p>
        </p:txBody>
      </p:sp>
      <p:sp>
        <p:nvSpPr>
          <p:cNvPr id="18" name="Shape 1"/>
          <p:cNvSpPr/>
          <p:nvPr/>
        </p:nvSpPr>
        <p:spPr>
          <a:xfrm>
            <a:off x="548640" y="1600200"/>
            <a:ext cx="548280" cy="54828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 name="Text 2"/>
          <p:cNvSpPr/>
          <p:nvPr/>
        </p:nvSpPr>
        <p:spPr>
          <a:xfrm>
            <a:off x="548640" y="16002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RO</a:t>
            </a:r>
            <a:endParaRPr lang="en-US" sz="1400" b="0" u="none" strike="noStrike">
              <a:solidFill>
                <a:srgbClr val="000000"/>
              </a:solidFill>
              <a:effectLst/>
              <a:uFillTx/>
              <a:latin typeface="Arial"/>
            </a:endParaRPr>
          </a:p>
        </p:txBody>
      </p:sp>
      <p:sp>
        <p:nvSpPr>
          <p:cNvPr id="20" name="Text 3"/>
          <p:cNvSpPr/>
          <p:nvPr/>
        </p:nvSpPr>
        <p:spPr>
          <a:xfrm>
            <a:off x="1298520" y="1572840"/>
            <a:ext cx="521172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D3557"/>
                </a:solidFill>
                <a:effectLst/>
                <a:uFillTx/>
                <a:latin typeface="Calibri"/>
                <a:ea typeface="Calibri"/>
              </a:rPr>
              <a:t>Robotics</a:t>
            </a:r>
            <a:endParaRPr lang="en-US" sz="1600" b="0" u="none" strike="noStrike">
              <a:solidFill>
                <a:srgbClr val="000000"/>
              </a:solidFill>
              <a:effectLst/>
              <a:uFillTx/>
              <a:latin typeface="Arial"/>
            </a:endParaRPr>
          </a:p>
        </p:txBody>
      </p:sp>
      <p:sp>
        <p:nvSpPr>
          <p:cNvPr id="21" name="Text 4"/>
          <p:cNvSpPr/>
          <p:nvPr/>
        </p:nvSpPr>
        <p:spPr>
          <a:xfrm>
            <a:off x="1298520" y="1892880"/>
            <a:ext cx="530316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6B7280"/>
                </a:solidFill>
                <a:effectLst/>
                <a:uFillTx/>
                <a:latin typeface="Calibri"/>
                <a:ea typeface="Calibri"/>
              </a:rPr>
              <a:t>Pairing classical control with LLM-driven decisions</a:t>
            </a:r>
            <a:endParaRPr lang="en-US" sz="1250" b="0" u="none" strike="noStrike">
              <a:solidFill>
                <a:srgbClr val="000000"/>
              </a:solidFill>
              <a:effectLst/>
              <a:uFillTx/>
              <a:latin typeface="Arial"/>
            </a:endParaRPr>
          </a:p>
        </p:txBody>
      </p:sp>
      <p:sp>
        <p:nvSpPr>
          <p:cNvPr id="22" name="Shape 5"/>
          <p:cNvSpPr/>
          <p:nvPr/>
        </p:nvSpPr>
        <p:spPr>
          <a:xfrm>
            <a:off x="548640" y="2971800"/>
            <a:ext cx="548280" cy="54828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 name="Text 6"/>
          <p:cNvSpPr/>
          <p:nvPr/>
        </p:nvSpPr>
        <p:spPr>
          <a:xfrm>
            <a:off x="548640" y="29718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AI</a:t>
            </a:r>
            <a:endParaRPr lang="en-US" sz="1400" b="0" u="none" strike="noStrike">
              <a:solidFill>
                <a:srgbClr val="000000"/>
              </a:solidFill>
              <a:effectLst/>
              <a:uFillTx/>
              <a:latin typeface="Arial"/>
            </a:endParaRPr>
          </a:p>
        </p:txBody>
      </p:sp>
      <p:sp>
        <p:nvSpPr>
          <p:cNvPr id="24" name="Text 7"/>
          <p:cNvSpPr/>
          <p:nvPr/>
        </p:nvSpPr>
        <p:spPr>
          <a:xfrm>
            <a:off x="1298520" y="2944440"/>
            <a:ext cx="521172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D3557"/>
                </a:solidFill>
                <a:effectLst/>
                <a:uFillTx/>
                <a:latin typeface="Calibri"/>
                <a:ea typeface="Calibri"/>
              </a:rPr>
              <a:t>AI / ML</a:t>
            </a:r>
            <a:endParaRPr lang="en-US" sz="1600" b="0" u="none" strike="noStrike">
              <a:solidFill>
                <a:srgbClr val="000000"/>
              </a:solidFill>
              <a:effectLst/>
              <a:uFillTx/>
              <a:latin typeface="Arial"/>
            </a:endParaRPr>
          </a:p>
        </p:txBody>
      </p:sp>
      <p:sp>
        <p:nvSpPr>
          <p:cNvPr id="25" name="Text 8"/>
          <p:cNvSpPr/>
          <p:nvPr/>
        </p:nvSpPr>
        <p:spPr>
          <a:xfrm>
            <a:off x="1298520" y="3264480"/>
            <a:ext cx="530316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6B7280"/>
                </a:solidFill>
                <a:effectLst/>
                <a:uFillTx/>
                <a:latin typeface="Calibri"/>
                <a:ea typeface="Calibri"/>
              </a:rPr>
              <a:t>The role is shifting from “train a model” to “build an agent around one”</a:t>
            </a:r>
            <a:endParaRPr lang="en-US" sz="1250" b="0" u="none" strike="noStrike">
              <a:solidFill>
                <a:srgbClr val="000000"/>
              </a:solidFill>
              <a:effectLst/>
              <a:uFillTx/>
              <a:latin typeface="Arial"/>
            </a:endParaRPr>
          </a:p>
        </p:txBody>
      </p:sp>
      <p:sp>
        <p:nvSpPr>
          <p:cNvPr id="26" name="Shape 9"/>
          <p:cNvSpPr/>
          <p:nvPr/>
        </p:nvSpPr>
        <p:spPr>
          <a:xfrm>
            <a:off x="548640" y="4343400"/>
            <a:ext cx="548280" cy="54828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 name="Text 10"/>
          <p:cNvSpPr/>
          <p:nvPr/>
        </p:nvSpPr>
        <p:spPr>
          <a:xfrm>
            <a:off x="548640" y="4343400"/>
            <a:ext cx="54828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CY</a:t>
            </a:r>
            <a:endParaRPr lang="en-US" sz="1400" b="0" u="none" strike="noStrike">
              <a:solidFill>
                <a:srgbClr val="000000"/>
              </a:solidFill>
              <a:effectLst/>
              <a:uFillTx/>
              <a:latin typeface="Arial"/>
            </a:endParaRPr>
          </a:p>
        </p:txBody>
      </p:sp>
      <p:sp>
        <p:nvSpPr>
          <p:cNvPr id="28" name="Text 11"/>
          <p:cNvSpPr/>
          <p:nvPr/>
        </p:nvSpPr>
        <p:spPr>
          <a:xfrm>
            <a:off x="1298520" y="4316040"/>
            <a:ext cx="521172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D3557"/>
                </a:solidFill>
                <a:effectLst/>
                <a:uFillTx/>
                <a:latin typeface="Calibri"/>
                <a:ea typeface="Calibri"/>
              </a:rPr>
              <a:t>Cybersecurity</a:t>
            </a:r>
            <a:endParaRPr lang="en-US" sz="1600" b="0" u="none" strike="noStrike">
              <a:solidFill>
                <a:srgbClr val="000000"/>
              </a:solidFill>
              <a:effectLst/>
              <a:uFillTx/>
              <a:latin typeface="Arial"/>
            </a:endParaRPr>
          </a:p>
        </p:txBody>
      </p:sp>
      <p:sp>
        <p:nvSpPr>
          <p:cNvPr id="29" name="Text 12"/>
          <p:cNvSpPr/>
          <p:nvPr/>
        </p:nvSpPr>
        <p:spPr>
          <a:xfrm>
            <a:off x="1298520" y="4636080"/>
            <a:ext cx="530316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6B7280"/>
                </a:solidFill>
                <a:effectLst/>
                <a:uFillTx/>
                <a:latin typeface="Calibri"/>
                <a:ea typeface="Calibri"/>
              </a:rPr>
              <a:t>Both defending against agents, and building them for defense</a:t>
            </a:r>
            <a:endParaRPr lang="en-US" sz="1250" b="0" u="none" strike="noStrike">
              <a:solidFill>
                <a:srgbClr val="000000"/>
              </a:solidFill>
              <a:effectLst/>
              <a:uFillTx/>
              <a:latin typeface="Arial"/>
            </a:endParaRPr>
          </a:p>
        </p:txBody>
      </p:sp>
      <p:sp>
        <p:nvSpPr>
          <p:cNvPr id="30" name="Shape 13"/>
          <p:cNvSpPr/>
          <p:nvPr/>
        </p:nvSpPr>
        <p:spPr>
          <a:xfrm>
            <a:off x="7086600" y="1554480"/>
            <a:ext cx="4480200" cy="4571640"/>
          </a:xfrm>
          <a:prstGeom prst="roundRect">
            <a:avLst>
              <a:gd name="adj" fmla="val 2449"/>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1" name="Text 14"/>
          <p:cNvSpPr/>
          <p:nvPr/>
        </p:nvSpPr>
        <p:spPr>
          <a:xfrm>
            <a:off x="7360920" y="1755720"/>
            <a:ext cx="393156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6B7280"/>
                </a:solidFill>
                <a:effectLst/>
                <a:uFillTx/>
                <a:latin typeface="Calibri"/>
                <a:ea typeface="Calibri"/>
              </a:rPr>
              <a:t>The numbers</a:t>
            </a:r>
            <a:endParaRPr lang="en-US" sz="1300" b="0" u="none" strike="noStrike">
              <a:solidFill>
                <a:srgbClr val="000000"/>
              </a:solidFill>
              <a:effectLst/>
              <a:uFillTx/>
              <a:latin typeface="Arial"/>
            </a:endParaRPr>
          </a:p>
        </p:txBody>
      </p:sp>
      <p:sp>
        <p:nvSpPr>
          <p:cNvPr id="32" name="Text 15"/>
          <p:cNvSpPr/>
          <p:nvPr/>
        </p:nvSpPr>
        <p:spPr>
          <a:xfrm>
            <a:off x="7360920" y="2148840"/>
            <a:ext cx="393156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A9D8F"/>
                </a:solidFill>
                <a:effectLst/>
                <a:uFillTx/>
                <a:latin typeface="Calibri"/>
                <a:ea typeface="Calibri"/>
              </a:rPr>
              <a:t>~280%</a:t>
            </a:r>
            <a:endParaRPr lang="en-US" sz="3400" b="0" u="none" strike="noStrike">
              <a:solidFill>
                <a:srgbClr val="000000"/>
              </a:solidFill>
              <a:effectLst/>
              <a:uFillTx/>
              <a:latin typeface="Arial"/>
            </a:endParaRPr>
          </a:p>
        </p:txBody>
      </p:sp>
      <p:sp>
        <p:nvSpPr>
          <p:cNvPr id="33" name="Text 16"/>
          <p:cNvSpPr/>
          <p:nvPr/>
        </p:nvSpPr>
        <p:spPr>
          <a:xfrm>
            <a:off x="7360920" y="2679120"/>
            <a:ext cx="397728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3A3A3A"/>
                </a:solidFill>
                <a:effectLst/>
                <a:uFillTx/>
                <a:latin typeface="Calibri"/>
                <a:ea typeface="Calibri"/>
              </a:rPr>
              <a:t>growth in “Agentic AI” job postings, 2024 → 2025</a:t>
            </a:r>
            <a:endParaRPr lang="en-US" sz="1200" b="0" u="none" strike="noStrike">
              <a:solidFill>
                <a:srgbClr val="000000"/>
              </a:solidFill>
              <a:effectLst/>
              <a:uFillTx/>
              <a:latin typeface="Arial"/>
            </a:endParaRPr>
          </a:p>
        </p:txBody>
      </p:sp>
      <p:sp>
        <p:nvSpPr>
          <p:cNvPr id="34" name="Text 17"/>
          <p:cNvSpPr/>
          <p:nvPr/>
        </p:nvSpPr>
        <p:spPr>
          <a:xfrm>
            <a:off x="7360920" y="3502080"/>
            <a:ext cx="393156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A9D8F"/>
                </a:solidFill>
                <a:effectLst/>
                <a:uFillTx/>
                <a:latin typeface="Calibri"/>
                <a:ea typeface="Calibri"/>
              </a:rPr>
              <a:t>40%</a:t>
            </a:r>
            <a:endParaRPr lang="en-US" sz="3400" b="0" u="none" strike="noStrike">
              <a:solidFill>
                <a:srgbClr val="000000"/>
              </a:solidFill>
              <a:effectLst/>
              <a:uFillTx/>
              <a:latin typeface="Arial"/>
            </a:endParaRPr>
          </a:p>
        </p:txBody>
      </p:sp>
      <p:sp>
        <p:nvSpPr>
          <p:cNvPr id="35" name="Text 18"/>
          <p:cNvSpPr/>
          <p:nvPr/>
        </p:nvSpPr>
        <p:spPr>
          <a:xfrm>
            <a:off x="7360920" y="4032360"/>
            <a:ext cx="397728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3A3A3A"/>
                </a:solidFill>
                <a:effectLst/>
                <a:uFillTx/>
                <a:latin typeface="Calibri"/>
                <a:ea typeface="Calibri"/>
              </a:rPr>
              <a:t>of enterprise apps expected to include task-specific agents by end of 2026 (Gartner)</a:t>
            </a:r>
            <a:endParaRPr lang="en-US" sz="1200" b="0" u="none" strike="noStrike">
              <a:solidFill>
                <a:srgbClr val="000000"/>
              </a:solidFill>
              <a:effectLst/>
              <a:uFillTx/>
              <a:latin typeface="Arial"/>
            </a:endParaRPr>
          </a:p>
        </p:txBody>
      </p:sp>
      <p:sp>
        <p:nvSpPr>
          <p:cNvPr id="36" name="Text 19"/>
          <p:cNvSpPr/>
          <p:nvPr/>
        </p:nvSpPr>
        <p:spPr>
          <a:xfrm>
            <a:off x="7360920" y="4855320"/>
            <a:ext cx="393156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2A9D8F"/>
                </a:solidFill>
                <a:effectLst/>
                <a:uFillTx/>
                <a:latin typeface="Calibri"/>
                <a:ea typeface="Calibri"/>
              </a:rPr>
              <a:t>3.4×</a:t>
            </a:r>
            <a:endParaRPr lang="en-US" sz="3400" b="0" u="none" strike="noStrike">
              <a:solidFill>
                <a:srgbClr val="000000"/>
              </a:solidFill>
              <a:effectLst/>
              <a:uFillTx/>
              <a:latin typeface="Arial"/>
            </a:endParaRPr>
          </a:p>
        </p:txBody>
      </p:sp>
      <p:sp>
        <p:nvSpPr>
          <p:cNvPr id="37" name="Text 20"/>
          <p:cNvSpPr/>
          <p:nvPr/>
        </p:nvSpPr>
        <p:spPr>
          <a:xfrm>
            <a:off x="7360920" y="5385960"/>
            <a:ext cx="397728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3A3A3A"/>
                </a:solidFill>
                <a:effectLst/>
                <a:uFillTx/>
                <a:latin typeface="Calibri"/>
                <a:ea typeface="Calibri"/>
              </a:rPr>
              <a:t>open AI-related roles for every qualified candidate right now</a:t>
            </a:r>
            <a:endParaRPr lang="en-US" sz="1200" b="0" u="none" strike="noStrike">
              <a:solidFill>
                <a:srgbClr val="000000"/>
              </a:solidFill>
              <a:effectLst/>
              <a:uFillTx/>
              <a:latin typeface="Arial"/>
            </a:endParaRPr>
          </a:p>
        </p:txBody>
      </p:sp>
      <p:sp>
        <p:nvSpPr>
          <p:cNvPr id="38" name="Text 21"/>
          <p:cNvSpPr/>
          <p:nvPr/>
        </p:nvSpPr>
        <p:spPr>
          <a:xfrm>
            <a:off x="548640" y="653796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9AA5B1"/>
                </a:solidFill>
                <a:effectLst/>
                <a:uFillTx/>
                <a:latin typeface="Calibri"/>
                <a:ea typeface="Calibri"/>
              </a:rPr>
              <a:t>AI Agent Development Workshop</a:t>
            </a:r>
            <a:endParaRPr lang="en-US" sz="1000" b="0" u="none" strike="noStrike">
              <a:solidFill>
                <a:srgbClr val="000000"/>
              </a:solidFill>
              <a:effectLst/>
              <a:uFillTx/>
              <a:latin typeface="Arial"/>
            </a:endParaRPr>
          </a:p>
        </p:txBody>
      </p:sp>
      <p:sp>
        <p:nvSpPr>
          <p:cNvPr id="39" name="Text 22"/>
          <p:cNvSpPr/>
          <p:nvPr/>
        </p:nvSpPr>
        <p:spPr>
          <a:xfrm>
            <a:off x="10881360" y="6537960"/>
            <a:ext cx="82260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9AA5B1"/>
                </a:solidFill>
                <a:effectLst/>
                <a:uFillTx/>
                <a:latin typeface="Calibri"/>
                <a:ea typeface="Calibri"/>
              </a:rPr>
              <a:t>2 / 19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 name="Text 0"/>
          <p:cNvSpPr/>
          <p:nvPr/>
        </p:nvSpPr>
        <p:spPr>
          <a:xfrm>
            <a:off x="548640" y="411480"/>
            <a:ext cx="110638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D3557"/>
                </a:solidFill>
                <a:effectLst/>
                <a:uFillTx/>
                <a:latin typeface="Bookman Old Style"/>
                <a:ea typeface="Bookman Old Style"/>
              </a:rPr>
              <a:t>What is an agent? (vs. a plain LLM call)</a:t>
            </a:r>
            <a:endParaRPr lang="en-US" sz="3200" b="0" u="none" strike="noStrike">
              <a:solidFill>
                <a:srgbClr val="000000"/>
              </a:solidFill>
              <a:effectLst/>
              <a:uFillTx/>
              <a:latin typeface="Arial"/>
            </a:endParaRPr>
          </a:p>
        </p:txBody>
      </p:sp>
      <p:sp>
        <p:nvSpPr>
          <p:cNvPr id="41" name="Shape 1"/>
          <p:cNvSpPr/>
          <p:nvPr/>
        </p:nvSpPr>
        <p:spPr>
          <a:xfrm>
            <a:off x="548640" y="1600200"/>
            <a:ext cx="5120280" cy="4297320"/>
          </a:xfrm>
          <a:prstGeom prst="roundRect">
            <a:avLst>
              <a:gd name="adj" fmla="val 2553"/>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2" name="Text 2"/>
          <p:cNvSpPr/>
          <p:nvPr/>
        </p:nvSpPr>
        <p:spPr>
          <a:xfrm>
            <a:off x="822960" y="1828800"/>
            <a:ext cx="45716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6B7280"/>
                </a:solidFill>
                <a:effectLst/>
                <a:uFillTx/>
                <a:latin typeface="Calibri"/>
                <a:ea typeface="Calibri"/>
              </a:rPr>
              <a:t>A plain LLM call</a:t>
            </a:r>
            <a:endParaRPr lang="en-US" sz="1700" b="0" u="none" strike="noStrike">
              <a:solidFill>
                <a:srgbClr val="000000"/>
              </a:solidFill>
              <a:effectLst/>
              <a:uFillTx/>
              <a:latin typeface="Arial"/>
            </a:endParaRPr>
          </a:p>
        </p:txBody>
      </p:sp>
      <p:sp>
        <p:nvSpPr>
          <p:cNvPr id="43" name="Text 3"/>
          <p:cNvSpPr/>
          <p:nvPr/>
        </p:nvSpPr>
        <p:spPr>
          <a:xfrm>
            <a:off x="822960" y="2514600"/>
            <a:ext cx="457164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1D3557"/>
                </a:solidFill>
                <a:effectLst/>
                <a:uFillTx/>
                <a:latin typeface="Calibri"/>
                <a:ea typeface="Calibri"/>
              </a:rPr>
              <a:t>Prompt in</a:t>
            </a:r>
            <a:endParaRPr lang="en-US" sz="1900" b="0" u="none" strike="noStrike">
              <a:solidFill>
                <a:srgbClr val="000000"/>
              </a:solidFill>
              <a:effectLst/>
              <a:uFillTx/>
              <a:latin typeface="Arial"/>
            </a:endParaRPr>
          </a:p>
        </p:txBody>
      </p:sp>
      <p:sp>
        <p:nvSpPr>
          <p:cNvPr id="44" name="Text 4"/>
          <p:cNvSpPr/>
          <p:nvPr/>
        </p:nvSpPr>
        <p:spPr>
          <a:xfrm>
            <a:off x="822960" y="3063240"/>
            <a:ext cx="457164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6B7280"/>
                </a:solidFill>
                <a:effectLst/>
                <a:uFillTx/>
                <a:latin typeface="Calibri"/>
                <a:ea typeface="Calibri"/>
              </a:rPr>
              <a:t>↓</a:t>
            </a:r>
            <a:endParaRPr lang="en-US" sz="1600" b="0" u="none" strike="noStrike">
              <a:solidFill>
                <a:srgbClr val="000000"/>
              </a:solidFill>
              <a:effectLst/>
              <a:uFillTx/>
              <a:latin typeface="Arial"/>
            </a:endParaRPr>
          </a:p>
        </p:txBody>
      </p:sp>
      <p:sp>
        <p:nvSpPr>
          <p:cNvPr id="45" name="Text 5"/>
          <p:cNvSpPr/>
          <p:nvPr/>
        </p:nvSpPr>
        <p:spPr>
          <a:xfrm>
            <a:off x="822960" y="3355920"/>
            <a:ext cx="457164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1D3557"/>
                </a:solidFill>
                <a:effectLst/>
                <a:uFillTx/>
                <a:latin typeface="Calibri"/>
                <a:ea typeface="Calibri"/>
              </a:rPr>
              <a:t>LLM</a:t>
            </a:r>
            <a:endParaRPr lang="en-US" sz="1900" b="0" u="none" strike="noStrike">
              <a:solidFill>
                <a:srgbClr val="000000"/>
              </a:solidFill>
              <a:effectLst/>
              <a:uFillTx/>
              <a:latin typeface="Arial"/>
            </a:endParaRPr>
          </a:p>
        </p:txBody>
      </p:sp>
      <p:sp>
        <p:nvSpPr>
          <p:cNvPr id="46" name="Text 6"/>
          <p:cNvSpPr/>
          <p:nvPr/>
        </p:nvSpPr>
        <p:spPr>
          <a:xfrm>
            <a:off x="822960" y="3904560"/>
            <a:ext cx="457164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6B7280"/>
                </a:solidFill>
                <a:effectLst/>
                <a:uFillTx/>
                <a:latin typeface="Calibri"/>
                <a:ea typeface="Calibri"/>
              </a:rPr>
              <a:t>↓</a:t>
            </a:r>
            <a:endParaRPr lang="en-US" sz="1600" b="0" u="none" strike="noStrike">
              <a:solidFill>
                <a:srgbClr val="000000"/>
              </a:solidFill>
              <a:effectLst/>
              <a:uFillTx/>
              <a:latin typeface="Arial"/>
            </a:endParaRPr>
          </a:p>
        </p:txBody>
      </p:sp>
      <p:sp>
        <p:nvSpPr>
          <p:cNvPr id="47" name="Text 7"/>
          <p:cNvSpPr/>
          <p:nvPr/>
        </p:nvSpPr>
        <p:spPr>
          <a:xfrm>
            <a:off x="822960" y="4197240"/>
            <a:ext cx="457164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1D3557"/>
                </a:solidFill>
                <a:effectLst/>
                <a:uFillTx/>
                <a:latin typeface="Calibri"/>
                <a:ea typeface="Calibri"/>
              </a:rPr>
              <a:t>Text out</a:t>
            </a:r>
            <a:endParaRPr lang="en-US" sz="1900" b="0" u="none" strike="noStrike">
              <a:solidFill>
                <a:srgbClr val="000000"/>
              </a:solidFill>
              <a:effectLst/>
              <a:uFillTx/>
              <a:latin typeface="Arial"/>
            </a:endParaRPr>
          </a:p>
        </p:txBody>
      </p:sp>
      <p:sp>
        <p:nvSpPr>
          <p:cNvPr id="48" name="Text 8"/>
          <p:cNvSpPr/>
          <p:nvPr/>
        </p:nvSpPr>
        <p:spPr>
          <a:xfrm>
            <a:off x="822960" y="5349240"/>
            <a:ext cx="457164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i="1" u="none" strike="noStrike">
                <a:solidFill>
                  <a:srgbClr val="6B7280"/>
                </a:solidFill>
                <a:effectLst/>
                <a:uFillTx/>
                <a:latin typeface="Calibri"/>
                <a:ea typeface="Calibri"/>
              </a:rPr>
              <a:t>One shot. Fixed. You write 100% of the control flow.</a:t>
            </a:r>
            <a:endParaRPr lang="en-US" sz="1300" b="0" u="none" strike="noStrike">
              <a:solidFill>
                <a:srgbClr val="000000"/>
              </a:solidFill>
              <a:effectLst/>
              <a:uFillTx/>
              <a:latin typeface="Arial"/>
            </a:endParaRPr>
          </a:p>
        </p:txBody>
      </p:sp>
      <p:sp>
        <p:nvSpPr>
          <p:cNvPr id="49" name="Shape 9"/>
          <p:cNvSpPr/>
          <p:nvPr/>
        </p:nvSpPr>
        <p:spPr>
          <a:xfrm>
            <a:off x="5989320" y="1600200"/>
            <a:ext cx="5623200" cy="4297320"/>
          </a:xfrm>
          <a:prstGeom prst="roundRect">
            <a:avLst>
              <a:gd name="adj" fmla="val 2553"/>
            </a:avLst>
          </a:prstGeom>
          <a:solidFill>
            <a:srgbClr val="1D3557"/>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0" name="Text 10"/>
          <p:cNvSpPr/>
          <p:nvPr/>
        </p:nvSpPr>
        <p:spPr>
          <a:xfrm>
            <a:off x="6263640" y="1828800"/>
            <a:ext cx="50288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D6E4F0"/>
                </a:solidFill>
                <a:effectLst/>
                <a:uFillTx/>
                <a:latin typeface="Calibri"/>
                <a:ea typeface="Calibri"/>
              </a:rPr>
              <a:t>An agent</a:t>
            </a:r>
            <a:endParaRPr lang="en-US" sz="1700" b="0" u="none" strike="noStrike">
              <a:solidFill>
                <a:srgbClr val="000000"/>
              </a:solidFill>
              <a:effectLst/>
              <a:uFillTx/>
              <a:latin typeface="Arial"/>
            </a:endParaRPr>
          </a:p>
        </p:txBody>
      </p:sp>
      <p:sp>
        <p:nvSpPr>
          <p:cNvPr id="51" name="Text 11"/>
          <p:cNvSpPr/>
          <p:nvPr/>
        </p:nvSpPr>
        <p:spPr>
          <a:xfrm>
            <a:off x="6263640" y="2331720"/>
            <a:ext cx="502884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FFFFF"/>
                </a:solidFill>
                <a:effectLst/>
                <a:uFillTx/>
                <a:latin typeface="Calibri"/>
                <a:ea typeface="Calibri"/>
              </a:rPr>
              <a:t>Input</a:t>
            </a:r>
            <a:endParaRPr lang="en-US" sz="1600" b="0" u="none" strike="noStrike">
              <a:solidFill>
                <a:srgbClr val="000000"/>
              </a:solidFill>
              <a:effectLst/>
              <a:uFillTx/>
              <a:latin typeface="Arial"/>
            </a:endParaRPr>
          </a:p>
        </p:txBody>
      </p:sp>
      <p:sp>
        <p:nvSpPr>
          <p:cNvPr id="52" name="Text 12"/>
          <p:cNvSpPr/>
          <p:nvPr/>
        </p:nvSpPr>
        <p:spPr>
          <a:xfrm>
            <a:off x="6263640" y="2715840"/>
            <a:ext cx="5028840" cy="219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D6E4F0"/>
                </a:solidFill>
                <a:effectLst/>
                <a:uFillTx/>
                <a:latin typeface="Calibri"/>
                <a:ea typeface="Calibri"/>
              </a:rPr>
              <a:t>↓</a:t>
            </a:r>
            <a:endParaRPr lang="en-US" sz="1400" b="0" u="none" strike="noStrike">
              <a:solidFill>
                <a:srgbClr val="000000"/>
              </a:solidFill>
              <a:effectLst/>
              <a:uFillTx/>
              <a:latin typeface="Arial"/>
            </a:endParaRPr>
          </a:p>
        </p:txBody>
      </p:sp>
      <p:sp>
        <p:nvSpPr>
          <p:cNvPr id="53" name="Text 13"/>
          <p:cNvSpPr/>
          <p:nvPr/>
        </p:nvSpPr>
        <p:spPr>
          <a:xfrm>
            <a:off x="6263640" y="2953440"/>
            <a:ext cx="502884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6FD3C4"/>
                </a:solidFill>
                <a:effectLst/>
                <a:uFillTx/>
                <a:latin typeface="Calibri"/>
                <a:ea typeface="Calibri"/>
              </a:rPr>
              <a:t>LLM decides</a:t>
            </a:r>
            <a:endParaRPr lang="en-US" sz="1600" b="0" u="none" strike="noStrike">
              <a:solidFill>
                <a:srgbClr val="000000"/>
              </a:solidFill>
              <a:effectLst/>
              <a:uFillTx/>
              <a:latin typeface="Arial"/>
            </a:endParaRPr>
          </a:p>
        </p:txBody>
      </p:sp>
      <p:sp>
        <p:nvSpPr>
          <p:cNvPr id="54" name="Text 14"/>
          <p:cNvSpPr/>
          <p:nvPr/>
        </p:nvSpPr>
        <p:spPr>
          <a:xfrm>
            <a:off x="6263640" y="3337560"/>
            <a:ext cx="5028840" cy="219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D6E4F0"/>
                </a:solidFill>
                <a:effectLst/>
                <a:uFillTx/>
                <a:latin typeface="Calibri"/>
                <a:ea typeface="Calibri"/>
              </a:rPr>
              <a:t>↓</a:t>
            </a:r>
            <a:endParaRPr lang="en-US" sz="1400" b="0" u="none" strike="noStrike">
              <a:solidFill>
                <a:srgbClr val="000000"/>
              </a:solidFill>
              <a:effectLst/>
              <a:uFillTx/>
              <a:latin typeface="Arial"/>
            </a:endParaRPr>
          </a:p>
        </p:txBody>
      </p:sp>
      <p:sp>
        <p:nvSpPr>
          <p:cNvPr id="55" name="Text 15"/>
          <p:cNvSpPr/>
          <p:nvPr/>
        </p:nvSpPr>
        <p:spPr>
          <a:xfrm>
            <a:off x="6263640" y="3575160"/>
            <a:ext cx="502884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FFFFF"/>
                </a:solidFill>
                <a:effectLst/>
                <a:uFillTx/>
                <a:latin typeface="Calibri"/>
                <a:ea typeface="Calibri"/>
              </a:rPr>
              <a:t>Tool call → result</a:t>
            </a:r>
            <a:endParaRPr lang="en-US" sz="1600" b="0" u="none" strike="noStrike">
              <a:solidFill>
                <a:srgbClr val="000000"/>
              </a:solidFill>
              <a:effectLst/>
              <a:uFillTx/>
              <a:latin typeface="Arial"/>
            </a:endParaRPr>
          </a:p>
        </p:txBody>
      </p:sp>
      <p:sp>
        <p:nvSpPr>
          <p:cNvPr id="56" name="Text 16"/>
          <p:cNvSpPr/>
          <p:nvPr/>
        </p:nvSpPr>
        <p:spPr>
          <a:xfrm>
            <a:off x="6263640" y="3959280"/>
            <a:ext cx="5028840" cy="219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D6E4F0"/>
                </a:solidFill>
                <a:effectLst/>
                <a:uFillTx/>
                <a:latin typeface="Calibri"/>
                <a:ea typeface="Calibri"/>
              </a:rPr>
              <a:t>↓</a:t>
            </a:r>
            <a:endParaRPr lang="en-US" sz="1400" b="0" u="none" strike="noStrike">
              <a:solidFill>
                <a:srgbClr val="000000"/>
              </a:solidFill>
              <a:effectLst/>
              <a:uFillTx/>
              <a:latin typeface="Arial"/>
            </a:endParaRPr>
          </a:p>
        </p:txBody>
      </p:sp>
      <p:sp>
        <p:nvSpPr>
          <p:cNvPr id="57" name="Text 17"/>
          <p:cNvSpPr/>
          <p:nvPr/>
        </p:nvSpPr>
        <p:spPr>
          <a:xfrm>
            <a:off x="6263640" y="4197240"/>
            <a:ext cx="502884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6FD3C4"/>
                </a:solidFill>
                <a:effectLst/>
                <a:uFillTx/>
                <a:latin typeface="Calibri"/>
                <a:ea typeface="Calibri"/>
              </a:rPr>
              <a:t>LLM decides again</a:t>
            </a:r>
            <a:endParaRPr lang="en-US" sz="1600" b="0" u="none" strike="noStrike">
              <a:solidFill>
                <a:srgbClr val="000000"/>
              </a:solidFill>
              <a:effectLst/>
              <a:uFillTx/>
              <a:latin typeface="Arial"/>
            </a:endParaRPr>
          </a:p>
        </p:txBody>
      </p:sp>
      <p:sp>
        <p:nvSpPr>
          <p:cNvPr id="58" name="Text 18"/>
          <p:cNvSpPr/>
          <p:nvPr/>
        </p:nvSpPr>
        <p:spPr>
          <a:xfrm>
            <a:off x="6263640" y="4581000"/>
            <a:ext cx="5028840" cy="219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D6E4F0"/>
                </a:solidFill>
                <a:effectLst/>
                <a:uFillTx/>
                <a:latin typeface="Calibri"/>
                <a:ea typeface="Calibri"/>
              </a:rPr>
              <a:t>↓</a:t>
            </a:r>
            <a:endParaRPr lang="en-US" sz="1400" b="0" u="none" strike="noStrike">
              <a:solidFill>
                <a:srgbClr val="000000"/>
              </a:solidFill>
              <a:effectLst/>
              <a:uFillTx/>
              <a:latin typeface="Arial"/>
            </a:endParaRPr>
          </a:p>
        </p:txBody>
      </p:sp>
      <p:sp>
        <p:nvSpPr>
          <p:cNvPr id="59" name="Text 19"/>
          <p:cNvSpPr/>
          <p:nvPr/>
        </p:nvSpPr>
        <p:spPr>
          <a:xfrm>
            <a:off x="6263640" y="4818960"/>
            <a:ext cx="502884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FFFFF"/>
                </a:solidFill>
                <a:effectLst/>
                <a:uFillTx/>
                <a:latin typeface="Calibri"/>
                <a:ea typeface="Calibri"/>
              </a:rPr>
              <a:t>Final answer</a:t>
            </a:r>
            <a:endParaRPr lang="en-US" sz="1600" b="0" u="none" strike="noStrike">
              <a:solidFill>
                <a:srgbClr val="000000"/>
              </a:solidFill>
              <a:effectLst/>
              <a:uFillTx/>
              <a:latin typeface="Arial"/>
            </a:endParaRPr>
          </a:p>
        </p:txBody>
      </p:sp>
      <p:sp>
        <p:nvSpPr>
          <p:cNvPr id="60" name="Text 20"/>
          <p:cNvSpPr/>
          <p:nvPr/>
        </p:nvSpPr>
        <p:spPr>
          <a:xfrm>
            <a:off x="548640" y="5989320"/>
            <a:ext cx="1106388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i="1" u="none" strike="noStrike">
                <a:solidFill>
                  <a:srgbClr val="1D3557"/>
                </a:solidFill>
                <a:effectLst/>
                <a:uFillTx/>
                <a:latin typeface="Calibri"/>
                <a:ea typeface="Calibri"/>
              </a:rPr>
              <a:t>The key word is “decide.”</a:t>
            </a:r>
            <a:endParaRPr lang="en-US" sz="1500" b="0" u="none" strike="noStrike">
              <a:solidFill>
                <a:srgbClr val="000000"/>
              </a:solidFill>
              <a:effectLst/>
              <a:uFillTx/>
              <a:latin typeface="Arial"/>
            </a:endParaRPr>
          </a:p>
        </p:txBody>
      </p:sp>
      <p:sp>
        <p:nvSpPr>
          <p:cNvPr id="61" name="Text 21"/>
          <p:cNvSpPr/>
          <p:nvPr/>
        </p:nvSpPr>
        <p:spPr>
          <a:xfrm>
            <a:off x="548640" y="653796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9AA5B1"/>
                </a:solidFill>
                <a:effectLst/>
                <a:uFillTx/>
                <a:latin typeface="Calibri"/>
                <a:ea typeface="Calibri"/>
              </a:rPr>
              <a:t>AI Agent Development Workshop</a:t>
            </a:r>
            <a:endParaRPr lang="en-US" sz="1000" b="0" u="none" strike="noStrike">
              <a:solidFill>
                <a:srgbClr val="000000"/>
              </a:solidFill>
              <a:effectLst/>
              <a:uFillTx/>
              <a:latin typeface="Arial"/>
            </a:endParaRPr>
          </a:p>
        </p:txBody>
      </p:sp>
      <p:sp>
        <p:nvSpPr>
          <p:cNvPr id="62" name="Text 22"/>
          <p:cNvSpPr/>
          <p:nvPr/>
        </p:nvSpPr>
        <p:spPr>
          <a:xfrm>
            <a:off x="10881360" y="6537960"/>
            <a:ext cx="82260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9AA5B1"/>
                </a:solidFill>
                <a:effectLst/>
                <a:uFillTx/>
                <a:latin typeface="Calibri"/>
                <a:ea typeface="Calibri"/>
              </a:rPr>
              <a:t>3 / 19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3" name="Text 0"/>
          <p:cNvSpPr/>
          <p:nvPr/>
        </p:nvSpPr>
        <p:spPr>
          <a:xfrm>
            <a:off x="548640" y="411480"/>
            <a:ext cx="110638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D3557"/>
                </a:solidFill>
                <a:effectLst/>
                <a:uFillTx/>
                <a:latin typeface="Bookman Old Style"/>
                <a:ea typeface="Bookman Old Style"/>
              </a:rPr>
              <a:t>The two layers</a:t>
            </a:r>
            <a:endParaRPr lang="en-US" sz="3200" b="0" u="none" strike="noStrike">
              <a:solidFill>
                <a:srgbClr val="000000"/>
              </a:solidFill>
              <a:effectLst/>
              <a:uFillTx/>
              <a:latin typeface="Arial"/>
            </a:endParaRPr>
          </a:p>
        </p:txBody>
      </p:sp>
      <p:sp>
        <p:nvSpPr>
          <p:cNvPr id="64" name="Shape 1"/>
          <p:cNvSpPr/>
          <p:nvPr/>
        </p:nvSpPr>
        <p:spPr>
          <a:xfrm>
            <a:off x="548640" y="1691640"/>
            <a:ext cx="5394600" cy="4205880"/>
          </a:xfrm>
          <a:prstGeom prst="roundRect">
            <a:avLst>
              <a:gd name="adj" fmla="val 2609"/>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 name="Shape 2"/>
          <p:cNvSpPr/>
          <p:nvPr/>
        </p:nvSpPr>
        <p:spPr>
          <a:xfrm>
            <a:off x="868680" y="1965960"/>
            <a:ext cx="566640" cy="56664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6" name="Text 3"/>
          <p:cNvSpPr/>
          <p:nvPr/>
        </p:nvSpPr>
        <p:spPr>
          <a:xfrm>
            <a:off x="868680" y="1965960"/>
            <a:ext cx="566640" cy="566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LLM</a:t>
            </a:r>
            <a:endParaRPr lang="en-US" sz="1200" b="0" u="none" strike="noStrike">
              <a:solidFill>
                <a:srgbClr val="000000"/>
              </a:solidFill>
              <a:effectLst/>
              <a:uFillTx/>
              <a:latin typeface="Arial"/>
            </a:endParaRPr>
          </a:p>
        </p:txBody>
      </p:sp>
      <p:sp>
        <p:nvSpPr>
          <p:cNvPr id="67" name="Text 4"/>
          <p:cNvSpPr/>
          <p:nvPr/>
        </p:nvSpPr>
        <p:spPr>
          <a:xfrm>
            <a:off x="1600200" y="2011680"/>
            <a:ext cx="4114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D3557"/>
                </a:solidFill>
                <a:effectLst/>
                <a:uFillTx/>
                <a:latin typeface="Calibri"/>
                <a:ea typeface="Calibri"/>
              </a:rPr>
              <a:t>Intelligence layer</a:t>
            </a:r>
            <a:endParaRPr lang="en-US" sz="1700" b="0" u="none" strike="noStrike">
              <a:solidFill>
                <a:srgbClr val="000000"/>
              </a:solidFill>
              <a:effectLst/>
              <a:uFillTx/>
              <a:latin typeface="Arial"/>
            </a:endParaRPr>
          </a:p>
        </p:txBody>
      </p:sp>
      <p:sp>
        <p:nvSpPr>
          <p:cNvPr id="68" name="Text 5"/>
          <p:cNvSpPr/>
          <p:nvPr/>
        </p:nvSpPr>
        <p:spPr>
          <a:xfrm>
            <a:off x="868680" y="2697480"/>
            <a:ext cx="475452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3A3A3A"/>
                </a:solidFill>
                <a:effectLst/>
                <a:uFillTx/>
                <a:latin typeface="Calibri"/>
                <a:ea typeface="Calibri"/>
              </a:rPr>
              <a:t>The LLM itself: language understanding, reasoning.</a:t>
            </a:r>
            <a:endParaRPr lang="en-US" sz="1400" b="0" u="none" strike="noStrike">
              <a:solidFill>
                <a:srgbClr val="000000"/>
              </a:solidFill>
              <a:effectLst/>
              <a:uFillTx/>
              <a:latin typeface="Arial"/>
            </a:endParaRPr>
          </a:p>
        </p:txBody>
      </p:sp>
      <p:sp>
        <p:nvSpPr>
          <p:cNvPr id="69" name="Text 6"/>
          <p:cNvSpPr/>
          <p:nvPr/>
        </p:nvSpPr>
        <p:spPr>
          <a:xfrm>
            <a:off x="868680" y="5394960"/>
            <a:ext cx="475452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i="1" u="none" strike="noStrike">
                <a:solidFill>
                  <a:srgbClr val="2A9D8F"/>
                </a:solidFill>
                <a:effectLst/>
                <a:uFillTx/>
                <a:latin typeface="Calibri"/>
                <a:ea typeface="Calibri"/>
              </a:rPr>
              <a:t>Today: Groq-hosted Llama models</a:t>
            </a:r>
            <a:endParaRPr lang="en-US" sz="1250" b="0" u="none" strike="noStrike">
              <a:solidFill>
                <a:srgbClr val="000000"/>
              </a:solidFill>
              <a:effectLst/>
              <a:uFillTx/>
              <a:latin typeface="Arial"/>
            </a:endParaRPr>
          </a:p>
        </p:txBody>
      </p:sp>
      <p:sp>
        <p:nvSpPr>
          <p:cNvPr id="70" name="Shape 7"/>
          <p:cNvSpPr/>
          <p:nvPr/>
        </p:nvSpPr>
        <p:spPr>
          <a:xfrm>
            <a:off x="6263640" y="1691640"/>
            <a:ext cx="5394600" cy="4205880"/>
          </a:xfrm>
          <a:prstGeom prst="roundRect">
            <a:avLst>
              <a:gd name="adj" fmla="val 2609"/>
            </a:avLst>
          </a:prstGeom>
          <a:solidFill>
            <a:srgbClr val="1D3557"/>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1" name="Shape 8"/>
          <p:cNvSpPr/>
          <p:nvPr/>
        </p:nvSpPr>
        <p:spPr>
          <a:xfrm>
            <a:off x="6583680" y="1965960"/>
            <a:ext cx="566640" cy="566640"/>
          </a:xfrm>
          <a:prstGeom prst="ellipse">
            <a:avLst/>
          </a:prstGeom>
          <a:solidFill>
            <a:srgbClr val="2A9D8F"/>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2" name="Text 9"/>
          <p:cNvSpPr/>
          <p:nvPr/>
        </p:nvSpPr>
        <p:spPr>
          <a:xfrm>
            <a:off x="6583680" y="1965960"/>
            <a:ext cx="566640" cy="566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&lt;/&gt;</a:t>
            </a:r>
            <a:endParaRPr lang="en-US" sz="1300" b="0" u="none" strike="noStrike">
              <a:solidFill>
                <a:srgbClr val="000000"/>
              </a:solidFill>
              <a:effectLst/>
              <a:uFillTx/>
              <a:latin typeface="Arial"/>
            </a:endParaRPr>
          </a:p>
        </p:txBody>
      </p:sp>
      <p:sp>
        <p:nvSpPr>
          <p:cNvPr id="73" name="Text 10"/>
          <p:cNvSpPr/>
          <p:nvPr/>
        </p:nvSpPr>
        <p:spPr>
          <a:xfrm>
            <a:off x="7315200" y="2011680"/>
            <a:ext cx="4114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FFFFF"/>
                </a:solidFill>
                <a:effectLst/>
                <a:uFillTx/>
                <a:latin typeface="Calibri"/>
                <a:ea typeface="Calibri"/>
              </a:rPr>
              <a:t>Agentic layer</a:t>
            </a:r>
            <a:endParaRPr lang="en-US" sz="1700" b="0" u="none" strike="noStrike">
              <a:solidFill>
                <a:srgbClr val="000000"/>
              </a:solidFill>
              <a:effectLst/>
              <a:uFillTx/>
              <a:latin typeface="Arial"/>
            </a:endParaRPr>
          </a:p>
        </p:txBody>
      </p:sp>
      <p:sp>
        <p:nvSpPr>
          <p:cNvPr id="74" name="Shape 11"/>
          <p:cNvSpPr/>
          <p:nvPr/>
        </p:nvSpPr>
        <p:spPr>
          <a:xfrm>
            <a:off x="6583680" y="277992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75" name="Text 12"/>
          <p:cNvSpPr/>
          <p:nvPr/>
        </p:nvSpPr>
        <p:spPr>
          <a:xfrm>
            <a:off x="6839640" y="2642760"/>
            <a:ext cx="44985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FFFFFF"/>
                </a:solidFill>
                <a:effectLst/>
                <a:uFillTx/>
                <a:latin typeface="Calibri"/>
                <a:ea typeface="Calibri"/>
              </a:rPr>
              <a:t>Tools</a:t>
            </a:r>
            <a:endParaRPr lang="en-US" sz="1400" b="0" u="none" strike="noStrike">
              <a:solidFill>
                <a:srgbClr val="000000"/>
              </a:solidFill>
              <a:effectLst/>
              <a:uFillTx/>
              <a:latin typeface="Arial"/>
            </a:endParaRPr>
          </a:p>
        </p:txBody>
      </p:sp>
      <p:sp>
        <p:nvSpPr>
          <p:cNvPr id="76" name="Shape 13"/>
          <p:cNvSpPr/>
          <p:nvPr/>
        </p:nvSpPr>
        <p:spPr>
          <a:xfrm>
            <a:off x="6583680" y="323712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77" name="Text 14"/>
          <p:cNvSpPr/>
          <p:nvPr/>
        </p:nvSpPr>
        <p:spPr>
          <a:xfrm>
            <a:off x="6839640" y="3099960"/>
            <a:ext cx="44985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FFFFFF"/>
                </a:solidFill>
                <a:effectLst/>
                <a:uFillTx/>
                <a:latin typeface="Calibri"/>
                <a:ea typeface="Calibri"/>
              </a:rPr>
              <a:t>Memory</a:t>
            </a:r>
            <a:endParaRPr lang="en-US" sz="1400" b="0" u="none" strike="noStrike">
              <a:solidFill>
                <a:srgbClr val="000000"/>
              </a:solidFill>
              <a:effectLst/>
              <a:uFillTx/>
              <a:latin typeface="Arial"/>
            </a:endParaRPr>
          </a:p>
        </p:txBody>
      </p:sp>
      <p:sp>
        <p:nvSpPr>
          <p:cNvPr id="78" name="Shape 15"/>
          <p:cNvSpPr/>
          <p:nvPr/>
        </p:nvSpPr>
        <p:spPr>
          <a:xfrm>
            <a:off x="6583680" y="369432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79" name="Text 16"/>
          <p:cNvSpPr/>
          <p:nvPr/>
        </p:nvSpPr>
        <p:spPr>
          <a:xfrm>
            <a:off x="6839640" y="3557160"/>
            <a:ext cx="44985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FFFFFF"/>
                </a:solidFill>
                <a:effectLst/>
                <a:uFillTx/>
                <a:latin typeface="Calibri"/>
                <a:ea typeface="Calibri"/>
              </a:rPr>
              <a:t>Control flow (when to loop, when to stop)</a:t>
            </a:r>
            <a:endParaRPr lang="en-US" sz="1400" b="0" u="none" strike="noStrike">
              <a:solidFill>
                <a:srgbClr val="000000"/>
              </a:solidFill>
              <a:effectLst/>
              <a:uFillTx/>
              <a:latin typeface="Arial"/>
            </a:endParaRPr>
          </a:p>
        </p:txBody>
      </p:sp>
      <p:sp>
        <p:nvSpPr>
          <p:cNvPr id="80" name="Text 17"/>
          <p:cNvSpPr/>
          <p:nvPr/>
        </p:nvSpPr>
        <p:spPr>
          <a:xfrm>
            <a:off x="6583680" y="5394960"/>
            <a:ext cx="475452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i="1" u="none" strike="noStrike">
                <a:solidFill>
                  <a:srgbClr val="6FD3C4"/>
                </a:solidFill>
                <a:effectLst/>
                <a:uFillTx/>
                <a:latin typeface="Calibri"/>
                <a:ea typeface="Calibri"/>
              </a:rPr>
              <a:t>Today: your Python code + LangChain</a:t>
            </a:r>
            <a:endParaRPr lang="en-US" sz="1250" b="0" u="none" strike="noStrike">
              <a:solidFill>
                <a:srgbClr val="000000"/>
              </a:solidFill>
              <a:effectLst/>
              <a:uFillTx/>
              <a:latin typeface="Arial"/>
            </a:endParaRPr>
          </a:p>
        </p:txBody>
      </p:sp>
      <p:sp>
        <p:nvSpPr>
          <p:cNvPr id="81" name="Text 18"/>
          <p:cNvSpPr/>
          <p:nvPr/>
        </p:nvSpPr>
        <p:spPr>
          <a:xfrm>
            <a:off x="548640" y="653796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9AA5B1"/>
                </a:solidFill>
                <a:effectLst/>
                <a:uFillTx/>
                <a:latin typeface="Calibri"/>
                <a:ea typeface="Calibri"/>
              </a:rPr>
              <a:t>AI Agent Development Workshop</a:t>
            </a:r>
            <a:endParaRPr lang="en-US" sz="1000" b="0" u="none" strike="noStrike">
              <a:solidFill>
                <a:srgbClr val="000000"/>
              </a:solidFill>
              <a:effectLst/>
              <a:uFillTx/>
              <a:latin typeface="Arial"/>
            </a:endParaRPr>
          </a:p>
        </p:txBody>
      </p:sp>
      <p:sp>
        <p:nvSpPr>
          <p:cNvPr id="82" name="Text 19"/>
          <p:cNvSpPr/>
          <p:nvPr/>
        </p:nvSpPr>
        <p:spPr>
          <a:xfrm>
            <a:off x="10881360" y="6537960"/>
            <a:ext cx="82260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9AA5B1"/>
                </a:solidFill>
                <a:effectLst/>
                <a:uFillTx/>
                <a:latin typeface="Calibri"/>
                <a:ea typeface="Calibri"/>
              </a:rPr>
              <a:t>4 / 19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3" name="Text 0"/>
          <p:cNvSpPr/>
          <p:nvPr/>
        </p:nvSpPr>
        <p:spPr>
          <a:xfrm>
            <a:off x="548640" y="411480"/>
            <a:ext cx="110638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D3557"/>
                </a:solidFill>
                <a:effectLst/>
                <a:uFillTx/>
                <a:latin typeface="Bookman Old Style"/>
                <a:ea typeface="Bookman Old Style"/>
              </a:rPr>
              <a:t>What can an agent do?</a:t>
            </a:r>
            <a:endParaRPr lang="en-US" sz="3200" b="0" u="none" strike="noStrike">
              <a:solidFill>
                <a:srgbClr val="000000"/>
              </a:solidFill>
              <a:effectLst/>
              <a:uFillTx/>
              <a:latin typeface="Arial"/>
            </a:endParaRPr>
          </a:p>
        </p:txBody>
      </p:sp>
      <p:sp>
        <p:nvSpPr>
          <p:cNvPr id="84" name="Shape 1"/>
          <p:cNvSpPr/>
          <p:nvPr/>
        </p:nvSpPr>
        <p:spPr>
          <a:xfrm>
            <a:off x="548640" y="1828800"/>
            <a:ext cx="2651400" cy="2742840"/>
          </a:xfrm>
          <a:prstGeom prst="roundRect">
            <a:avLst>
              <a:gd name="adj" fmla="val 4138"/>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5" name="Shape 2"/>
          <p:cNvSpPr/>
          <p:nvPr/>
        </p:nvSpPr>
        <p:spPr>
          <a:xfrm>
            <a:off x="1554480" y="2148840"/>
            <a:ext cx="639720" cy="63972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6" name="Text 3"/>
          <p:cNvSpPr/>
          <p:nvPr/>
        </p:nvSpPr>
        <p:spPr>
          <a:xfrm>
            <a:off x="1554480" y="2148840"/>
            <a:ext cx="639720" cy="639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FFFFF"/>
                </a:solidFill>
                <a:effectLst/>
                <a:uFillTx/>
                <a:latin typeface="Calibri"/>
                <a:ea typeface="Calibri"/>
              </a:rPr>
              <a:t>R</a:t>
            </a:r>
            <a:endParaRPr lang="en-US" sz="2000" b="0" u="none" strike="noStrike">
              <a:solidFill>
                <a:srgbClr val="000000"/>
              </a:solidFill>
              <a:effectLst/>
              <a:uFillTx/>
              <a:latin typeface="Arial"/>
            </a:endParaRPr>
          </a:p>
        </p:txBody>
      </p:sp>
      <p:sp>
        <p:nvSpPr>
          <p:cNvPr id="87" name="Text 4"/>
          <p:cNvSpPr/>
          <p:nvPr/>
        </p:nvSpPr>
        <p:spPr>
          <a:xfrm>
            <a:off x="685800" y="2971800"/>
            <a:ext cx="237708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1D3557"/>
                </a:solidFill>
                <a:effectLst/>
                <a:uFillTx/>
                <a:latin typeface="Calibri"/>
                <a:ea typeface="Calibri"/>
              </a:rPr>
              <a:t>Retrieve</a:t>
            </a:r>
            <a:endParaRPr lang="en-US" sz="1600" b="0" u="none" strike="noStrike">
              <a:solidFill>
                <a:srgbClr val="000000"/>
              </a:solidFill>
              <a:effectLst/>
              <a:uFillTx/>
              <a:latin typeface="Arial"/>
            </a:endParaRPr>
          </a:p>
        </p:txBody>
      </p:sp>
      <p:sp>
        <p:nvSpPr>
          <p:cNvPr id="88" name="Text 5"/>
          <p:cNvSpPr/>
          <p:nvPr/>
        </p:nvSpPr>
        <p:spPr>
          <a:xfrm>
            <a:off x="731520" y="3383280"/>
            <a:ext cx="2285640" cy="1005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50" b="0" u="none" strike="noStrike">
                <a:solidFill>
                  <a:srgbClr val="6B7280"/>
                </a:solidFill>
                <a:effectLst/>
                <a:uFillTx/>
                <a:latin typeface="Calibri"/>
                <a:ea typeface="Calibri"/>
              </a:rPr>
              <a:t>Look something up</a:t>
            </a:r>
            <a:endParaRPr lang="en-US" sz="1250" b="0" u="none" strike="noStrike">
              <a:solidFill>
                <a:srgbClr val="000000"/>
              </a:solidFill>
              <a:effectLst/>
              <a:uFillTx/>
              <a:latin typeface="Arial"/>
            </a:endParaRPr>
          </a:p>
        </p:txBody>
      </p:sp>
      <p:sp>
        <p:nvSpPr>
          <p:cNvPr id="89" name="Shape 6"/>
          <p:cNvSpPr/>
          <p:nvPr/>
        </p:nvSpPr>
        <p:spPr>
          <a:xfrm>
            <a:off x="3429000" y="1828800"/>
            <a:ext cx="2651400" cy="2742840"/>
          </a:xfrm>
          <a:prstGeom prst="roundRect">
            <a:avLst>
              <a:gd name="adj" fmla="val 4138"/>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0" name="Shape 7"/>
          <p:cNvSpPr/>
          <p:nvPr/>
        </p:nvSpPr>
        <p:spPr>
          <a:xfrm>
            <a:off x="4434840" y="2148840"/>
            <a:ext cx="639720" cy="63972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1" name="Text 8"/>
          <p:cNvSpPr/>
          <p:nvPr/>
        </p:nvSpPr>
        <p:spPr>
          <a:xfrm>
            <a:off x="4434840" y="2148840"/>
            <a:ext cx="639720" cy="639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FFFFF"/>
                </a:solidFill>
                <a:effectLst/>
                <a:uFillTx/>
                <a:latin typeface="Calibri"/>
                <a:ea typeface="Calibri"/>
              </a:rPr>
              <a:t>D</a:t>
            </a:r>
            <a:endParaRPr lang="en-US" sz="2000" b="0" u="none" strike="noStrike">
              <a:solidFill>
                <a:srgbClr val="000000"/>
              </a:solidFill>
              <a:effectLst/>
              <a:uFillTx/>
              <a:latin typeface="Arial"/>
            </a:endParaRPr>
          </a:p>
        </p:txBody>
      </p:sp>
      <p:sp>
        <p:nvSpPr>
          <p:cNvPr id="92" name="Text 9"/>
          <p:cNvSpPr/>
          <p:nvPr/>
        </p:nvSpPr>
        <p:spPr>
          <a:xfrm>
            <a:off x="3566160" y="2971800"/>
            <a:ext cx="237708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1D3557"/>
                </a:solidFill>
                <a:effectLst/>
                <a:uFillTx/>
                <a:latin typeface="Calibri"/>
                <a:ea typeface="Calibri"/>
              </a:rPr>
              <a:t>Decide</a:t>
            </a:r>
            <a:endParaRPr lang="en-US" sz="1600" b="0" u="none" strike="noStrike">
              <a:solidFill>
                <a:srgbClr val="000000"/>
              </a:solidFill>
              <a:effectLst/>
              <a:uFillTx/>
              <a:latin typeface="Arial"/>
            </a:endParaRPr>
          </a:p>
        </p:txBody>
      </p:sp>
      <p:sp>
        <p:nvSpPr>
          <p:cNvPr id="93" name="Text 10"/>
          <p:cNvSpPr/>
          <p:nvPr/>
        </p:nvSpPr>
        <p:spPr>
          <a:xfrm>
            <a:off x="3611880" y="3383280"/>
            <a:ext cx="2285640" cy="1005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50" b="0" u="none" strike="noStrike">
                <a:solidFill>
                  <a:srgbClr val="6B7280"/>
                </a:solidFill>
                <a:effectLst/>
                <a:uFillTx/>
                <a:latin typeface="Calibri"/>
                <a:ea typeface="Calibri"/>
              </a:rPr>
              <a:t>Score, classify, choose an action</a:t>
            </a:r>
            <a:endParaRPr lang="en-US" sz="1250" b="0" u="none" strike="noStrike">
              <a:solidFill>
                <a:srgbClr val="000000"/>
              </a:solidFill>
              <a:effectLst/>
              <a:uFillTx/>
              <a:latin typeface="Arial"/>
            </a:endParaRPr>
          </a:p>
        </p:txBody>
      </p:sp>
      <p:sp>
        <p:nvSpPr>
          <p:cNvPr id="94" name="Shape 11"/>
          <p:cNvSpPr/>
          <p:nvPr/>
        </p:nvSpPr>
        <p:spPr>
          <a:xfrm>
            <a:off x="6309360" y="1828800"/>
            <a:ext cx="2651400" cy="2742840"/>
          </a:xfrm>
          <a:prstGeom prst="roundRect">
            <a:avLst>
              <a:gd name="adj" fmla="val 4138"/>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5" name="Shape 12"/>
          <p:cNvSpPr/>
          <p:nvPr/>
        </p:nvSpPr>
        <p:spPr>
          <a:xfrm>
            <a:off x="7315200" y="2148840"/>
            <a:ext cx="639720" cy="63972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6" name="Text 13"/>
          <p:cNvSpPr/>
          <p:nvPr/>
        </p:nvSpPr>
        <p:spPr>
          <a:xfrm>
            <a:off x="7315200" y="2148840"/>
            <a:ext cx="639720" cy="639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FFFFF"/>
                </a:solidFill>
                <a:effectLst/>
                <a:uFillTx/>
                <a:latin typeface="Calibri"/>
                <a:ea typeface="Calibri"/>
              </a:rPr>
              <a:t>A</a:t>
            </a:r>
            <a:endParaRPr lang="en-US" sz="2000" b="0" u="none" strike="noStrike">
              <a:solidFill>
                <a:srgbClr val="000000"/>
              </a:solidFill>
              <a:effectLst/>
              <a:uFillTx/>
              <a:latin typeface="Arial"/>
            </a:endParaRPr>
          </a:p>
        </p:txBody>
      </p:sp>
      <p:sp>
        <p:nvSpPr>
          <p:cNvPr id="97" name="Text 14"/>
          <p:cNvSpPr/>
          <p:nvPr/>
        </p:nvSpPr>
        <p:spPr>
          <a:xfrm>
            <a:off x="6446520" y="2971800"/>
            <a:ext cx="237708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1D3557"/>
                </a:solidFill>
                <a:effectLst/>
                <a:uFillTx/>
                <a:latin typeface="Calibri"/>
                <a:ea typeface="Calibri"/>
              </a:rPr>
              <a:t>Act</a:t>
            </a:r>
            <a:endParaRPr lang="en-US" sz="1600" b="0" u="none" strike="noStrike">
              <a:solidFill>
                <a:srgbClr val="000000"/>
              </a:solidFill>
              <a:effectLst/>
              <a:uFillTx/>
              <a:latin typeface="Arial"/>
            </a:endParaRPr>
          </a:p>
        </p:txBody>
      </p:sp>
      <p:sp>
        <p:nvSpPr>
          <p:cNvPr id="98" name="Text 15"/>
          <p:cNvSpPr/>
          <p:nvPr/>
        </p:nvSpPr>
        <p:spPr>
          <a:xfrm>
            <a:off x="6492240" y="3383280"/>
            <a:ext cx="2285640" cy="1005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50" b="0" u="none" strike="noStrike">
                <a:solidFill>
                  <a:srgbClr val="6B7280"/>
                </a:solidFill>
                <a:effectLst/>
                <a:uFillTx/>
                <a:latin typeface="Calibri"/>
                <a:ea typeface="Calibri"/>
              </a:rPr>
              <a:t>Call a tool that actually does something</a:t>
            </a:r>
            <a:endParaRPr lang="en-US" sz="1250" b="0" u="none" strike="noStrike">
              <a:solidFill>
                <a:srgbClr val="000000"/>
              </a:solidFill>
              <a:effectLst/>
              <a:uFillTx/>
              <a:latin typeface="Arial"/>
            </a:endParaRPr>
          </a:p>
        </p:txBody>
      </p:sp>
      <p:sp>
        <p:nvSpPr>
          <p:cNvPr id="99" name="Shape 16"/>
          <p:cNvSpPr/>
          <p:nvPr/>
        </p:nvSpPr>
        <p:spPr>
          <a:xfrm>
            <a:off x="9189720" y="1828800"/>
            <a:ext cx="2651400" cy="2742840"/>
          </a:xfrm>
          <a:prstGeom prst="roundRect">
            <a:avLst>
              <a:gd name="adj" fmla="val 4138"/>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0" name="Shape 17"/>
          <p:cNvSpPr/>
          <p:nvPr/>
        </p:nvSpPr>
        <p:spPr>
          <a:xfrm>
            <a:off x="10195560" y="2148840"/>
            <a:ext cx="639720" cy="63972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1" name="Text 18"/>
          <p:cNvSpPr/>
          <p:nvPr/>
        </p:nvSpPr>
        <p:spPr>
          <a:xfrm>
            <a:off x="10195560" y="2148840"/>
            <a:ext cx="639720" cy="639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FFFFFF"/>
                </a:solidFill>
                <a:effectLst/>
                <a:uFillTx/>
                <a:latin typeface="Calibri"/>
                <a:ea typeface="Calibri"/>
              </a:rPr>
              <a:t>C</a:t>
            </a:r>
            <a:endParaRPr lang="en-US" sz="2000" b="0" u="none" strike="noStrike">
              <a:solidFill>
                <a:srgbClr val="000000"/>
              </a:solidFill>
              <a:effectLst/>
              <a:uFillTx/>
              <a:latin typeface="Arial"/>
            </a:endParaRPr>
          </a:p>
        </p:txBody>
      </p:sp>
      <p:sp>
        <p:nvSpPr>
          <p:cNvPr id="102" name="Text 19"/>
          <p:cNvSpPr/>
          <p:nvPr/>
        </p:nvSpPr>
        <p:spPr>
          <a:xfrm>
            <a:off x="9326880" y="2971800"/>
            <a:ext cx="237708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1D3557"/>
                </a:solidFill>
                <a:effectLst/>
                <a:uFillTx/>
                <a:latin typeface="Calibri"/>
                <a:ea typeface="Calibri"/>
              </a:rPr>
              <a:t>Chain</a:t>
            </a:r>
            <a:endParaRPr lang="en-US" sz="1600" b="0" u="none" strike="noStrike">
              <a:solidFill>
                <a:srgbClr val="000000"/>
              </a:solidFill>
              <a:effectLst/>
              <a:uFillTx/>
              <a:latin typeface="Arial"/>
            </a:endParaRPr>
          </a:p>
        </p:txBody>
      </p:sp>
      <p:sp>
        <p:nvSpPr>
          <p:cNvPr id="103" name="Text 20"/>
          <p:cNvSpPr/>
          <p:nvPr/>
        </p:nvSpPr>
        <p:spPr>
          <a:xfrm>
            <a:off x="9372600" y="3383280"/>
            <a:ext cx="2285640" cy="1005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50" b="0" u="none" strike="noStrike">
                <a:solidFill>
                  <a:srgbClr val="6B7280"/>
                </a:solidFill>
                <a:effectLst/>
                <a:uFillTx/>
                <a:latin typeface="Calibri"/>
                <a:ea typeface="Calibri"/>
              </a:rPr>
              <a:t>Repeat those steps until a goal is met</a:t>
            </a:r>
            <a:endParaRPr lang="en-US" sz="1250" b="0" u="none" strike="noStrike">
              <a:solidFill>
                <a:srgbClr val="000000"/>
              </a:solidFill>
              <a:effectLst/>
              <a:uFillTx/>
              <a:latin typeface="Arial"/>
            </a:endParaRPr>
          </a:p>
        </p:txBody>
      </p:sp>
      <p:sp>
        <p:nvSpPr>
          <p:cNvPr id="104" name="Text 21"/>
          <p:cNvSpPr/>
          <p:nvPr/>
        </p:nvSpPr>
        <p:spPr>
          <a:xfrm>
            <a:off x="548640" y="4892040"/>
            <a:ext cx="1106388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i="1" u="none" strike="noStrike">
                <a:solidFill>
                  <a:srgbClr val="6B7280"/>
                </a:solidFill>
                <a:effectLst/>
                <a:uFillTx/>
                <a:latin typeface="Calibri"/>
                <a:ea typeface="Calibri"/>
              </a:rPr>
              <a:t>Same four verbs, three different stories today: drones retrieve + decide priority · study agents chain draft → challenge → revise · the security agent retrieves logins + decides what's suspicious.</a:t>
            </a:r>
            <a:endParaRPr lang="en-US" sz="1350" b="0" u="none" strike="noStrike">
              <a:solidFill>
                <a:srgbClr val="000000"/>
              </a:solidFill>
              <a:effectLst/>
              <a:uFillTx/>
              <a:latin typeface="Arial"/>
            </a:endParaRPr>
          </a:p>
        </p:txBody>
      </p:sp>
      <p:sp>
        <p:nvSpPr>
          <p:cNvPr id="105" name="Text 22"/>
          <p:cNvSpPr/>
          <p:nvPr/>
        </p:nvSpPr>
        <p:spPr>
          <a:xfrm>
            <a:off x="548640" y="653796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9AA5B1"/>
                </a:solidFill>
                <a:effectLst/>
                <a:uFillTx/>
                <a:latin typeface="Calibri"/>
                <a:ea typeface="Calibri"/>
              </a:rPr>
              <a:t>AI Agent Development Workshop</a:t>
            </a:r>
            <a:endParaRPr lang="en-US" sz="1000" b="0" u="none" strike="noStrike">
              <a:solidFill>
                <a:srgbClr val="000000"/>
              </a:solidFill>
              <a:effectLst/>
              <a:uFillTx/>
              <a:latin typeface="Arial"/>
            </a:endParaRPr>
          </a:p>
        </p:txBody>
      </p:sp>
      <p:sp>
        <p:nvSpPr>
          <p:cNvPr id="106" name="Text 23"/>
          <p:cNvSpPr/>
          <p:nvPr/>
        </p:nvSpPr>
        <p:spPr>
          <a:xfrm>
            <a:off x="10881360" y="6537960"/>
            <a:ext cx="82260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9AA5B1"/>
                </a:solidFill>
                <a:effectLst/>
                <a:uFillTx/>
                <a:latin typeface="Calibri"/>
                <a:ea typeface="Calibri"/>
              </a:rPr>
              <a:t>5 / 19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D3557"/>
        </a:solidFill>
      </p:bgPr>
    </p:bg>
    <p:spTree>
      <p:nvGrpSpPr>
        <p:cNvPr id="1" name=""/>
        <p:cNvGrpSpPr/>
        <p:nvPr/>
      </p:nvGrpSpPr>
      <p:grpSpPr>
        <a:xfrm>
          <a:off x="0" y="0"/>
          <a:ext cx="0" cy="0"/>
          <a:chOff x="0" y="0"/>
          <a:chExt cx="0" cy="0"/>
        </a:xfrm>
      </p:grpSpPr>
      <p:sp>
        <p:nvSpPr>
          <p:cNvPr id="107" name="Shape 0"/>
          <p:cNvSpPr/>
          <p:nvPr/>
        </p:nvSpPr>
        <p:spPr>
          <a:xfrm>
            <a:off x="8778240" y="-2011680"/>
            <a:ext cx="5486040" cy="5486040"/>
          </a:xfrm>
          <a:prstGeom prst="ellipse">
            <a:avLst/>
          </a:prstGeom>
          <a:solidFill>
            <a:srgbClr val="2A9D8F">
              <a:alpha val="12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8" name="Shape 1"/>
          <p:cNvSpPr/>
          <p:nvPr/>
        </p:nvSpPr>
        <p:spPr>
          <a:xfrm>
            <a:off x="-2103120" y="4480560"/>
            <a:ext cx="3840120" cy="3840120"/>
          </a:xfrm>
          <a:prstGeom prst="ellipse">
            <a:avLst/>
          </a:prstGeom>
          <a:solidFill>
            <a:srgbClr val="2A9D8F">
              <a:alpha val="10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9" name="Shape 2"/>
          <p:cNvSpPr/>
          <p:nvPr/>
        </p:nvSpPr>
        <p:spPr>
          <a:xfrm>
            <a:off x="822960" y="777240"/>
            <a:ext cx="685440" cy="685440"/>
          </a:xfrm>
          <a:prstGeom prst="ellipse">
            <a:avLst/>
          </a:prstGeom>
          <a:solidFill>
            <a:srgbClr val="2A9D8F"/>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0" name="Text 3"/>
          <p:cNvSpPr/>
          <p:nvPr/>
        </p:nvSpPr>
        <p:spPr>
          <a:xfrm>
            <a:off x="822960" y="777240"/>
            <a:ext cx="685440" cy="685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600" b="1" u="none" strike="noStrike">
                <a:solidFill>
                  <a:srgbClr val="FFFFFF"/>
                </a:solidFill>
                <a:effectLst/>
                <a:uFillTx/>
                <a:latin typeface="Calibri"/>
                <a:ea typeface="Calibri"/>
              </a:rPr>
              <a:t>!</a:t>
            </a:r>
            <a:endParaRPr lang="en-US" sz="2600" b="0" u="none" strike="noStrike">
              <a:solidFill>
                <a:srgbClr val="FFFFFF"/>
              </a:solidFill>
              <a:effectLst/>
              <a:uFillTx/>
              <a:latin typeface="Arial"/>
            </a:endParaRPr>
          </a:p>
        </p:txBody>
      </p:sp>
      <p:sp>
        <p:nvSpPr>
          <p:cNvPr id="111" name="Text 4"/>
          <p:cNvSpPr/>
          <p:nvPr/>
        </p:nvSpPr>
        <p:spPr>
          <a:xfrm>
            <a:off x="1691640" y="868680"/>
            <a:ext cx="914364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FFFFFF"/>
                </a:solidFill>
                <a:effectLst/>
                <a:uFillTx/>
                <a:latin typeface="Bookman Old Style"/>
                <a:ea typeface="Bookman Old Style"/>
              </a:rPr>
              <a:t>The security caveat</a:t>
            </a:r>
            <a:endParaRPr lang="en-US" sz="3200" b="0" u="none" strike="noStrike">
              <a:solidFill>
                <a:srgbClr val="FFFFFF"/>
              </a:solidFill>
              <a:effectLst/>
              <a:uFillTx/>
              <a:latin typeface="Arial"/>
            </a:endParaRPr>
          </a:p>
        </p:txBody>
      </p:sp>
      <p:sp>
        <p:nvSpPr>
          <p:cNvPr id="112" name="Shape 5"/>
          <p:cNvSpPr/>
          <p:nvPr/>
        </p:nvSpPr>
        <p:spPr>
          <a:xfrm>
            <a:off x="822960" y="2057400"/>
            <a:ext cx="118440" cy="118440"/>
          </a:xfrm>
          <a:prstGeom prst="ellipse">
            <a:avLst/>
          </a:prstGeom>
          <a:solidFill>
            <a:srgbClr val="2A9D8F"/>
          </a:solidFill>
          <a:ln w="0">
            <a:noFill/>
          </a:ln>
        </p:spPr>
        <p:style>
          <a:lnRef idx="0"/>
          <a:fillRef idx="0"/>
          <a:effectRef idx="0"/>
          <a:fontRef idx="minor"/>
        </p:style>
        <p:txBody>
          <a:bodyPr lIns="90000" tIns="38880" rIns="90000" bIns="38880" anchor="t">
            <a:noAutofit/>
          </a:bodyPr>
          <a:p>
            <a:endParaRPr lang="en-US" sz="1800" b="0" u="none" strike="noStrike">
              <a:solidFill>
                <a:srgbClr val="FFFFFF"/>
              </a:solidFill>
              <a:effectLst/>
              <a:uFillTx/>
              <a:latin typeface="Arial"/>
            </a:endParaRPr>
          </a:p>
        </p:txBody>
      </p:sp>
      <p:sp>
        <p:nvSpPr>
          <p:cNvPr id="113" name="Text 6"/>
          <p:cNvSpPr/>
          <p:nvPr/>
        </p:nvSpPr>
        <p:spPr>
          <a:xfrm>
            <a:off x="1143000" y="1892880"/>
            <a:ext cx="1005804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0" u="none" strike="noStrike">
                <a:solidFill>
                  <a:srgbClr val="FFFFFF"/>
                </a:solidFill>
                <a:effectLst/>
                <a:uFillTx/>
                <a:latin typeface="Calibri"/>
                <a:ea typeface="Calibri"/>
              </a:rPr>
              <a:t>Coding your own agent is a great first step into practical AI — it is NOT automatically a secure one.</a:t>
            </a:r>
            <a:endParaRPr lang="en-US" sz="1550" b="0" u="none" strike="noStrike">
              <a:solidFill>
                <a:srgbClr val="FFFFFF"/>
              </a:solidFill>
              <a:effectLst/>
              <a:uFillTx/>
              <a:latin typeface="Arial"/>
            </a:endParaRPr>
          </a:p>
        </p:txBody>
      </p:sp>
      <p:sp>
        <p:nvSpPr>
          <p:cNvPr id="114" name="Shape 7"/>
          <p:cNvSpPr/>
          <p:nvPr/>
        </p:nvSpPr>
        <p:spPr>
          <a:xfrm>
            <a:off x="822960" y="3108960"/>
            <a:ext cx="118440" cy="118440"/>
          </a:xfrm>
          <a:prstGeom prst="ellipse">
            <a:avLst/>
          </a:prstGeom>
          <a:solidFill>
            <a:srgbClr val="2A9D8F"/>
          </a:solidFill>
          <a:ln w="0">
            <a:noFill/>
          </a:ln>
        </p:spPr>
        <p:style>
          <a:lnRef idx="0"/>
          <a:fillRef idx="0"/>
          <a:effectRef idx="0"/>
          <a:fontRef idx="minor"/>
        </p:style>
        <p:txBody>
          <a:bodyPr lIns="90000" tIns="38880" rIns="90000" bIns="38880" anchor="t">
            <a:noAutofit/>
          </a:bodyPr>
          <a:p>
            <a:endParaRPr lang="en-US" sz="1800" b="0" u="none" strike="noStrike">
              <a:solidFill>
                <a:srgbClr val="FFFFFF"/>
              </a:solidFill>
              <a:effectLst/>
              <a:uFillTx/>
              <a:latin typeface="Arial"/>
            </a:endParaRPr>
          </a:p>
        </p:txBody>
      </p:sp>
      <p:sp>
        <p:nvSpPr>
          <p:cNvPr id="115" name="Text 8"/>
          <p:cNvSpPr/>
          <p:nvPr/>
        </p:nvSpPr>
        <p:spPr>
          <a:xfrm>
            <a:off x="1143000" y="2944440"/>
            <a:ext cx="1005804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6FD3C4"/>
                </a:solidFill>
                <a:effectLst/>
                <a:uFillTx/>
                <a:latin typeface="Calibri"/>
                <a:ea typeface="Calibri"/>
              </a:rPr>
              <a:t>Tools mean real actions. A bug here isn't just a wrong answer — it's a wrong action.</a:t>
            </a:r>
            <a:endParaRPr lang="en-US" sz="1700" b="0" u="none" strike="noStrike">
              <a:solidFill>
                <a:srgbClr val="FFFFFF"/>
              </a:solidFill>
              <a:effectLst/>
              <a:uFillTx/>
              <a:latin typeface="Arial"/>
            </a:endParaRPr>
          </a:p>
        </p:txBody>
      </p:sp>
      <p:sp>
        <p:nvSpPr>
          <p:cNvPr id="116" name="Shape 9"/>
          <p:cNvSpPr/>
          <p:nvPr/>
        </p:nvSpPr>
        <p:spPr>
          <a:xfrm>
            <a:off x="822960" y="4160520"/>
            <a:ext cx="118440" cy="118440"/>
          </a:xfrm>
          <a:prstGeom prst="ellipse">
            <a:avLst/>
          </a:prstGeom>
          <a:solidFill>
            <a:srgbClr val="2A9D8F"/>
          </a:solidFill>
          <a:ln w="0">
            <a:noFill/>
          </a:ln>
        </p:spPr>
        <p:style>
          <a:lnRef idx="0"/>
          <a:fillRef idx="0"/>
          <a:effectRef idx="0"/>
          <a:fontRef idx="minor"/>
        </p:style>
        <p:txBody>
          <a:bodyPr lIns="90000" tIns="38880" rIns="90000" bIns="38880" anchor="t">
            <a:noAutofit/>
          </a:bodyPr>
          <a:p>
            <a:endParaRPr lang="en-US" sz="1800" b="0" u="none" strike="noStrike">
              <a:solidFill>
                <a:srgbClr val="FFFFFF"/>
              </a:solidFill>
              <a:effectLst/>
              <a:uFillTx/>
              <a:latin typeface="Arial"/>
            </a:endParaRPr>
          </a:p>
        </p:txBody>
      </p:sp>
      <p:sp>
        <p:nvSpPr>
          <p:cNvPr id="117" name="Text 10"/>
          <p:cNvSpPr/>
          <p:nvPr/>
        </p:nvSpPr>
        <p:spPr>
          <a:xfrm>
            <a:off x="1143000" y="3996000"/>
            <a:ext cx="1005804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0" u="none" strike="noStrike">
                <a:solidFill>
                  <a:srgbClr val="FFFFFF"/>
                </a:solidFill>
                <a:effectLst/>
                <a:uFillTx/>
                <a:latin typeface="Calibri"/>
                <a:ea typeface="Calibri"/>
              </a:rPr>
              <a:t>Prompt injection: untrusted text (a log line, a webpage, a user message) can try to steer an agent's next tool call.</a:t>
            </a:r>
            <a:endParaRPr lang="en-US" sz="1550" b="0" u="none" strike="noStrike">
              <a:solidFill>
                <a:srgbClr val="FFFFFF"/>
              </a:solidFill>
              <a:effectLst/>
              <a:uFillTx/>
              <a:latin typeface="Arial"/>
            </a:endParaRPr>
          </a:p>
        </p:txBody>
      </p:sp>
      <p:sp>
        <p:nvSpPr>
          <p:cNvPr id="118" name="Shape 11"/>
          <p:cNvSpPr/>
          <p:nvPr/>
        </p:nvSpPr>
        <p:spPr>
          <a:xfrm>
            <a:off x="822960" y="5212080"/>
            <a:ext cx="118440" cy="118440"/>
          </a:xfrm>
          <a:prstGeom prst="ellipse">
            <a:avLst/>
          </a:prstGeom>
          <a:solidFill>
            <a:srgbClr val="2A9D8F"/>
          </a:solidFill>
          <a:ln w="0">
            <a:noFill/>
          </a:ln>
        </p:spPr>
        <p:style>
          <a:lnRef idx="0"/>
          <a:fillRef idx="0"/>
          <a:effectRef idx="0"/>
          <a:fontRef idx="minor"/>
        </p:style>
        <p:txBody>
          <a:bodyPr lIns="90000" tIns="38880" rIns="90000" bIns="38880" anchor="t">
            <a:noAutofit/>
          </a:bodyPr>
          <a:p>
            <a:endParaRPr lang="en-US" sz="1800" b="0" u="none" strike="noStrike">
              <a:solidFill>
                <a:srgbClr val="FFFFFF"/>
              </a:solidFill>
              <a:effectLst/>
              <a:uFillTx/>
              <a:latin typeface="Arial"/>
            </a:endParaRPr>
          </a:p>
        </p:txBody>
      </p:sp>
      <p:sp>
        <p:nvSpPr>
          <p:cNvPr id="119" name="Text 12"/>
          <p:cNvSpPr/>
          <p:nvPr/>
        </p:nvSpPr>
        <p:spPr>
          <a:xfrm>
            <a:off x="1143000" y="5047560"/>
            <a:ext cx="1005804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0" u="none" strike="noStrike">
                <a:solidFill>
                  <a:srgbClr val="FFFFFF"/>
                </a:solidFill>
                <a:effectLst/>
                <a:uFillTx/>
                <a:latin typeface="Calibri"/>
                <a:ea typeface="Calibri"/>
              </a:rPr>
              <a:t>More tools + more autonomy = a bigger attack surface, not automatically more caution.</a:t>
            </a:r>
            <a:endParaRPr lang="en-US" sz="1550" b="0" u="none" strike="noStrike">
              <a:solidFill>
                <a:srgbClr val="FFFFFF"/>
              </a:solidFill>
              <a:effectLst/>
              <a:uFillTx/>
              <a:latin typeface="Arial"/>
            </a:endParaRPr>
          </a:p>
        </p:txBody>
      </p:sp>
      <p:sp>
        <p:nvSpPr>
          <p:cNvPr id="120" name="Text 13"/>
          <p:cNvSpPr/>
          <p:nvPr/>
        </p:nvSpPr>
        <p:spPr>
          <a:xfrm>
            <a:off x="822960" y="6172200"/>
            <a:ext cx="100580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i="1" u="none" strike="noStrike">
                <a:solidFill>
                  <a:srgbClr val="D6E4F0"/>
                </a:solidFill>
                <a:effectLst/>
                <a:uFillTx/>
                <a:latin typeface="Calibri"/>
                <a:ea typeface="Calibri"/>
              </a:rPr>
              <a:t>Aimed squarely at the Cybersecurity cohort in the room.</a:t>
            </a:r>
            <a:endParaRPr lang="en-US" sz="12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1" name="Text 0"/>
          <p:cNvSpPr/>
          <p:nvPr/>
        </p:nvSpPr>
        <p:spPr>
          <a:xfrm>
            <a:off x="548640" y="411480"/>
            <a:ext cx="110638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D3557"/>
                </a:solidFill>
                <a:effectLst/>
                <a:uFillTx/>
                <a:latin typeface="Bookman Old Style"/>
                <a:ea typeface="Bookman Old Style"/>
              </a:rPr>
              <a:t>Why LangChain</a:t>
            </a:r>
            <a:endParaRPr lang="en-US" sz="3200" b="0" u="none" strike="noStrike">
              <a:solidFill>
                <a:srgbClr val="000000"/>
              </a:solidFill>
              <a:effectLst/>
              <a:uFillTx/>
              <a:latin typeface="Arial"/>
            </a:endParaRPr>
          </a:p>
        </p:txBody>
      </p:sp>
      <p:sp>
        <p:nvSpPr>
          <p:cNvPr id="122" name="Shape 1"/>
          <p:cNvSpPr/>
          <p:nvPr/>
        </p:nvSpPr>
        <p:spPr>
          <a:xfrm>
            <a:off x="640080" y="1828800"/>
            <a:ext cx="621360" cy="62136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3" name="Text 2"/>
          <p:cNvSpPr/>
          <p:nvPr/>
        </p:nvSpPr>
        <p:spPr>
          <a:xfrm>
            <a:off x="640080" y="1828800"/>
            <a:ext cx="621360" cy="621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PY</a:t>
            </a:r>
            <a:endParaRPr lang="en-US" sz="1500" b="0" u="none" strike="noStrike">
              <a:solidFill>
                <a:srgbClr val="000000"/>
              </a:solidFill>
              <a:effectLst/>
              <a:uFillTx/>
              <a:latin typeface="Arial"/>
            </a:endParaRPr>
          </a:p>
        </p:txBody>
      </p:sp>
      <p:sp>
        <p:nvSpPr>
          <p:cNvPr id="124" name="Text 3"/>
          <p:cNvSpPr/>
          <p:nvPr/>
        </p:nvSpPr>
        <p:spPr>
          <a:xfrm>
            <a:off x="1508760" y="1810440"/>
            <a:ext cx="96008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1D3557"/>
                </a:solidFill>
                <a:effectLst/>
                <a:uFillTx/>
                <a:latin typeface="Calibri"/>
                <a:ea typeface="Calibri"/>
              </a:rPr>
              <a:t>Python-first</a:t>
            </a:r>
            <a:endParaRPr lang="en-US" sz="1800" b="0" u="none" strike="noStrike">
              <a:solidFill>
                <a:srgbClr val="000000"/>
              </a:solidFill>
              <a:effectLst/>
              <a:uFillTx/>
              <a:latin typeface="Arial"/>
            </a:endParaRPr>
          </a:p>
        </p:txBody>
      </p:sp>
      <p:sp>
        <p:nvSpPr>
          <p:cNvPr id="125" name="Text 4"/>
          <p:cNvSpPr/>
          <p:nvPr/>
        </p:nvSpPr>
        <p:spPr>
          <a:xfrm>
            <a:off x="1508760" y="2194560"/>
            <a:ext cx="96922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6B7280"/>
                </a:solidFill>
                <a:effectLst/>
                <a:uFillTx/>
                <a:latin typeface="Calibri"/>
                <a:ea typeface="Calibri"/>
              </a:rPr>
              <a:t>The language most of you already know, or are learning right now</a:t>
            </a:r>
            <a:endParaRPr lang="en-US" sz="1400" b="0" u="none" strike="noStrike">
              <a:solidFill>
                <a:srgbClr val="000000"/>
              </a:solidFill>
              <a:effectLst/>
              <a:uFillTx/>
              <a:latin typeface="Arial"/>
            </a:endParaRPr>
          </a:p>
        </p:txBody>
      </p:sp>
      <p:sp>
        <p:nvSpPr>
          <p:cNvPr id="126" name="Shape 5"/>
          <p:cNvSpPr/>
          <p:nvPr/>
        </p:nvSpPr>
        <p:spPr>
          <a:xfrm>
            <a:off x="640080" y="3063240"/>
            <a:ext cx="621360" cy="62136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7" name="Text 6"/>
          <p:cNvSpPr/>
          <p:nvPr/>
        </p:nvSpPr>
        <p:spPr>
          <a:xfrm>
            <a:off x="640080" y="3063240"/>
            <a:ext cx="621360" cy="621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#1</a:t>
            </a:r>
            <a:endParaRPr lang="en-US" sz="1500" b="0" u="none" strike="noStrike">
              <a:solidFill>
                <a:srgbClr val="000000"/>
              </a:solidFill>
              <a:effectLst/>
              <a:uFillTx/>
              <a:latin typeface="Arial"/>
            </a:endParaRPr>
          </a:p>
        </p:txBody>
      </p:sp>
      <p:sp>
        <p:nvSpPr>
          <p:cNvPr id="128" name="Text 7"/>
          <p:cNvSpPr/>
          <p:nvPr/>
        </p:nvSpPr>
        <p:spPr>
          <a:xfrm>
            <a:off x="1508760" y="3044880"/>
            <a:ext cx="96008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1D3557"/>
                </a:solidFill>
                <a:effectLst/>
                <a:uFillTx/>
                <a:latin typeface="Calibri"/>
                <a:ea typeface="Calibri"/>
              </a:rPr>
              <a:t>Industry standard</a:t>
            </a:r>
            <a:endParaRPr lang="en-US" sz="1800" b="0" u="none" strike="noStrike">
              <a:solidFill>
                <a:srgbClr val="000000"/>
              </a:solidFill>
              <a:effectLst/>
              <a:uFillTx/>
              <a:latin typeface="Arial"/>
            </a:endParaRPr>
          </a:p>
        </p:txBody>
      </p:sp>
      <p:sp>
        <p:nvSpPr>
          <p:cNvPr id="129" name="Text 8"/>
          <p:cNvSpPr/>
          <p:nvPr/>
        </p:nvSpPr>
        <p:spPr>
          <a:xfrm>
            <a:off x="1508760" y="3429000"/>
            <a:ext cx="96922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6B7280"/>
                </a:solidFill>
                <a:effectLst/>
                <a:uFillTx/>
                <a:latin typeface="Calibri"/>
                <a:ea typeface="Calibri"/>
              </a:rPr>
              <a:t>Most tutorials, job postings, and interviews reference it directly</a:t>
            </a:r>
            <a:endParaRPr lang="en-US" sz="1400" b="0" u="none" strike="noStrike">
              <a:solidFill>
                <a:srgbClr val="000000"/>
              </a:solidFill>
              <a:effectLst/>
              <a:uFillTx/>
              <a:latin typeface="Arial"/>
            </a:endParaRPr>
          </a:p>
        </p:txBody>
      </p:sp>
      <p:sp>
        <p:nvSpPr>
          <p:cNvPr id="130" name="Shape 9"/>
          <p:cNvSpPr/>
          <p:nvPr/>
        </p:nvSpPr>
        <p:spPr>
          <a:xfrm>
            <a:off x="640080" y="4297680"/>
            <a:ext cx="621360" cy="62136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1" name="Text 10"/>
          <p:cNvSpPr/>
          <p:nvPr/>
        </p:nvSpPr>
        <p:spPr>
          <a:xfrm>
            <a:off x="640080" y="4297680"/>
            <a:ext cx="621360" cy="621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FFFFFF"/>
                </a:solidFill>
                <a:effectLst/>
                <a:uFillTx/>
                <a:latin typeface="Calibri"/>
                <a:ea typeface="Calibri"/>
              </a:rPr>
              <a:t>⇄</a:t>
            </a:r>
            <a:endParaRPr lang="en-US" sz="1500" b="0" u="none" strike="noStrike">
              <a:solidFill>
                <a:srgbClr val="000000"/>
              </a:solidFill>
              <a:effectLst/>
              <a:uFillTx/>
              <a:latin typeface="Arial"/>
            </a:endParaRPr>
          </a:p>
        </p:txBody>
      </p:sp>
      <p:sp>
        <p:nvSpPr>
          <p:cNvPr id="132" name="Text 11"/>
          <p:cNvSpPr/>
          <p:nvPr/>
        </p:nvSpPr>
        <p:spPr>
          <a:xfrm>
            <a:off x="1508760" y="4279320"/>
            <a:ext cx="96008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1D3557"/>
                </a:solidFill>
                <a:effectLst/>
                <a:uFillTx/>
                <a:latin typeface="Calibri"/>
                <a:ea typeface="Calibri"/>
              </a:rPr>
              <a:t>Transferable</a:t>
            </a:r>
            <a:endParaRPr lang="en-US" sz="1800" b="0" u="none" strike="noStrike">
              <a:solidFill>
                <a:srgbClr val="000000"/>
              </a:solidFill>
              <a:effectLst/>
              <a:uFillTx/>
              <a:latin typeface="Arial"/>
            </a:endParaRPr>
          </a:p>
        </p:txBody>
      </p:sp>
      <p:sp>
        <p:nvSpPr>
          <p:cNvPr id="133" name="Text 12"/>
          <p:cNvSpPr/>
          <p:nvPr/>
        </p:nvSpPr>
        <p:spPr>
          <a:xfrm>
            <a:off x="1508760" y="4663440"/>
            <a:ext cx="96922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6B7280"/>
                </a:solidFill>
                <a:effectLst/>
                <a:uFillTx/>
                <a:latin typeface="Calibri"/>
                <a:ea typeface="Calibri"/>
              </a:rPr>
              <a:t>A thin layer over raw LLM calls — concepts carry over even if you switch providers later (OpenAI, Anthropic, a local model)</a:t>
            </a:r>
            <a:endParaRPr lang="en-US" sz="1400" b="0" u="none" strike="noStrike">
              <a:solidFill>
                <a:srgbClr val="000000"/>
              </a:solidFill>
              <a:effectLst/>
              <a:uFillTx/>
              <a:latin typeface="Arial"/>
            </a:endParaRPr>
          </a:p>
        </p:txBody>
      </p:sp>
      <p:sp>
        <p:nvSpPr>
          <p:cNvPr id="134" name="Text 13"/>
          <p:cNvSpPr/>
          <p:nvPr/>
        </p:nvSpPr>
        <p:spPr>
          <a:xfrm>
            <a:off x="640080" y="5806440"/>
            <a:ext cx="105152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i="1" u="none" strike="noStrike">
                <a:solidFill>
                  <a:srgbClr val="6B7280"/>
                </a:solidFill>
                <a:effectLst/>
                <a:uFillTx/>
                <a:latin typeface="Calibri"/>
                <a:ea typeface="Calibri"/>
              </a:rPr>
              <a:t>(Yes, LlamaIndex and raw provider SDKs exist too — LangChain is simply the most transferable thing to learn today.)</a:t>
            </a:r>
            <a:endParaRPr lang="en-US" sz="1250" b="0" u="none" strike="noStrike">
              <a:solidFill>
                <a:srgbClr val="000000"/>
              </a:solidFill>
              <a:effectLst/>
              <a:uFillTx/>
              <a:latin typeface="Arial"/>
            </a:endParaRPr>
          </a:p>
        </p:txBody>
      </p:sp>
      <p:sp>
        <p:nvSpPr>
          <p:cNvPr id="135" name="Text 14"/>
          <p:cNvSpPr/>
          <p:nvPr/>
        </p:nvSpPr>
        <p:spPr>
          <a:xfrm>
            <a:off x="548640" y="653796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9AA5B1"/>
                </a:solidFill>
                <a:effectLst/>
                <a:uFillTx/>
                <a:latin typeface="Calibri"/>
                <a:ea typeface="Calibri"/>
              </a:rPr>
              <a:t>AI Agent Development Workshop</a:t>
            </a:r>
            <a:endParaRPr lang="en-US" sz="1000" b="0" u="none" strike="noStrike">
              <a:solidFill>
                <a:srgbClr val="000000"/>
              </a:solidFill>
              <a:effectLst/>
              <a:uFillTx/>
              <a:latin typeface="Arial"/>
            </a:endParaRPr>
          </a:p>
        </p:txBody>
      </p:sp>
      <p:sp>
        <p:nvSpPr>
          <p:cNvPr id="136" name="Text 15"/>
          <p:cNvSpPr/>
          <p:nvPr/>
        </p:nvSpPr>
        <p:spPr>
          <a:xfrm>
            <a:off x="10881360" y="6537960"/>
            <a:ext cx="82260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9AA5B1"/>
                </a:solidFill>
                <a:effectLst/>
                <a:uFillTx/>
                <a:latin typeface="Calibri"/>
                <a:ea typeface="Calibri"/>
              </a:rPr>
              <a:t>7 / 19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7" name="Text 0"/>
          <p:cNvSpPr/>
          <p:nvPr/>
        </p:nvSpPr>
        <p:spPr>
          <a:xfrm>
            <a:off x="548640" y="411480"/>
            <a:ext cx="110638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D3557"/>
                </a:solidFill>
                <a:effectLst/>
                <a:uFillTx/>
                <a:latin typeface="Bookman Old Style"/>
                <a:ea typeface="Bookman Old Style"/>
              </a:rPr>
              <a:t>LangChain basics — the four moving parts</a:t>
            </a:r>
            <a:endParaRPr lang="en-US" sz="3200" b="0" u="none" strike="noStrike">
              <a:solidFill>
                <a:srgbClr val="000000"/>
              </a:solidFill>
              <a:effectLst/>
              <a:uFillTx/>
              <a:latin typeface="Arial"/>
            </a:endParaRPr>
          </a:p>
        </p:txBody>
      </p:sp>
      <p:sp>
        <p:nvSpPr>
          <p:cNvPr id="138" name="Shape 1"/>
          <p:cNvSpPr/>
          <p:nvPr/>
        </p:nvSpPr>
        <p:spPr>
          <a:xfrm>
            <a:off x="548640" y="1554480"/>
            <a:ext cx="5348880" cy="1965600"/>
          </a:xfrm>
          <a:prstGeom prst="roundRect">
            <a:avLst>
              <a:gd name="adj" fmla="val 5581"/>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9" name="Shape 2"/>
          <p:cNvSpPr/>
          <p:nvPr/>
        </p:nvSpPr>
        <p:spPr>
          <a:xfrm>
            <a:off x="777240" y="1783080"/>
            <a:ext cx="502560" cy="50256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0" name="Text 3"/>
          <p:cNvSpPr/>
          <p:nvPr/>
        </p:nvSpPr>
        <p:spPr>
          <a:xfrm>
            <a:off x="777240" y="178308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LLM</a:t>
            </a:r>
            <a:endParaRPr lang="en-US" sz="1200" b="0" u="none" strike="noStrike">
              <a:solidFill>
                <a:srgbClr val="000000"/>
              </a:solidFill>
              <a:effectLst/>
              <a:uFillTx/>
              <a:latin typeface="Arial"/>
            </a:endParaRPr>
          </a:p>
        </p:txBody>
      </p:sp>
      <p:sp>
        <p:nvSpPr>
          <p:cNvPr id="141" name="Text 4"/>
          <p:cNvSpPr/>
          <p:nvPr/>
        </p:nvSpPr>
        <p:spPr>
          <a:xfrm>
            <a:off x="1417320" y="1810440"/>
            <a:ext cx="42516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D3557"/>
                </a:solidFill>
                <a:effectLst/>
                <a:uFillTx/>
                <a:latin typeface="Calibri"/>
                <a:ea typeface="Calibri"/>
              </a:rPr>
              <a:t>Chat model</a:t>
            </a:r>
            <a:endParaRPr lang="en-US" sz="1600" b="0" u="none" strike="noStrike">
              <a:solidFill>
                <a:srgbClr val="000000"/>
              </a:solidFill>
              <a:effectLst/>
              <a:uFillTx/>
              <a:latin typeface="Arial"/>
            </a:endParaRPr>
          </a:p>
        </p:txBody>
      </p:sp>
      <p:sp>
        <p:nvSpPr>
          <p:cNvPr id="142" name="Text 5"/>
          <p:cNvSpPr/>
          <p:nvPr/>
        </p:nvSpPr>
        <p:spPr>
          <a:xfrm>
            <a:off x="822960" y="2468880"/>
            <a:ext cx="4800240" cy="959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3A3A3A"/>
                </a:solidFill>
                <a:effectLst/>
                <a:uFillTx/>
                <a:latin typeface="Calibri"/>
                <a:ea typeface="Calibri"/>
              </a:rPr>
              <a:t>ChatGroq — LangChain's standard wrapper around a chat LLM. Same shape as ChatOpenAI / ChatAnthropic.</a:t>
            </a:r>
            <a:endParaRPr lang="en-US" sz="1250" b="0" u="none" strike="noStrike">
              <a:solidFill>
                <a:srgbClr val="000000"/>
              </a:solidFill>
              <a:effectLst/>
              <a:uFillTx/>
              <a:latin typeface="Arial"/>
            </a:endParaRPr>
          </a:p>
        </p:txBody>
      </p:sp>
      <p:sp>
        <p:nvSpPr>
          <p:cNvPr id="143" name="Shape 6"/>
          <p:cNvSpPr/>
          <p:nvPr/>
        </p:nvSpPr>
        <p:spPr>
          <a:xfrm>
            <a:off x="6217920" y="1554480"/>
            <a:ext cx="5348880" cy="1965600"/>
          </a:xfrm>
          <a:prstGeom prst="roundRect">
            <a:avLst>
              <a:gd name="adj" fmla="val 5581"/>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4" name="Shape 7"/>
          <p:cNvSpPr/>
          <p:nvPr/>
        </p:nvSpPr>
        <p:spPr>
          <a:xfrm>
            <a:off x="6446520" y="1783080"/>
            <a:ext cx="502560" cy="50256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5" name="Text 8"/>
          <p:cNvSpPr/>
          <p:nvPr/>
        </p:nvSpPr>
        <p:spPr>
          <a:xfrm>
            <a:off x="6446520" y="178308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MSG</a:t>
            </a:r>
            <a:endParaRPr lang="en-US" sz="1200" b="0" u="none" strike="noStrike">
              <a:solidFill>
                <a:srgbClr val="000000"/>
              </a:solidFill>
              <a:effectLst/>
              <a:uFillTx/>
              <a:latin typeface="Arial"/>
            </a:endParaRPr>
          </a:p>
        </p:txBody>
      </p:sp>
      <p:sp>
        <p:nvSpPr>
          <p:cNvPr id="146" name="Text 9"/>
          <p:cNvSpPr/>
          <p:nvPr/>
        </p:nvSpPr>
        <p:spPr>
          <a:xfrm>
            <a:off x="7086600" y="1810440"/>
            <a:ext cx="42516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D3557"/>
                </a:solidFill>
                <a:effectLst/>
                <a:uFillTx/>
                <a:latin typeface="Calibri"/>
                <a:ea typeface="Calibri"/>
              </a:rPr>
              <a:t>Messages</a:t>
            </a:r>
            <a:endParaRPr lang="en-US" sz="1600" b="0" u="none" strike="noStrike">
              <a:solidFill>
                <a:srgbClr val="000000"/>
              </a:solidFill>
              <a:effectLst/>
              <a:uFillTx/>
              <a:latin typeface="Arial"/>
            </a:endParaRPr>
          </a:p>
        </p:txBody>
      </p:sp>
      <p:sp>
        <p:nvSpPr>
          <p:cNvPr id="147" name="Text 10"/>
          <p:cNvSpPr/>
          <p:nvPr/>
        </p:nvSpPr>
        <p:spPr>
          <a:xfrm>
            <a:off x="6492240" y="2468880"/>
            <a:ext cx="4800240" cy="959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3A3A3A"/>
                </a:solidFill>
                <a:effectLst/>
                <a:uFillTx/>
                <a:latin typeface="Calibri"/>
                <a:ea typeface="Calibri"/>
              </a:rPr>
              <a:t>The conversation is a typed list: HumanMessage, AIMessage, SystemMessage, ToolMessage.</a:t>
            </a:r>
            <a:endParaRPr lang="en-US" sz="1250" b="0" u="none" strike="noStrike">
              <a:solidFill>
                <a:srgbClr val="000000"/>
              </a:solidFill>
              <a:effectLst/>
              <a:uFillTx/>
              <a:latin typeface="Arial"/>
            </a:endParaRPr>
          </a:p>
        </p:txBody>
      </p:sp>
      <p:sp>
        <p:nvSpPr>
          <p:cNvPr id="148" name="Shape 11"/>
          <p:cNvSpPr/>
          <p:nvPr/>
        </p:nvSpPr>
        <p:spPr>
          <a:xfrm>
            <a:off x="548640" y="3794760"/>
            <a:ext cx="5348880" cy="1965600"/>
          </a:xfrm>
          <a:prstGeom prst="roundRect">
            <a:avLst>
              <a:gd name="adj" fmla="val 5581"/>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9" name="Shape 12"/>
          <p:cNvSpPr/>
          <p:nvPr/>
        </p:nvSpPr>
        <p:spPr>
          <a:xfrm>
            <a:off x="777240" y="4023360"/>
            <a:ext cx="502560" cy="50256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0" name="Text 13"/>
          <p:cNvSpPr/>
          <p:nvPr/>
        </p:nvSpPr>
        <p:spPr>
          <a:xfrm>
            <a:off x="777240" y="402336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FN</a:t>
            </a:r>
            <a:endParaRPr lang="en-US" sz="1200" b="0" u="none" strike="noStrike">
              <a:solidFill>
                <a:srgbClr val="000000"/>
              </a:solidFill>
              <a:effectLst/>
              <a:uFillTx/>
              <a:latin typeface="Arial"/>
            </a:endParaRPr>
          </a:p>
        </p:txBody>
      </p:sp>
      <p:sp>
        <p:nvSpPr>
          <p:cNvPr id="151" name="Text 14"/>
          <p:cNvSpPr/>
          <p:nvPr/>
        </p:nvSpPr>
        <p:spPr>
          <a:xfrm>
            <a:off x="1417320" y="4050720"/>
            <a:ext cx="42516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D3557"/>
                </a:solidFill>
                <a:effectLst/>
                <a:uFillTx/>
                <a:latin typeface="Calibri"/>
                <a:ea typeface="Calibri"/>
              </a:rPr>
              <a:t>Tools</a:t>
            </a:r>
            <a:endParaRPr lang="en-US" sz="1600" b="0" u="none" strike="noStrike">
              <a:solidFill>
                <a:srgbClr val="000000"/>
              </a:solidFill>
              <a:effectLst/>
              <a:uFillTx/>
              <a:latin typeface="Arial"/>
            </a:endParaRPr>
          </a:p>
        </p:txBody>
      </p:sp>
      <p:sp>
        <p:nvSpPr>
          <p:cNvPr id="152" name="Text 15"/>
          <p:cNvSpPr/>
          <p:nvPr/>
        </p:nvSpPr>
        <p:spPr>
          <a:xfrm>
            <a:off x="822960" y="4709160"/>
            <a:ext cx="4800240" cy="959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3A3A3A"/>
                </a:solidFill>
                <a:effectLst/>
                <a:uFillTx/>
                <a:latin typeface="Calibri"/>
                <a:ea typeface="Calibri"/>
              </a:rPr>
              <a:t>A plain Python function + @tool decorator + a docstring. The docstring is the ONLY thing the model reads.</a:t>
            </a:r>
            <a:endParaRPr lang="en-US" sz="1250" b="0" u="none" strike="noStrike">
              <a:solidFill>
                <a:srgbClr val="000000"/>
              </a:solidFill>
              <a:effectLst/>
              <a:uFillTx/>
              <a:latin typeface="Arial"/>
            </a:endParaRPr>
          </a:p>
        </p:txBody>
      </p:sp>
      <p:sp>
        <p:nvSpPr>
          <p:cNvPr id="153" name="Shape 16"/>
          <p:cNvSpPr/>
          <p:nvPr/>
        </p:nvSpPr>
        <p:spPr>
          <a:xfrm>
            <a:off x="6217920" y="3794760"/>
            <a:ext cx="5348880" cy="1965600"/>
          </a:xfrm>
          <a:prstGeom prst="roundRect">
            <a:avLst>
              <a:gd name="adj" fmla="val 5581"/>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4" name="Shape 17"/>
          <p:cNvSpPr/>
          <p:nvPr/>
        </p:nvSpPr>
        <p:spPr>
          <a:xfrm>
            <a:off x="6446520" y="4023360"/>
            <a:ext cx="502560" cy="50256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5" name="Text 18"/>
          <p:cNvSpPr/>
          <p:nvPr/>
        </p:nvSpPr>
        <p:spPr>
          <a:xfrm>
            <a:off x="6446520" y="402336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a:t>
            </a:r>
            <a:endParaRPr lang="en-US" sz="1200" b="0" u="none" strike="noStrike">
              <a:solidFill>
                <a:srgbClr val="000000"/>
              </a:solidFill>
              <a:effectLst/>
              <a:uFillTx/>
              <a:latin typeface="Arial"/>
            </a:endParaRPr>
          </a:p>
        </p:txBody>
      </p:sp>
      <p:sp>
        <p:nvSpPr>
          <p:cNvPr id="156" name="Text 19"/>
          <p:cNvSpPr/>
          <p:nvPr/>
        </p:nvSpPr>
        <p:spPr>
          <a:xfrm>
            <a:off x="7086600" y="4050720"/>
            <a:ext cx="42516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D3557"/>
                </a:solidFill>
                <a:effectLst/>
                <a:uFillTx/>
                <a:latin typeface="Calibri"/>
                <a:ea typeface="Calibri"/>
              </a:rPr>
              <a:t>Binding &amp; responses</a:t>
            </a:r>
            <a:endParaRPr lang="en-US" sz="1600" b="0" u="none" strike="noStrike">
              <a:solidFill>
                <a:srgbClr val="000000"/>
              </a:solidFill>
              <a:effectLst/>
              <a:uFillTx/>
              <a:latin typeface="Arial"/>
            </a:endParaRPr>
          </a:p>
        </p:txBody>
      </p:sp>
      <p:sp>
        <p:nvSpPr>
          <p:cNvPr id="157" name="Text 20"/>
          <p:cNvSpPr/>
          <p:nvPr/>
        </p:nvSpPr>
        <p:spPr>
          <a:xfrm>
            <a:off x="6492240" y="4709160"/>
            <a:ext cx="4800240" cy="959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3A3A3A"/>
                </a:solidFill>
                <a:effectLst/>
                <a:uFillTx/>
                <a:latin typeface="Calibri"/>
                <a:ea typeface="Calibri"/>
              </a:rPr>
              <a:t>llm.bind_tools([...]) tells the model what it can request. ai_message.tool_calls comes back empty or with requests.</a:t>
            </a:r>
            <a:endParaRPr lang="en-US" sz="1250" b="0" u="none" strike="noStrike">
              <a:solidFill>
                <a:srgbClr val="000000"/>
              </a:solidFill>
              <a:effectLst/>
              <a:uFillTx/>
              <a:latin typeface="Arial"/>
            </a:endParaRPr>
          </a:p>
        </p:txBody>
      </p:sp>
      <p:sp>
        <p:nvSpPr>
          <p:cNvPr id="158" name="Text 21"/>
          <p:cNvSpPr/>
          <p:nvPr/>
        </p:nvSpPr>
        <p:spPr>
          <a:xfrm>
            <a:off x="548640" y="653796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9AA5B1"/>
                </a:solidFill>
                <a:effectLst/>
                <a:uFillTx/>
                <a:latin typeface="Calibri"/>
                <a:ea typeface="Calibri"/>
              </a:rPr>
              <a:t>AI Agent Development Workshop</a:t>
            </a:r>
            <a:endParaRPr lang="en-US" sz="1000" b="0" u="none" strike="noStrike">
              <a:solidFill>
                <a:srgbClr val="000000"/>
              </a:solidFill>
              <a:effectLst/>
              <a:uFillTx/>
              <a:latin typeface="Arial"/>
            </a:endParaRPr>
          </a:p>
        </p:txBody>
      </p:sp>
      <p:sp>
        <p:nvSpPr>
          <p:cNvPr id="159" name="Text 22"/>
          <p:cNvSpPr/>
          <p:nvPr/>
        </p:nvSpPr>
        <p:spPr>
          <a:xfrm>
            <a:off x="10881360" y="6537960"/>
            <a:ext cx="82260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9AA5B1"/>
                </a:solidFill>
                <a:effectLst/>
                <a:uFillTx/>
                <a:latin typeface="Calibri"/>
                <a:ea typeface="Calibri"/>
              </a:rPr>
              <a:t>8 / 19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0" name="Text 0"/>
          <p:cNvSpPr/>
          <p:nvPr/>
        </p:nvSpPr>
        <p:spPr>
          <a:xfrm>
            <a:off x="548640" y="411480"/>
            <a:ext cx="110638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D3557"/>
                </a:solidFill>
                <a:effectLst/>
                <a:uFillTx/>
                <a:latin typeface="Bookman Old Style"/>
                <a:ea typeface="Bookman Old Style"/>
              </a:rPr>
              <a:t>The scaffold — repo tour</a:t>
            </a:r>
            <a:endParaRPr lang="en-US" sz="3200" b="0" u="none" strike="noStrike">
              <a:solidFill>
                <a:srgbClr val="000000"/>
              </a:solidFill>
              <a:effectLst/>
              <a:uFillTx/>
              <a:latin typeface="Arial"/>
            </a:endParaRPr>
          </a:p>
        </p:txBody>
      </p:sp>
      <p:sp>
        <p:nvSpPr>
          <p:cNvPr id="161" name="Shape 1"/>
          <p:cNvSpPr/>
          <p:nvPr/>
        </p:nvSpPr>
        <p:spPr>
          <a:xfrm>
            <a:off x="548640" y="2103120"/>
            <a:ext cx="1481040" cy="1188360"/>
          </a:xfrm>
          <a:prstGeom prst="roundRect">
            <a:avLst>
              <a:gd name="adj" fmla="val 7692"/>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2" name="Text 2"/>
          <p:cNvSpPr/>
          <p:nvPr/>
        </p:nvSpPr>
        <p:spPr>
          <a:xfrm>
            <a:off x="603360" y="2103120"/>
            <a:ext cx="137124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1D3557"/>
                </a:solidFill>
                <a:effectLst/>
                <a:uFillTx/>
                <a:latin typeface="Calibri"/>
                <a:ea typeface="Calibri"/>
              </a:rPr>
              <a:t>phase_00</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D3557"/>
                </a:solidFill>
                <a:effectLst/>
                <a:uFillTx/>
                <a:latin typeface="Calibri"/>
                <a:ea typeface="Calibri"/>
              </a:rPr>
              <a:t>Setup</a:t>
            </a:r>
            <a:endParaRPr lang="en-US" sz="1200" b="0" u="none" strike="noStrike">
              <a:solidFill>
                <a:srgbClr val="000000"/>
              </a:solidFill>
              <a:effectLst/>
              <a:uFillTx/>
              <a:latin typeface="Arial"/>
            </a:endParaRPr>
          </a:p>
        </p:txBody>
      </p:sp>
      <p:sp>
        <p:nvSpPr>
          <p:cNvPr id="163" name="Text 3"/>
          <p:cNvSpPr/>
          <p:nvPr/>
        </p:nvSpPr>
        <p:spPr>
          <a:xfrm>
            <a:off x="2030040" y="2103120"/>
            <a:ext cx="13680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6B7280"/>
                </a:solidFill>
                <a:effectLst/>
                <a:uFillTx/>
                <a:latin typeface="Calibri"/>
                <a:ea typeface="Calibri"/>
              </a:rPr>
              <a:t>→</a:t>
            </a:r>
            <a:endParaRPr lang="en-US" sz="1400" b="0" u="none" strike="noStrike">
              <a:solidFill>
                <a:srgbClr val="000000"/>
              </a:solidFill>
              <a:effectLst/>
              <a:uFillTx/>
              <a:latin typeface="Arial"/>
            </a:endParaRPr>
          </a:p>
        </p:txBody>
      </p:sp>
      <p:sp>
        <p:nvSpPr>
          <p:cNvPr id="164" name="Shape 4"/>
          <p:cNvSpPr/>
          <p:nvPr/>
        </p:nvSpPr>
        <p:spPr>
          <a:xfrm>
            <a:off x="2148840" y="2103120"/>
            <a:ext cx="1481040" cy="1188360"/>
          </a:xfrm>
          <a:prstGeom prst="roundRect">
            <a:avLst>
              <a:gd name="adj" fmla="val 7692"/>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5" name="Text 5"/>
          <p:cNvSpPr/>
          <p:nvPr/>
        </p:nvSpPr>
        <p:spPr>
          <a:xfrm>
            <a:off x="2203560" y="2103120"/>
            <a:ext cx="137124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1D3557"/>
                </a:solidFill>
                <a:effectLst/>
                <a:uFillTx/>
                <a:latin typeface="Calibri"/>
                <a:ea typeface="Calibri"/>
              </a:rPr>
              <a:t>phase_01</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D3557"/>
                </a:solidFill>
                <a:effectLst/>
                <a:uFillTx/>
                <a:latin typeface="Calibri"/>
                <a:ea typeface="Calibri"/>
              </a:rPr>
              <a:t>First Agent</a:t>
            </a:r>
            <a:endParaRPr lang="en-US" sz="1200" b="0" u="none" strike="noStrike">
              <a:solidFill>
                <a:srgbClr val="000000"/>
              </a:solidFill>
              <a:effectLst/>
              <a:uFillTx/>
              <a:latin typeface="Arial"/>
            </a:endParaRPr>
          </a:p>
        </p:txBody>
      </p:sp>
      <p:sp>
        <p:nvSpPr>
          <p:cNvPr id="166" name="Text 6"/>
          <p:cNvSpPr/>
          <p:nvPr/>
        </p:nvSpPr>
        <p:spPr>
          <a:xfrm>
            <a:off x="3630240" y="2103120"/>
            <a:ext cx="13680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6B7280"/>
                </a:solidFill>
                <a:effectLst/>
                <a:uFillTx/>
                <a:latin typeface="Calibri"/>
                <a:ea typeface="Calibri"/>
              </a:rPr>
              <a:t>→</a:t>
            </a:r>
            <a:endParaRPr lang="en-US" sz="1400" b="0" u="none" strike="noStrike">
              <a:solidFill>
                <a:srgbClr val="000000"/>
              </a:solidFill>
              <a:effectLst/>
              <a:uFillTx/>
              <a:latin typeface="Arial"/>
            </a:endParaRPr>
          </a:p>
        </p:txBody>
      </p:sp>
      <p:sp>
        <p:nvSpPr>
          <p:cNvPr id="167" name="Shape 7"/>
          <p:cNvSpPr/>
          <p:nvPr/>
        </p:nvSpPr>
        <p:spPr>
          <a:xfrm>
            <a:off x="3749040" y="2103120"/>
            <a:ext cx="1481040" cy="1188360"/>
          </a:xfrm>
          <a:prstGeom prst="roundRect">
            <a:avLst>
              <a:gd name="adj" fmla="val 7692"/>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8" name="Text 8"/>
          <p:cNvSpPr/>
          <p:nvPr/>
        </p:nvSpPr>
        <p:spPr>
          <a:xfrm>
            <a:off x="3803760" y="2103120"/>
            <a:ext cx="137124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1D3557"/>
                </a:solidFill>
                <a:effectLst/>
                <a:uFillTx/>
                <a:latin typeface="Calibri"/>
                <a:ea typeface="Calibri"/>
              </a:rPr>
              <a:t>phase_02</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D3557"/>
                </a:solidFill>
                <a:effectLst/>
                <a:uFillTx/>
                <a:latin typeface="Calibri"/>
                <a:ea typeface="Calibri"/>
              </a:rPr>
              <a:t>Add a Tool</a:t>
            </a:r>
            <a:endParaRPr lang="en-US" sz="1200" b="0" u="none" strike="noStrike">
              <a:solidFill>
                <a:srgbClr val="000000"/>
              </a:solidFill>
              <a:effectLst/>
              <a:uFillTx/>
              <a:latin typeface="Arial"/>
            </a:endParaRPr>
          </a:p>
        </p:txBody>
      </p:sp>
      <p:sp>
        <p:nvSpPr>
          <p:cNvPr id="169" name="Text 9"/>
          <p:cNvSpPr/>
          <p:nvPr/>
        </p:nvSpPr>
        <p:spPr>
          <a:xfrm>
            <a:off x="5230440" y="2103120"/>
            <a:ext cx="13680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6B7280"/>
                </a:solidFill>
                <a:effectLst/>
                <a:uFillTx/>
                <a:latin typeface="Calibri"/>
                <a:ea typeface="Calibri"/>
              </a:rPr>
              <a:t>→</a:t>
            </a:r>
            <a:endParaRPr lang="en-US" sz="1400" b="0" u="none" strike="noStrike">
              <a:solidFill>
                <a:srgbClr val="000000"/>
              </a:solidFill>
              <a:effectLst/>
              <a:uFillTx/>
              <a:latin typeface="Arial"/>
            </a:endParaRPr>
          </a:p>
        </p:txBody>
      </p:sp>
      <p:sp>
        <p:nvSpPr>
          <p:cNvPr id="170" name="Shape 10"/>
          <p:cNvSpPr/>
          <p:nvPr/>
        </p:nvSpPr>
        <p:spPr>
          <a:xfrm>
            <a:off x="5349240" y="2103120"/>
            <a:ext cx="1481040" cy="1188360"/>
          </a:xfrm>
          <a:prstGeom prst="roundRect">
            <a:avLst>
              <a:gd name="adj" fmla="val 7692"/>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1" name="Text 11"/>
          <p:cNvSpPr/>
          <p:nvPr/>
        </p:nvSpPr>
        <p:spPr>
          <a:xfrm>
            <a:off x="5403960" y="2103120"/>
            <a:ext cx="137124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1D3557"/>
                </a:solidFill>
                <a:effectLst/>
                <a:uFillTx/>
                <a:latin typeface="Calibri"/>
                <a:ea typeface="Calibri"/>
              </a:rPr>
              <a:t>phase_03</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D3557"/>
                </a:solidFill>
                <a:effectLst/>
                <a:uFillTx/>
                <a:latin typeface="Calibri"/>
                <a:ea typeface="Calibri"/>
              </a:rPr>
              <a:t>Memory</a:t>
            </a:r>
            <a:endParaRPr lang="en-US" sz="1200" b="0" u="none" strike="noStrike">
              <a:solidFill>
                <a:srgbClr val="000000"/>
              </a:solidFill>
              <a:effectLst/>
              <a:uFillTx/>
              <a:latin typeface="Arial"/>
            </a:endParaRPr>
          </a:p>
        </p:txBody>
      </p:sp>
      <p:sp>
        <p:nvSpPr>
          <p:cNvPr id="172" name="Text 12"/>
          <p:cNvSpPr/>
          <p:nvPr/>
        </p:nvSpPr>
        <p:spPr>
          <a:xfrm>
            <a:off x="6830640" y="2103120"/>
            <a:ext cx="13680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6B7280"/>
                </a:solidFill>
                <a:effectLst/>
                <a:uFillTx/>
                <a:latin typeface="Calibri"/>
                <a:ea typeface="Calibri"/>
              </a:rPr>
              <a:t>→</a:t>
            </a:r>
            <a:endParaRPr lang="en-US" sz="1400" b="0" u="none" strike="noStrike">
              <a:solidFill>
                <a:srgbClr val="000000"/>
              </a:solidFill>
              <a:effectLst/>
              <a:uFillTx/>
              <a:latin typeface="Arial"/>
            </a:endParaRPr>
          </a:p>
        </p:txBody>
      </p:sp>
      <p:sp>
        <p:nvSpPr>
          <p:cNvPr id="173" name="Shape 13"/>
          <p:cNvSpPr/>
          <p:nvPr/>
        </p:nvSpPr>
        <p:spPr>
          <a:xfrm>
            <a:off x="6949440" y="2103120"/>
            <a:ext cx="1481040" cy="1188360"/>
          </a:xfrm>
          <a:prstGeom prst="roundRect">
            <a:avLst>
              <a:gd name="adj" fmla="val 7692"/>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4" name="Text 14"/>
          <p:cNvSpPr/>
          <p:nvPr/>
        </p:nvSpPr>
        <p:spPr>
          <a:xfrm>
            <a:off x="7004160" y="2103120"/>
            <a:ext cx="137124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1D3557"/>
                </a:solidFill>
                <a:effectLst/>
                <a:uFillTx/>
                <a:latin typeface="Calibri"/>
                <a:ea typeface="Calibri"/>
              </a:rPr>
              <a:t>phase_04</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D3557"/>
                </a:solidFill>
                <a:effectLst/>
                <a:uFillTx/>
                <a:latin typeface="Calibri"/>
                <a:ea typeface="Calibri"/>
              </a:rPr>
              <a:t>Multi-Step</a:t>
            </a:r>
            <a:endParaRPr lang="en-US" sz="1200" b="0" u="none" strike="noStrike">
              <a:solidFill>
                <a:srgbClr val="000000"/>
              </a:solidFill>
              <a:effectLst/>
              <a:uFillTx/>
              <a:latin typeface="Arial"/>
            </a:endParaRPr>
          </a:p>
        </p:txBody>
      </p:sp>
      <p:sp>
        <p:nvSpPr>
          <p:cNvPr id="175" name="Text 15"/>
          <p:cNvSpPr/>
          <p:nvPr/>
        </p:nvSpPr>
        <p:spPr>
          <a:xfrm>
            <a:off x="8430840" y="2103120"/>
            <a:ext cx="13680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6B7280"/>
                </a:solidFill>
                <a:effectLst/>
                <a:uFillTx/>
                <a:latin typeface="Calibri"/>
                <a:ea typeface="Calibri"/>
              </a:rPr>
              <a:t>→</a:t>
            </a:r>
            <a:endParaRPr lang="en-US" sz="1400" b="0" u="none" strike="noStrike">
              <a:solidFill>
                <a:srgbClr val="000000"/>
              </a:solidFill>
              <a:effectLst/>
              <a:uFillTx/>
              <a:latin typeface="Arial"/>
            </a:endParaRPr>
          </a:p>
        </p:txBody>
      </p:sp>
      <p:sp>
        <p:nvSpPr>
          <p:cNvPr id="176" name="Shape 16"/>
          <p:cNvSpPr/>
          <p:nvPr/>
        </p:nvSpPr>
        <p:spPr>
          <a:xfrm>
            <a:off x="8549640" y="2103120"/>
            <a:ext cx="1481040" cy="1188360"/>
          </a:xfrm>
          <a:prstGeom prst="roundRect">
            <a:avLst>
              <a:gd name="adj" fmla="val 7692"/>
            </a:avLst>
          </a:prstGeom>
          <a:solidFill>
            <a:srgbClr val="1D3557"/>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7" name="Text 17"/>
          <p:cNvSpPr/>
          <p:nvPr/>
        </p:nvSpPr>
        <p:spPr>
          <a:xfrm>
            <a:off x="8604360" y="2103120"/>
            <a:ext cx="137124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tracks/</a:t>
            </a:r>
            <a:endParaRPr lang="en-US" sz="1200" b="0" u="none" strike="noStrike">
              <a:solidFill>
                <a:srgbClr val="000000"/>
              </a:solidFill>
              <a:effectLst/>
              <a:uFillTx/>
              <a:latin typeface="Arial"/>
            </a:endParaRPr>
          </a:p>
        </p:txBody>
      </p:sp>
      <p:sp>
        <p:nvSpPr>
          <p:cNvPr id="178" name="Text 18"/>
          <p:cNvSpPr/>
          <p:nvPr/>
        </p:nvSpPr>
        <p:spPr>
          <a:xfrm>
            <a:off x="10031040" y="2103120"/>
            <a:ext cx="13680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6B7280"/>
                </a:solidFill>
                <a:effectLst/>
                <a:uFillTx/>
                <a:latin typeface="Calibri"/>
                <a:ea typeface="Calibri"/>
              </a:rPr>
              <a:t>→</a:t>
            </a:r>
            <a:endParaRPr lang="en-US" sz="1400" b="0" u="none" strike="noStrike">
              <a:solidFill>
                <a:srgbClr val="000000"/>
              </a:solidFill>
              <a:effectLst/>
              <a:uFillTx/>
              <a:latin typeface="Arial"/>
            </a:endParaRPr>
          </a:p>
        </p:txBody>
      </p:sp>
      <p:sp>
        <p:nvSpPr>
          <p:cNvPr id="179" name="Shape 19"/>
          <p:cNvSpPr/>
          <p:nvPr/>
        </p:nvSpPr>
        <p:spPr>
          <a:xfrm>
            <a:off x="10149840" y="2103120"/>
            <a:ext cx="1481040" cy="1188360"/>
          </a:xfrm>
          <a:prstGeom prst="roundRect">
            <a:avLst>
              <a:gd name="adj" fmla="val 7692"/>
            </a:avLst>
          </a:prstGeom>
          <a:solidFill>
            <a:srgbClr val="1D3557"/>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0" name="Text 20"/>
          <p:cNvSpPr/>
          <p:nvPr/>
        </p:nvSpPr>
        <p:spPr>
          <a:xfrm>
            <a:off x="10204560" y="2103120"/>
            <a:ext cx="137124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template/</a:t>
            </a:r>
            <a:endParaRPr lang="en-US" sz="1200" b="0" u="none" strike="noStrike">
              <a:solidFill>
                <a:srgbClr val="000000"/>
              </a:solidFill>
              <a:effectLst/>
              <a:uFillTx/>
              <a:latin typeface="Arial"/>
            </a:endParaRPr>
          </a:p>
        </p:txBody>
      </p:sp>
      <p:sp>
        <p:nvSpPr>
          <p:cNvPr id="181" name="Shape 21"/>
          <p:cNvSpPr/>
          <p:nvPr/>
        </p:nvSpPr>
        <p:spPr>
          <a:xfrm>
            <a:off x="548640" y="3840480"/>
            <a:ext cx="11063880" cy="1737000"/>
          </a:xfrm>
          <a:prstGeom prst="roundRect">
            <a:avLst>
              <a:gd name="adj" fmla="val 6316"/>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2" name="Text 22"/>
          <p:cNvSpPr/>
          <p:nvPr/>
        </p:nvSpPr>
        <p:spPr>
          <a:xfrm>
            <a:off x="868680" y="4069080"/>
            <a:ext cx="1042380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D3557"/>
                </a:solidFill>
                <a:effectLst/>
                <a:uFillTx/>
                <a:latin typeface="Calibri"/>
                <a:ea typeface="Calibri"/>
              </a:rPr>
              <a:t>Every phase from here follows the exact same loop:</a:t>
            </a:r>
            <a:endParaRPr lang="en-US" sz="1500" b="0" u="none" strike="noStrike">
              <a:solidFill>
                <a:srgbClr val="000000"/>
              </a:solidFill>
              <a:effectLst/>
              <a:uFillTx/>
              <a:latin typeface="Arial"/>
            </a:endParaRPr>
          </a:p>
        </p:txBody>
      </p:sp>
      <p:sp>
        <p:nvSpPr>
          <p:cNvPr id="183" name="Text 23"/>
          <p:cNvSpPr/>
          <p:nvPr/>
        </p:nvSpPr>
        <p:spPr>
          <a:xfrm>
            <a:off x="868680" y="4480560"/>
            <a:ext cx="1042380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i="1" u="none" strike="noStrike">
                <a:solidFill>
                  <a:srgbClr val="2A9D8F"/>
                </a:solidFill>
                <a:effectLst/>
                <a:uFillTx/>
                <a:latin typeface="Calibri"/>
                <a:ea typeface="Calibri"/>
              </a:rPr>
              <a:t>ask the model  →  check if it wants a tool  →  run the tool  →  feed the result back  →  ask again</a:t>
            </a:r>
            <a:endParaRPr lang="en-US" sz="1600" b="0" u="none" strike="noStrike">
              <a:solidFill>
                <a:srgbClr val="000000"/>
              </a:solidFill>
              <a:effectLst/>
              <a:uFillTx/>
              <a:latin typeface="Arial"/>
            </a:endParaRPr>
          </a:p>
        </p:txBody>
      </p:sp>
      <p:sp>
        <p:nvSpPr>
          <p:cNvPr id="184" name="Text 24"/>
          <p:cNvSpPr/>
          <p:nvPr/>
        </p:nvSpPr>
        <p:spPr>
          <a:xfrm>
            <a:off x="548640" y="653796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9AA5B1"/>
                </a:solidFill>
                <a:effectLst/>
                <a:uFillTx/>
                <a:latin typeface="Calibri"/>
                <a:ea typeface="Calibri"/>
              </a:rPr>
              <a:t>AI Agent Development Workshop</a:t>
            </a:r>
            <a:endParaRPr lang="en-US" sz="1000" b="0" u="none" strike="noStrike">
              <a:solidFill>
                <a:srgbClr val="000000"/>
              </a:solidFill>
              <a:effectLst/>
              <a:uFillTx/>
              <a:latin typeface="Arial"/>
            </a:endParaRPr>
          </a:p>
        </p:txBody>
      </p:sp>
      <p:sp>
        <p:nvSpPr>
          <p:cNvPr id="185" name="Text 25"/>
          <p:cNvSpPr/>
          <p:nvPr/>
        </p:nvSpPr>
        <p:spPr>
          <a:xfrm>
            <a:off x="10881360" y="6537960"/>
            <a:ext cx="82260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9AA5B1"/>
                </a:solidFill>
                <a:effectLst/>
                <a:uFillTx/>
                <a:latin typeface="Calibri"/>
                <a:ea typeface="Calibri"/>
              </a:rPr>
              <a:t>9 / 19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6" name="Text 0"/>
          <p:cNvSpPr/>
          <p:nvPr/>
        </p:nvSpPr>
        <p:spPr>
          <a:xfrm>
            <a:off x="548640" y="411480"/>
            <a:ext cx="110638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1D3557"/>
                </a:solidFill>
                <a:effectLst/>
                <a:uFillTx/>
                <a:latin typeface="Bookman Old Style"/>
                <a:ea typeface="Bookman Old Style"/>
              </a:rPr>
              <a:t>Phase 0 — Environment check</a:t>
            </a:r>
            <a:endParaRPr lang="en-US" sz="2800" b="0" u="none" strike="noStrike">
              <a:solidFill>
                <a:srgbClr val="000000"/>
              </a:solidFill>
              <a:effectLst/>
              <a:uFillTx/>
              <a:latin typeface="Arial"/>
            </a:endParaRPr>
          </a:p>
        </p:txBody>
      </p:sp>
      <p:sp>
        <p:nvSpPr>
          <p:cNvPr id="187" name="Shape 1"/>
          <p:cNvSpPr/>
          <p:nvPr/>
        </p:nvSpPr>
        <p:spPr>
          <a:xfrm>
            <a:off x="548640" y="1417320"/>
            <a:ext cx="5943240" cy="4708800"/>
          </a:xfrm>
          <a:prstGeom prst="roundRect">
            <a:avLst>
              <a:gd name="adj" fmla="val 1942"/>
            </a:avLst>
          </a:prstGeom>
          <a:solidFill>
            <a:srgbClr val="0F1E33"/>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8" name="Text 2"/>
          <p:cNvSpPr/>
          <p:nvPr/>
        </p:nvSpPr>
        <p:spPr>
          <a:xfrm>
            <a:off x="777240" y="155448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0" i="1" u="none" strike="noStrike">
                <a:solidFill>
                  <a:srgbClr val="D6E4F0"/>
                </a:solidFill>
                <a:effectLst/>
                <a:uFillTx/>
                <a:latin typeface="Calibri"/>
                <a:ea typeface="Calibri"/>
              </a:rPr>
              <a:t>phase_00_setup/check_environment.py</a:t>
            </a:r>
            <a:endParaRPr lang="en-US" sz="1150" b="0" u="none" strike="noStrike">
              <a:solidFill>
                <a:srgbClr val="000000"/>
              </a:solidFill>
              <a:effectLst/>
              <a:uFillTx/>
              <a:latin typeface="Arial"/>
            </a:endParaRPr>
          </a:p>
        </p:txBody>
      </p:sp>
      <p:sp>
        <p:nvSpPr>
          <p:cNvPr id="189" name="Text 3"/>
          <p:cNvSpPr/>
          <p:nvPr/>
        </p:nvSpPr>
        <p:spPr>
          <a:xfrm>
            <a:off x="777240" y="1920240"/>
            <a:ext cx="5486040" cy="4023000"/>
          </a:xfrm>
          <a:prstGeom prst="rect">
            <a:avLst/>
          </a:prstGeom>
          <a:noFill/>
          <a:ln w="0">
            <a:noFill/>
          </a:ln>
        </p:spPr>
        <p:style>
          <a:lnRef idx="0"/>
          <a:fillRef idx="0"/>
          <a:effectRef idx="0"/>
          <a:fontRef idx="minor"/>
        </p:style>
        <p:txBody>
          <a:bodyPr lIns="0" tIns="0" rIns="0" bIns="0" anchor="ctr">
            <a:noAutofit/>
          </a:bodyPr>
          <a:p>
            <a:pPr defTabSz="914400">
              <a:lnSpc>
                <a:spcPct val="118000"/>
              </a:lnSpc>
              <a:tabLst>
                <a:tab pos="0" algn="l"/>
              </a:tabLst>
            </a:pPr>
            <a:r>
              <a:rPr lang="en-US" sz="1250" b="0" u="none" strike="noStrike">
                <a:solidFill>
                  <a:srgbClr val="E7ECF3"/>
                </a:solidFill>
                <a:effectLst/>
                <a:uFillTx/>
                <a:latin typeface="Courier New"/>
                <a:ea typeface="Courier New"/>
              </a:rPr>
              <a:t>def check_key_actually_works():</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client = Groq(api_key=api_key)</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try:</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client.chat.completions.create(</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model=model,</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messages=[{"role": "user",</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"content": "Say OK"}],</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max_tokens=5,</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except Exception as e:</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8FB39A"/>
                </a:solidFill>
                <a:effectLst/>
                <a:uFillTx/>
                <a:latin typeface="Courier New"/>
                <a:ea typeface="Courier New"/>
              </a:rPr>
              <a:t>        print("FAIL:", e)</a:t>
            </a:r>
            <a:endParaRPr lang="en-US" sz="1250" b="0" u="none" strike="noStrike">
              <a:solidFill>
                <a:srgbClr val="000000"/>
              </a:solidFill>
              <a:effectLst/>
              <a:uFillTx/>
              <a:latin typeface="Arial"/>
            </a:endParaRPr>
          </a:p>
        </p:txBody>
      </p:sp>
      <p:sp>
        <p:nvSpPr>
          <p:cNvPr id="190" name="Text 4"/>
          <p:cNvSpPr/>
          <p:nvPr/>
        </p:nvSpPr>
        <p:spPr>
          <a:xfrm>
            <a:off x="6766560" y="1508760"/>
            <a:ext cx="48459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D3557"/>
                </a:solidFill>
                <a:effectLst/>
                <a:uFillTx/>
                <a:latin typeface="Calibri"/>
                <a:ea typeface="Calibri"/>
              </a:rPr>
              <a:t>Four checks, in order</a:t>
            </a:r>
            <a:endParaRPr lang="en-US" sz="1600" b="0" u="none" strike="noStrike">
              <a:solidFill>
                <a:srgbClr val="000000"/>
              </a:solidFill>
              <a:effectLst/>
              <a:uFillTx/>
              <a:latin typeface="Arial"/>
            </a:endParaRPr>
          </a:p>
        </p:txBody>
      </p:sp>
      <p:sp>
        <p:nvSpPr>
          <p:cNvPr id="191" name="Shape 5"/>
          <p:cNvSpPr/>
          <p:nvPr/>
        </p:nvSpPr>
        <p:spPr>
          <a:xfrm>
            <a:off x="6766560" y="218556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192" name="Text 6"/>
          <p:cNvSpPr/>
          <p:nvPr/>
        </p:nvSpPr>
        <p:spPr>
          <a:xfrm>
            <a:off x="7022520" y="2048400"/>
            <a:ext cx="463572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3A3A3A"/>
                </a:solidFill>
                <a:effectLst/>
                <a:uFillTx/>
                <a:latin typeface="Calibri"/>
                <a:ea typeface="Calibri"/>
              </a:rPr>
              <a:t>1. Python version</a:t>
            </a:r>
            <a:endParaRPr lang="en-US" sz="1500" b="0" u="none" strike="noStrike">
              <a:solidFill>
                <a:srgbClr val="000000"/>
              </a:solidFill>
              <a:effectLst/>
              <a:uFillTx/>
              <a:latin typeface="Arial"/>
            </a:endParaRPr>
          </a:p>
        </p:txBody>
      </p:sp>
      <p:sp>
        <p:nvSpPr>
          <p:cNvPr id="193" name="Shape 7"/>
          <p:cNvSpPr/>
          <p:nvPr/>
        </p:nvSpPr>
        <p:spPr>
          <a:xfrm>
            <a:off x="6766560" y="275220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194" name="Text 8"/>
          <p:cNvSpPr/>
          <p:nvPr/>
        </p:nvSpPr>
        <p:spPr>
          <a:xfrm>
            <a:off x="7022520" y="2615040"/>
            <a:ext cx="463572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3A3A3A"/>
                </a:solidFill>
                <a:effectLst/>
                <a:uFillTx/>
                <a:latin typeface="Calibri"/>
                <a:ea typeface="Calibri"/>
              </a:rPr>
              <a:t>2. Libraries installed</a:t>
            </a:r>
            <a:endParaRPr lang="en-US" sz="1500" b="0" u="none" strike="noStrike">
              <a:solidFill>
                <a:srgbClr val="000000"/>
              </a:solidFill>
              <a:effectLst/>
              <a:uFillTx/>
              <a:latin typeface="Arial"/>
            </a:endParaRPr>
          </a:p>
        </p:txBody>
      </p:sp>
      <p:sp>
        <p:nvSpPr>
          <p:cNvPr id="195" name="Shape 9"/>
          <p:cNvSpPr/>
          <p:nvPr/>
        </p:nvSpPr>
        <p:spPr>
          <a:xfrm>
            <a:off x="6766560" y="331920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196" name="Text 10"/>
          <p:cNvSpPr/>
          <p:nvPr/>
        </p:nvSpPr>
        <p:spPr>
          <a:xfrm>
            <a:off x="7022520" y="3182040"/>
            <a:ext cx="463572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3A3A3A"/>
                </a:solidFill>
                <a:effectLst/>
                <a:uFillTx/>
                <a:latin typeface="Calibri"/>
                <a:ea typeface="Calibri"/>
              </a:rPr>
              <a:t>3. .env / key present</a:t>
            </a:r>
            <a:endParaRPr lang="en-US" sz="1500" b="0" u="none" strike="noStrike">
              <a:solidFill>
                <a:srgbClr val="000000"/>
              </a:solidFill>
              <a:effectLst/>
              <a:uFillTx/>
              <a:latin typeface="Arial"/>
            </a:endParaRPr>
          </a:p>
        </p:txBody>
      </p:sp>
      <p:sp>
        <p:nvSpPr>
          <p:cNvPr id="197" name="Shape 11"/>
          <p:cNvSpPr/>
          <p:nvPr/>
        </p:nvSpPr>
        <p:spPr>
          <a:xfrm>
            <a:off x="6766560" y="388620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198" name="Text 12"/>
          <p:cNvSpPr/>
          <p:nvPr/>
        </p:nvSpPr>
        <p:spPr>
          <a:xfrm>
            <a:off x="7022520" y="3749040"/>
            <a:ext cx="463572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F7A70"/>
                </a:solidFill>
                <a:effectLst/>
                <a:uFillTx/>
                <a:latin typeface="Calibri"/>
                <a:ea typeface="Calibri"/>
              </a:rPr>
              <a:t>4. One real Groq call</a:t>
            </a:r>
            <a:endParaRPr lang="en-US" sz="1500" b="0" u="none" strike="noStrike">
              <a:solidFill>
                <a:srgbClr val="000000"/>
              </a:solidFill>
              <a:effectLst/>
              <a:uFillTx/>
              <a:latin typeface="Arial"/>
            </a:endParaRPr>
          </a:p>
        </p:txBody>
      </p:sp>
      <p:sp>
        <p:nvSpPr>
          <p:cNvPr id="199" name="Shape 13"/>
          <p:cNvSpPr/>
          <p:nvPr/>
        </p:nvSpPr>
        <p:spPr>
          <a:xfrm>
            <a:off x="6766560" y="4709160"/>
            <a:ext cx="4891680" cy="1005480"/>
          </a:xfrm>
          <a:prstGeom prst="roundRect">
            <a:avLst>
              <a:gd name="adj" fmla="val 10909"/>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0" name="Text 14"/>
          <p:cNvSpPr/>
          <p:nvPr/>
        </p:nvSpPr>
        <p:spPr>
          <a:xfrm>
            <a:off x="6995160" y="4846320"/>
            <a:ext cx="44802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i="1" u="none" strike="noStrike">
                <a:solidFill>
                  <a:srgbClr val="6B7280"/>
                </a:solidFill>
                <a:effectLst/>
                <a:uFillTx/>
                <a:latin typeface="Calibri"/>
                <a:ea typeface="Calibri"/>
              </a:rPr>
              <a:t>Why the live call matters: catches a bad/expired key NOW, in 5 seconds — not mid-build, an hour from now.</a:t>
            </a:r>
            <a:endParaRPr lang="en-US" sz="1250" b="0" u="none" strike="noStrike">
              <a:solidFill>
                <a:srgbClr val="000000"/>
              </a:solidFill>
              <a:effectLst/>
              <a:uFillTx/>
              <a:latin typeface="Arial"/>
            </a:endParaRPr>
          </a:p>
        </p:txBody>
      </p:sp>
      <p:sp>
        <p:nvSpPr>
          <p:cNvPr id="201" name="Text 15"/>
          <p:cNvSpPr/>
          <p:nvPr/>
        </p:nvSpPr>
        <p:spPr>
          <a:xfrm>
            <a:off x="548640" y="653796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9AA5B1"/>
                </a:solidFill>
                <a:effectLst/>
                <a:uFillTx/>
                <a:latin typeface="Calibri"/>
                <a:ea typeface="Calibri"/>
              </a:rPr>
              <a:t>AI Agent Development Workshop</a:t>
            </a:r>
            <a:endParaRPr lang="en-US" sz="1000" b="0" u="none" strike="noStrike">
              <a:solidFill>
                <a:srgbClr val="000000"/>
              </a:solidFill>
              <a:effectLst/>
              <a:uFillTx/>
              <a:latin typeface="Arial"/>
            </a:endParaRPr>
          </a:p>
        </p:txBody>
      </p:sp>
      <p:sp>
        <p:nvSpPr>
          <p:cNvPr id="202" name="Text 16"/>
          <p:cNvSpPr/>
          <p:nvPr/>
        </p:nvSpPr>
        <p:spPr>
          <a:xfrm>
            <a:off x="10881360" y="6537960"/>
            <a:ext cx="82260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9AA5B1"/>
                </a:solidFill>
                <a:effectLst/>
                <a:uFillTx/>
                <a:latin typeface="Calibri"/>
                <a:ea typeface="Calibri"/>
              </a:rPr>
              <a:t>10 / 19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3" name="Text 0"/>
          <p:cNvSpPr/>
          <p:nvPr/>
        </p:nvSpPr>
        <p:spPr>
          <a:xfrm>
            <a:off x="548640" y="411480"/>
            <a:ext cx="110638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1D3557"/>
                </a:solidFill>
                <a:effectLst/>
                <a:uFillTx/>
                <a:latin typeface="Bookman Old Style"/>
                <a:ea typeface="Bookman Old Style"/>
              </a:rPr>
              <a:t>Phase 1 — Your first agent (the core loop)</a:t>
            </a:r>
            <a:endParaRPr lang="en-US" sz="2800" b="0" u="none" strike="noStrike">
              <a:solidFill>
                <a:srgbClr val="000000"/>
              </a:solidFill>
              <a:effectLst/>
              <a:uFillTx/>
              <a:latin typeface="Arial"/>
            </a:endParaRPr>
          </a:p>
        </p:txBody>
      </p:sp>
      <p:sp>
        <p:nvSpPr>
          <p:cNvPr id="204" name="Shape 1"/>
          <p:cNvSpPr/>
          <p:nvPr/>
        </p:nvSpPr>
        <p:spPr>
          <a:xfrm>
            <a:off x="548640" y="1417320"/>
            <a:ext cx="5943240" cy="4708800"/>
          </a:xfrm>
          <a:prstGeom prst="roundRect">
            <a:avLst>
              <a:gd name="adj" fmla="val 1942"/>
            </a:avLst>
          </a:prstGeom>
          <a:solidFill>
            <a:srgbClr val="0F1E33"/>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5" name="Text 2"/>
          <p:cNvSpPr/>
          <p:nvPr/>
        </p:nvSpPr>
        <p:spPr>
          <a:xfrm>
            <a:off x="777240" y="155448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0" i="1" u="none" strike="noStrike">
                <a:solidFill>
                  <a:srgbClr val="D6E4F0"/>
                </a:solidFill>
                <a:effectLst/>
                <a:uFillTx/>
                <a:latin typeface="Calibri"/>
                <a:ea typeface="Calibri"/>
              </a:rPr>
              <a:t>phase_01_first_agent/hello_agent.py</a:t>
            </a:r>
            <a:endParaRPr lang="en-US" sz="1150" b="0" u="none" strike="noStrike">
              <a:solidFill>
                <a:srgbClr val="000000"/>
              </a:solidFill>
              <a:effectLst/>
              <a:uFillTx/>
              <a:latin typeface="Arial"/>
            </a:endParaRPr>
          </a:p>
        </p:txBody>
      </p:sp>
      <p:sp>
        <p:nvSpPr>
          <p:cNvPr id="206" name="Text 3"/>
          <p:cNvSpPr/>
          <p:nvPr/>
        </p:nvSpPr>
        <p:spPr>
          <a:xfrm>
            <a:off x="777240" y="1920240"/>
            <a:ext cx="5486040" cy="4023000"/>
          </a:xfrm>
          <a:prstGeom prst="rect">
            <a:avLst/>
          </a:prstGeom>
          <a:noFill/>
          <a:ln w="0">
            <a:noFill/>
          </a:ln>
        </p:spPr>
        <p:style>
          <a:lnRef idx="0"/>
          <a:fillRef idx="0"/>
          <a:effectRef idx="0"/>
          <a:fontRef idx="minor"/>
        </p:style>
        <p:txBody>
          <a:bodyPr lIns="0" tIns="0" rIns="0" bIns="0" anchor="ctr">
            <a:noAutofit/>
          </a:bodyPr>
          <a:p>
            <a:pPr defTabSz="914400">
              <a:lnSpc>
                <a:spcPct val="118000"/>
              </a:lnSpc>
              <a:tabLst>
                <a:tab pos="0" algn="l"/>
              </a:tabLst>
            </a:pPr>
            <a:r>
              <a:rPr lang="en-US" sz="1250" b="0" u="none" strike="noStrike">
                <a:solidFill>
                  <a:srgbClr val="E7ECF3"/>
                </a:solidFill>
                <a:effectLst/>
                <a:uFillTx/>
                <a:latin typeface="Courier New"/>
                <a:ea typeface="Courier New"/>
              </a:rPr>
              <a:t>ai_message = llm_with_tools.invoke(messages)</a:t>
            </a:r>
            <a:endParaRPr lang="en-US" sz="1250" b="0" u="none" strike="noStrike">
              <a:solidFill>
                <a:srgbClr val="000000"/>
              </a:solidFill>
              <a:effectLst/>
              <a:uFillTx/>
              <a:latin typeface="Arial"/>
            </a:endParaRPr>
          </a:p>
          <a:p>
            <a:pPr defTabSz="914400">
              <a:lnSpc>
                <a:spcPct val="118000"/>
              </a:lnSpc>
              <a:tabLst>
                <a:tab pos="0" algn="l"/>
              </a:tabLst>
            </a:pP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if ai_message.tool_calls:</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for call in ai_message.tool_calls:</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tool = tools_by_name[call["name"]]</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result = tool.invoke(call["args"])</a:t>
            </a:r>
            <a:endParaRPr lang="en-US" sz="1250" b="0" u="none" strike="noStrike">
              <a:solidFill>
                <a:srgbClr val="000000"/>
              </a:solidFill>
              <a:effectLst/>
              <a:uFillTx/>
              <a:latin typeface="Arial"/>
            </a:endParaRPr>
          </a:p>
          <a:p>
            <a:pPr defTabSz="914400">
              <a:lnSpc>
                <a:spcPct val="118000"/>
              </a:lnSpc>
              <a:tabLst>
                <a:tab pos="0" algn="l"/>
              </a:tabLst>
            </a:pP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messages.append(</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ToolMessage(content=str(result),</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tool_call_id=call["id"])</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6FD3C4"/>
                </a:solidFill>
                <a:effectLst/>
                <a:uFillTx/>
                <a:latin typeface="Courier New"/>
                <a:ea typeface="Courier New"/>
              </a:rPr>
              <a:t>    final = llm_with_tools.invoke(messages)</a:t>
            </a:r>
            <a:endParaRPr lang="en-US" sz="1250" b="0" u="none" strike="noStrike">
              <a:solidFill>
                <a:srgbClr val="000000"/>
              </a:solidFill>
              <a:effectLst/>
              <a:uFillTx/>
              <a:latin typeface="Arial"/>
            </a:endParaRPr>
          </a:p>
        </p:txBody>
      </p:sp>
      <p:sp>
        <p:nvSpPr>
          <p:cNvPr id="207" name="Text 4"/>
          <p:cNvSpPr/>
          <p:nvPr/>
        </p:nvSpPr>
        <p:spPr>
          <a:xfrm>
            <a:off x="6766560" y="1508760"/>
            <a:ext cx="48459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D3557"/>
                </a:solidFill>
                <a:effectLst/>
                <a:uFillTx/>
                <a:latin typeface="Calibri"/>
                <a:ea typeface="Calibri"/>
              </a:rPr>
              <a:t>The loop, spelled out</a:t>
            </a:r>
            <a:endParaRPr lang="en-US" sz="1600" b="0" u="none" strike="noStrike">
              <a:solidFill>
                <a:srgbClr val="000000"/>
              </a:solidFill>
              <a:effectLst/>
              <a:uFillTx/>
              <a:latin typeface="Arial"/>
            </a:endParaRPr>
          </a:p>
        </p:txBody>
      </p:sp>
      <p:sp>
        <p:nvSpPr>
          <p:cNvPr id="208" name="Shape 5"/>
          <p:cNvSpPr/>
          <p:nvPr/>
        </p:nvSpPr>
        <p:spPr>
          <a:xfrm>
            <a:off x="6766560" y="218556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209" name="Text 6"/>
          <p:cNvSpPr/>
          <p:nvPr/>
        </p:nvSpPr>
        <p:spPr>
          <a:xfrm>
            <a:off x="7022520" y="2048400"/>
            <a:ext cx="463572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3A3A3A"/>
                </a:solidFill>
                <a:effectLst/>
                <a:uFillTx/>
                <a:latin typeface="Calibri"/>
                <a:ea typeface="Calibri"/>
              </a:rPr>
              <a:t>1. LLM decides</a:t>
            </a:r>
            <a:endParaRPr lang="en-US" sz="1450" b="0" u="none" strike="noStrike">
              <a:solidFill>
                <a:srgbClr val="000000"/>
              </a:solidFill>
              <a:effectLst/>
              <a:uFillTx/>
              <a:latin typeface="Arial"/>
            </a:endParaRPr>
          </a:p>
        </p:txBody>
      </p:sp>
      <p:sp>
        <p:nvSpPr>
          <p:cNvPr id="210" name="Shape 7"/>
          <p:cNvSpPr/>
          <p:nvPr/>
        </p:nvSpPr>
        <p:spPr>
          <a:xfrm>
            <a:off x="6766560" y="275220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211" name="Text 8"/>
          <p:cNvSpPr/>
          <p:nvPr/>
        </p:nvSpPr>
        <p:spPr>
          <a:xfrm>
            <a:off x="7022520" y="2615040"/>
            <a:ext cx="463572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3A3A3A"/>
                </a:solidFill>
                <a:effectLst/>
                <a:uFillTx/>
                <a:latin typeface="Calibri"/>
                <a:ea typeface="Calibri"/>
              </a:rPr>
              <a:t>2. Check ai_message.tool_calls</a:t>
            </a:r>
            <a:endParaRPr lang="en-US" sz="1450" b="0" u="none" strike="noStrike">
              <a:solidFill>
                <a:srgbClr val="000000"/>
              </a:solidFill>
              <a:effectLst/>
              <a:uFillTx/>
              <a:latin typeface="Arial"/>
            </a:endParaRPr>
          </a:p>
        </p:txBody>
      </p:sp>
      <p:sp>
        <p:nvSpPr>
          <p:cNvPr id="212" name="Shape 9"/>
          <p:cNvSpPr/>
          <p:nvPr/>
        </p:nvSpPr>
        <p:spPr>
          <a:xfrm>
            <a:off x="6766560" y="331920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213" name="Text 10"/>
          <p:cNvSpPr/>
          <p:nvPr/>
        </p:nvSpPr>
        <p:spPr>
          <a:xfrm>
            <a:off x="7022520" y="3182040"/>
            <a:ext cx="463572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3A3A3A"/>
                </a:solidFill>
                <a:effectLst/>
                <a:uFillTx/>
                <a:latin typeface="Calibri"/>
                <a:ea typeface="Calibri"/>
              </a:rPr>
              <a:t>3. Python runs the actual function</a:t>
            </a:r>
            <a:endParaRPr lang="en-US" sz="1450" b="0" u="none" strike="noStrike">
              <a:solidFill>
                <a:srgbClr val="000000"/>
              </a:solidFill>
              <a:effectLst/>
              <a:uFillTx/>
              <a:latin typeface="Arial"/>
            </a:endParaRPr>
          </a:p>
        </p:txBody>
      </p:sp>
      <p:sp>
        <p:nvSpPr>
          <p:cNvPr id="214" name="Shape 11"/>
          <p:cNvSpPr/>
          <p:nvPr/>
        </p:nvSpPr>
        <p:spPr>
          <a:xfrm>
            <a:off x="6766560" y="388620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215" name="Text 12"/>
          <p:cNvSpPr/>
          <p:nvPr/>
        </p:nvSpPr>
        <p:spPr>
          <a:xfrm>
            <a:off x="7022520" y="3749040"/>
            <a:ext cx="463572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3A3A3A"/>
                </a:solidFill>
                <a:effectLst/>
                <a:uFillTx/>
                <a:latin typeface="Calibri"/>
                <a:ea typeface="Calibri"/>
              </a:rPr>
              <a:t>4. Feed the result back</a:t>
            </a:r>
            <a:endParaRPr lang="en-US" sz="1450" b="0" u="none" strike="noStrike">
              <a:solidFill>
                <a:srgbClr val="000000"/>
              </a:solidFill>
              <a:effectLst/>
              <a:uFillTx/>
              <a:latin typeface="Arial"/>
            </a:endParaRPr>
          </a:p>
        </p:txBody>
      </p:sp>
      <p:sp>
        <p:nvSpPr>
          <p:cNvPr id="216" name="Shape 13"/>
          <p:cNvSpPr/>
          <p:nvPr/>
        </p:nvSpPr>
        <p:spPr>
          <a:xfrm>
            <a:off x="6766560" y="445320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217" name="Text 14"/>
          <p:cNvSpPr/>
          <p:nvPr/>
        </p:nvSpPr>
        <p:spPr>
          <a:xfrm>
            <a:off x="7022520" y="4316040"/>
            <a:ext cx="463572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3A3A3A"/>
                </a:solidFill>
                <a:effectLst/>
                <a:uFillTx/>
                <a:latin typeface="Calibri"/>
                <a:ea typeface="Calibri"/>
              </a:rPr>
              <a:t>5. Ask the LLM again → final answer</a:t>
            </a:r>
            <a:endParaRPr lang="en-US" sz="1450" b="0" u="none" strike="noStrike">
              <a:solidFill>
                <a:srgbClr val="000000"/>
              </a:solidFill>
              <a:effectLst/>
              <a:uFillTx/>
              <a:latin typeface="Arial"/>
            </a:endParaRPr>
          </a:p>
        </p:txBody>
      </p:sp>
      <p:sp>
        <p:nvSpPr>
          <p:cNvPr id="218" name="Shape 15"/>
          <p:cNvSpPr/>
          <p:nvPr/>
        </p:nvSpPr>
        <p:spPr>
          <a:xfrm>
            <a:off x="6766560" y="5074920"/>
            <a:ext cx="4891680" cy="1005480"/>
          </a:xfrm>
          <a:prstGeom prst="roundRect">
            <a:avLst>
              <a:gd name="adj" fmla="val 10909"/>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9" name="Text 16"/>
          <p:cNvSpPr/>
          <p:nvPr/>
        </p:nvSpPr>
        <p:spPr>
          <a:xfrm>
            <a:off x="6995160" y="5212080"/>
            <a:ext cx="44802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i="1" u="none" strike="noStrike">
                <a:solidFill>
                  <a:srgbClr val="6B7280"/>
                </a:solidFill>
                <a:effectLst/>
                <a:uFillTx/>
                <a:latin typeface="Calibri"/>
                <a:ea typeface="Calibri"/>
              </a:rPr>
              <a:t>get_word_count() — the docstring IS the instruction. The model never sees the function's code.</a:t>
            </a:r>
            <a:endParaRPr lang="en-US" sz="1250" b="0" u="none" strike="noStrike">
              <a:solidFill>
                <a:srgbClr val="000000"/>
              </a:solidFill>
              <a:effectLst/>
              <a:uFillTx/>
              <a:latin typeface="Arial"/>
            </a:endParaRPr>
          </a:p>
        </p:txBody>
      </p:sp>
      <p:sp>
        <p:nvSpPr>
          <p:cNvPr id="220" name="Text 17"/>
          <p:cNvSpPr/>
          <p:nvPr/>
        </p:nvSpPr>
        <p:spPr>
          <a:xfrm>
            <a:off x="548640" y="653796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9AA5B1"/>
                </a:solidFill>
                <a:effectLst/>
                <a:uFillTx/>
                <a:latin typeface="Calibri"/>
                <a:ea typeface="Calibri"/>
              </a:rPr>
              <a:t>AI Agent Development Workshop</a:t>
            </a:r>
            <a:endParaRPr lang="en-US" sz="1000" b="0" u="none" strike="noStrike">
              <a:solidFill>
                <a:srgbClr val="000000"/>
              </a:solidFill>
              <a:effectLst/>
              <a:uFillTx/>
              <a:latin typeface="Arial"/>
            </a:endParaRPr>
          </a:p>
        </p:txBody>
      </p:sp>
      <p:sp>
        <p:nvSpPr>
          <p:cNvPr id="221" name="Text 18"/>
          <p:cNvSpPr/>
          <p:nvPr/>
        </p:nvSpPr>
        <p:spPr>
          <a:xfrm>
            <a:off x="10881360" y="6537960"/>
            <a:ext cx="82260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9AA5B1"/>
                </a:solidFill>
                <a:effectLst/>
                <a:uFillTx/>
                <a:latin typeface="Calibri"/>
                <a:ea typeface="Calibri"/>
              </a:rPr>
              <a:t>11 / 19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2" name="Text 0"/>
          <p:cNvSpPr/>
          <p:nvPr/>
        </p:nvSpPr>
        <p:spPr>
          <a:xfrm>
            <a:off x="548640" y="411480"/>
            <a:ext cx="110638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1D3557"/>
                </a:solidFill>
                <a:effectLst/>
                <a:uFillTx/>
                <a:latin typeface="Bookman Old Style"/>
                <a:ea typeface="Bookman Old Style"/>
              </a:rPr>
              <a:t>Phase 2 — Adding a tool</a:t>
            </a:r>
            <a:endParaRPr lang="en-US" sz="2800" b="0" u="none" strike="noStrike">
              <a:solidFill>
                <a:srgbClr val="000000"/>
              </a:solidFill>
              <a:effectLst/>
              <a:uFillTx/>
              <a:latin typeface="Arial"/>
            </a:endParaRPr>
          </a:p>
        </p:txBody>
      </p:sp>
      <p:sp>
        <p:nvSpPr>
          <p:cNvPr id="223" name="Shape 1"/>
          <p:cNvSpPr/>
          <p:nvPr/>
        </p:nvSpPr>
        <p:spPr>
          <a:xfrm>
            <a:off x="548640" y="1417320"/>
            <a:ext cx="5943240" cy="4708800"/>
          </a:xfrm>
          <a:prstGeom prst="roundRect">
            <a:avLst>
              <a:gd name="adj" fmla="val 1942"/>
            </a:avLst>
          </a:prstGeom>
          <a:solidFill>
            <a:srgbClr val="0F1E33"/>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4" name="Text 2"/>
          <p:cNvSpPr/>
          <p:nvPr/>
        </p:nvSpPr>
        <p:spPr>
          <a:xfrm>
            <a:off x="777240" y="155448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0" i="1" u="none" strike="noStrike">
                <a:solidFill>
                  <a:srgbClr val="D6E4F0"/>
                </a:solidFill>
                <a:effectLst/>
                <a:uFillTx/>
                <a:latin typeface="Calibri"/>
                <a:ea typeface="Calibri"/>
              </a:rPr>
              <a:t>phase_02_add_a_tool/agent_with_tool.py</a:t>
            </a:r>
            <a:endParaRPr lang="en-US" sz="1150" b="0" u="none" strike="noStrike">
              <a:solidFill>
                <a:srgbClr val="000000"/>
              </a:solidFill>
              <a:effectLst/>
              <a:uFillTx/>
              <a:latin typeface="Arial"/>
            </a:endParaRPr>
          </a:p>
        </p:txBody>
      </p:sp>
      <p:sp>
        <p:nvSpPr>
          <p:cNvPr id="225" name="Text 3"/>
          <p:cNvSpPr/>
          <p:nvPr/>
        </p:nvSpPr>
        <p:spPr>
          <a:xfrm>
            <a:off x="777240" y="1920240"/>
            <a:ext cx="5486040" cy="4023000"/>
          </a:xfrm>
          <a:prstGeom prst="rect">
            <a:avLst/>
          </a:prstGeom>
          <a:noFill/>
          <a:ln w="0">
            <a:noFill/>
          </a:ln>
        </p:spPr>
        <p:style>
          <a:lnRef idx="0"/>
          <a:fillRef idx="0"/>
          <a:effectRef idx="0"/>
          <a:fontRef idx="minor"/>
        </p:style>
        <p:txBody>
          <a:bodyPr lIns="0" tIns="0" rIns="0" bIns="0" anchor="ctr">
            <a:noAutofit/>
          </a:bodyPr>
          <a:p>
            <a:pPr defTabSz="914400">
              <a:lnSpc>
                <a:spcPct val="118000"/>
              </a:lnSpc>
              <a:tabLst>
                <a:tab pos="0" algn="l"/>
              </a:tabLst>
            </a:pPr>
            <a:r>
              <a:rPr lang="en-US" sz="1250" b="0" u="none" strike="noStrike">
                <a:solidFill>
                  <a:srgbClr val="E7ECF3"/>
                </a:solidFill>
                <a:effectLst/>
                <a:uFillTx/>
                <a:latin typeface="Courier New"/>
                <a:ea typeface="Courier New"/>
              </a:rPr>
              <a:t>@tool</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def lookup_student(name: str) -&gt; str:</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8FB39A"/>
                </a:solidFill>
                <a:effectLst/>
                <a:uFillTx/>
                <a:latin typeface="Courier New"/>
                <a:ea typeface="Courier New"/>
              </a:rPr>
              <a:t>    """Look up a student's program and</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8FB39A"/>
                </a:solidFill>
                <a:effectLst/>
                <a:uFillTx/>
                <a:latin typeface="Courier New"/>
                <a:ea typeface="Courier New"/>
              </a:rPr>
              <a:t>    year by first name. Use this when</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8FB39A"/>
                </a:solidFill>
                <a:effectLst/>
                <a:uFillTx/>
                <a:latin typeface="Courier New"/>
                <a:ea typeface="Courier New"/>
              </a:rPr>
              <a:t>    asked about a specific student."""</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record = MOCK_STUDENT_RECORDS.get(name)</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a:t>
            </a:r>
            <a:endParaRPr lang="en-US" sz="1250" b="0" u="none" strike="noStrike">
              <a:solidFill>
                <a:srgbClr val="000000"/>
              </a:solidFill>
              <a:effectLst/>
              <a:uFillTx/>
              <a:latin typeface="Arial"/>
            </a:endParaRPr>
          </a:p>
          <a:p>
            <a:pPr defTabSz="914400">
              <a:lnSpc>
                <a:spcPct val="118000"/>
              </a:lnSpc>
              <a:tabLst>
                <a:tab pos="0" algn="l"/>
              </a:tabLst>
            </a:pP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6FD3C4"/>
                </a:solidFill>
                <a:effectLst/>
                <a:uFillTx/>
                <a:latin typeface="Courier New"/>
                <a:ea typeface="Courier New"/>
              </a:rPr>
              <a:t>tools = [get_word_count, lookup_student]</a:t>
            </a:r>
            <a:endParaRPr lang="en-US" sz="1250" b="0" u="none" strike="noStrike">
              <a:solidFill>
                <a:srgbClr val="000000"/>
              </a:solidFill>
              <a:effectLst/>
              <a:uFillTx/>
              <a:latin typeface="Arial"/>
            </a:endParaRPr>
          </a:p>
        </p:txBody>
      </p:sp>
      <p:sp>
        <p:nvSpPr>
          <p:cNvPr id="226" name="Text 4"/>
          <p:cNvSpPr/>
          <p:nvPr/>
        </p:nvSpPr>
        <p:spPr>
          <a:xfrm>
            <a:off x="6766560" y="1508760"/>
            <a:ext cx="48459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D3557"/>
                </a:solidFill>
                <a:effectLst/>
                <a:uFillTx/>
                <a:latin typeface="Calibri"/>
                <a:ea typeface="Calibri"/>
              </a:rPr>
              <a:t>What actually changed</a:t>
            </a:r>
            <a:endParaRPr lang="en-US" sz="1600" b="0" u="none" strike="noStrike">
              <a:solidFill>
                <a:srgbClr val="000000"/>
              </a:solidFill>
              <a:effectLst/>
              <a:uFillTx/>
              <a:latin typeface="Arial"/>
            </a:endParaRPr>
          </a:p>
        </p:txBody>
      </p:sp>
      <p:sp>
        <p:nvSpPr>
          <p:cNvPr id="227" name="Shape 5"/>
          <p:cNvSpPr/>
          <p:nvPr/>
        </p:nvSpPr>
        <p:spPr>
          <a:xfrm>
            <a:off x="6766560" y="218556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228" name="Text 6"/>
          <p:cNvSpPr/>
          <p:nvPr/>
        </p:nvSpPr>
        <p:spPr>
          <a:xfrm>
            <a:off x="7022520" y="2048400"/>
            <a:ext cx="463572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3A3A3A"/>
                </a:solidFill>
                <a:effectLst/>
                <a:uFillTx/>
                <a:latin typeface="Calibri"/>
                <a:ea typeface="Calibri"/>
              </a:rPr>
              <a:t>The loop code: unchanged, character for character, from phase 1</a:t>
            </a:r>
            <a:endParaRPr lang="en-US" sz="1450" b="0" u="none" strike="noStrike">
              <a:solidFill>
                <a:srgbClr val="000000"/>
              </a:solidFill>
              <a:effectLst/>
              <a:uFillTx/>
              <a:latin typeface="Arial"/>
            </a:endParaRPr>
          </a:p>
        </p:txBody>
      </p:sp>
      <p:sp>
        <p:nvSpPr>
          <p:cNvPr id="229" name="Shape 7"/>
          <p:cNvSpPr/>
          <p:nvPr/>
        </p:nvSpPr>
        <p:spPr>
          <a:xfrm>
            <a:off x="6766560" y="275220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230" name="Text 8"/>
          <p:cNvSpPr/>
          <p:nvPr/>
        </p:nvSpPr>
        <p:spPr>
          <a:xfrm>
            <a:off x="7022520" y="2615040"/>
            <a:ext cx="463572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3A3A3A"/>
                </a:solidFill>
                <a:effectLst/>
                <a:uFillTx/>
                <a:latin typeface="Calibri"/>
                <a:ea typeface="Calibri"/>
              </a:rPr>
              <a:t>One new @tool function, added to the tools list</a:t>
            </a:r>
            <a:endParaRPr lang="en-US" sz="1450" b="0" u="none" strike="noStrike">
              <a:solidFill>
                <a:srgbClr val="000000"/>
              </a:solidFill>
              <a:effectLst/>
              <a:uFillTx/>
              <a:latin typeface="Arial"/>
            </a:endParaRPr>
          </a:p>
        </p:txBody>
      </p:sp>
      <p:sp>
        <p:nvSpPr>
          <p:cNvPr id="231" name="Shape 9"/>
          <p:cNvSpPr/>
          <p:nvPr/>
        </p:nvSpPr>
        <p:spPr>
          <a:xfrm>
            <a:off x="6766560" y="4206240"/>
            <a:ext cx="4891680" cy="1005480"/>
          </a:xfrm>
          <a:prstGeom prst="roundRect">
            <a:avLst>
              <a:gd name="adj" fmla="val 10909"/>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2" name="Text 10"/>
          <p:cNvSpPr/>
          <p:nvPr/>
        </p:nvSpPr>
        <p:spPr>
          <a:xfrm>
            <a:off x="6995160" y="4343400"/>
            <a:ext cx="44802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i="1" u="none" strike="noStrike">
                <a:solidFill>
                  <a:srgbClr val="6B7280"/>
                </a:solidFill>
                <a:effectLst/>
                <a:uFillTx/>
                <a:latin typeface="Calibri"/>
                <a:ea typeface="Calibri"/>
              </a:rPr>
              <a:t>This is the entire pattern for “give your agent a new skill.”</a:t>
            </a:r>
            <a:endParaRPr lang="en-US" sz="1250" b="0" u="none" strike="noStrike">
              <a:solidFill>
                <a:srgbClr val="000000"/>
              </a:solidFill>
              <a:effectLst/>
              <a:uFillTx/>
              <a:latin typeface="Arial"/>
            </a:endParaRPr>
          </a:p>
        </p:txBody>
      </p:sp>
      <p:sp>
        <p:nvSpPr>
          <p:cNvPr id="233" name="Text 11"/>
          <p:cNvSpPr/>
          <p:nvPr/>
        </p:nvSpPr>
        <p:spPr>
          <a:xfrm>
            <a:off x="548640" y="653796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9AA5B1"/>
                </a:solidFill>
                <a:effectLst/>
                <a:uFillTx/>
                <a:latin typeface="Calibri"/>
                <a:ea typeface="Calibri"/>
              </a:rPr>
              <a:t>AI Agent Development Workshop</a:t>
            </a:r>
            <a:endParaRPr lang="en-US" sz="1000" b="0" u="none" strike="noStrike">
              <a:solidFill>
                <a:srgbClr val="000000"/>
              </a:solidFill>
              <a:effectLst/>
              <a:uFillTx/>
              <a:latin typeface="Arial"/>
            </a:endParaRPr>
          </a:p>
        </p:txBody>
      </p:sp>
      <p:sp>
        <p:nvSpPr>
          <p:cNvPr id="234" name="Text 12"/>
          <p:cNvSpPr/>
          <p:nvPr/>
        </p:nvSpPr>
        <p:spPr>
          <a:xfrm>
            <a:off x="10881360" y="6537960"/>
            <a:ext cx="82260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9AA5B1"/>
                </a:solidFill>
                <a:effectLst/>
                <a:uFillTx/>
                <a:latin typeface="Calibri"/>
                <a:ea typeface="Calibri"/>
              </a:rPr>
              <a:t>12 / 19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5" name="Text 0"/>
          <p:cNvSpPr/>
          <p:nvPr/>
        </p:nvSpPr>
        <p:spPr>
          <a:xfrm>
            <a:off x="548640" y="411480"/>
            <a:ext cx="110638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1D3557"/>
                </a:solidFill>
                <a:effectLst/>
                <a:uFillTx/>
                <a:latin typeface="Bookman Old Style"/>
                <a:ea typeface="Bookman Old Style"/>
              </a:rPr>
              <a:t>Phase 3 — Memory</a:t>
            </a:r>
            <a:endParaRPr lang="en-US" sz="2800" b="0" u="none" strike="noStrike">
              <a:solidFill>
                <a:srgbClr val="000000"/>
              </a:solidFill>
              <a:effectLst/>
              <a:uFillTx/>
              <a:latin typeface="Arial"/>
            </a:endParaRPr>
          </a:p>
        </p:txBody>
      </p:sp>
      <p:sp>
        <p:nvSpPr>
          <p:cNvPr id="236" name="Shape 1"/>
          <p:cNvSpPr/>
          <p:nvPr/>
        </p:nvSpPr>
        <p:spPr>
          <a:xfrm>
            <a:off x="548640" y="1417320"/>
            <a:ext cx="5943240" cy="4708800"/>
          </a:xfrm>
          <a:prstGeom prst="roundRect">
            <a:avLst>
              <a:gd name="adj" fmla="val 1942"/>
            </a:avLst>
          </a:prstGeom>
          <a:solidFill>
            <a:srgbClr val="0F1E33"/>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7" name="Text 2"/>
          <p:cNvSpPr/>
          <p:nvPr/>
        </p:nvSpPr>
        <p:spPr>
          <a:xfrm>
            <a:off x="777240" y="155448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0" i="1" u="none" strike="noStrike">
                <a:solidFill>
                  <a:srgbClr val="D6E4F0"/>
                </a:solidFill>
                <a:effectLst/>
                <a:uFillTx/>
                <a:latin typeface="Calibri"/>
                <a:ea typeface="Calibri"/>
              </a:rPr>
              <a:t>phase_03_memory/agent_with_memory.py</a:t>
            </a:r>
            <a:endParaRPr lang="en-US" sz="1150" b="0" u="none" strike="noStrike">
              <a:solidFill>
                <a:srgbClr val="000000"/>
              </a:solidFill>
              <a:effectLst/>
              <a:uFillTx/>
              <a:latin typeface="Arial"/>
            </a:endParaRPr>
          </a:p>
        </p:txBody>
      </p:sp>
      <p:sp>
        <p:nvSpPr>
          <p:cNvPr id="238" name="Text 3"/>
          <p:cNvSpPr/>
          <p:nvPr/>
        </p:nvSpPr>
        <p:spPr>
          <a:xfrm>
            <a:off x="777240" y="1920240"/>
            <a:ext cx="5486040" cy="4023000"/>
          </a:xfrm>
          <a:prstGeom prst="rect">
            <a:avLst/>
          </a:prstGeom>
          <a:noFill/>
          <a:ln w="0">
            <a:noFill/>
          </a:ln>
        </p:spPr>
        <p:style>
          <a:lnRef idx="0"/>
          <a:fillRef idx="0"/>
          <a:effectRef idx="0"/>
          <a:fontRef idx="minor"/>
        </p:style>
        <p:txBody>
          <a:bodyPr lIns="0" tIns="0" rIns="0" bIns="0" anchor="ctr">
            <a:noAutofit/>
          </a:bodyPr>
          <a:p>
            <a:pPr defTabSz="914400">
              <a:lnSpc>
                <a:spcPct val="118000"/>
              </a:lnSpc>
              <a:tabLst>
                <a:tab pos="0" algn="l"/>
              </a:tabLst>
            </a:pPr>
            <a:r>
              <a:rPr lang="en-US" sz="1250" b="0" u="none" strike="noStrike">
                <a:solidFill>
                  <a:srgbClr val="6FD3C4"/>
                </a:solidFill>
                <a:effectLst/>
                <a:uFillTx/>
                <a:latin typeface="Courier New"/>
                <a:ea typeface="Courier New"/>
              </a:rPr>
              <a:t>conversation_history = []</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8FB39A"/>
                </a:solidFill>
                <a:effectLst/>
                <a:uFillTx/>
                <a:latin typeface="Courier New"/>
                <a:ea typeface="Courier New"/>
              </a:rPr>
              <a:t># ^ lives OUTSIDE the function, survives</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8FB39A"/>
                </a:solidFill>
                <a:effectLst/>
                <a:uFillTx/>
                <a:latin typeface="Courier New"/>
                <a:ea typeface="Courier New"/>
              </a:rPr>
              <a:t># between calls -- that's the whole trick</a:t>
            </a:r>
            <a:endParaRPr lang="en-US" sz="1250" b="0" u="none" strike="noStrike">
              <a:solidFill>
                <a:srgbClr val="000000"/>
              </a:solidFill>
              <a:effectLst/>
              <a:uFillTx/>
              <a:latin typeface="Arial"/>
            </a:endParaRPr>
          </a:p>
          <a:p>
            <a:pPr defTabSz="914400">
              <a:lnSpc>
                <a:spcPct val="118000"/>
              </a:lnSpc>
              <a:tabLst>
                <a:tab pos="0" algn="l"/>
              </a:tabLst>
            </a:pP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def run_agent(user_input):</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conversation_history.append(</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HumanMessage(content=user_input)</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ai_message = llm_with_tools.invoke(</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conversation_history</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a:t>
            </a:r>
            <a:endParaRPr lang="en-US" sz="1250" b="0" u="none" strike="noStrike">
              <a:solidFill>
                <a:srgbClr val="000000"/>
              </a:solidFill>
              <a:effectLst/>
              <a:uFillTx/>
              <a:latin typeface="Arial"/>
            </a:endParaRPr>
          </a:p>
        </p:txBody>
      </p:sp>
      <p:sp>
        <p:nvSpPr>
          <p:cNvPr id="239" name="Text 4"/>
          <p:cNvSpPr/>
          <p:nvPr/>
        </p:nvSpPr>
        <p:spPr>
          <a:xfrm>
            <a:off x="6766560" y="1508760"/>
            <a:ext cx="48459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D3557"/>
                </a:solidFill>
                <a:effectLst/>
                <a:uFillTx/>
                <a:latin typeface="Calibri"/>
                <a:ea typeface="Calibri"/>
              </a:rPr>
              <a:t>The change, in one line</a:t>
            </a:r>
            <a:endParaRPr lang="en-US" sz="1600" b="0" u="none" strike="noStrike">
              <a:solidFill>
                <a:srgbClr val="000000"/>
              </a:solidFill>
              <a:effectLst/>
              <a:uFillTx/>
              <a:latin typeface="Arial"/>
            </a:endParaRPr>
          </a:p>
        </p:txBody>
      </p:sp>
      <p:sp>
        <p:nvSpPr>
          <p:cNvPr id="240" name="Shape 5"/>
          <p:cNvSpPr/>
          <p:nvPr/>
        </p:nvSpPr>
        <p:spPr>
          <a:xfrm>
            <a:off x="6766560" y="218556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241" name="Text 6"/>
          <p:cNvSpPr/>
          <p:nvPr/>
        </p:nvSpPr>
        <p:spPr>
          <a:xfrm>
            <a:off x="7022520" y="2048400"/>
            <a:ext cx="463572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3A3A3A"/>
                </a:solidFill>
                <a:effectLst/>
                <a:uFillTx/>
                <a:latin typeface="Calibri"/>
                <a:ea typeface="Calibri"/>
              </a:rPr>
              <a:t>conversation_history is declared outside the function and appended to, never recreated</a:t>
            </a:r>
            <a:endParaRPr lang="en-US" sz="1400" b="0" u="none" strike="noStrike">
              <a:solidFill>
                <a:srgbClr val="000000"/>
              </a:solidFill>
              <a:effectLst/>
              <a:uFillTx/>
              <a:latin typeface="Arial"/>
            </a:endParaRPr>
          </a:p>
        </p:txBody>
      </p:sp>
      <p:sp>
        <p:nvSpPr>
          <p:cNvPr id="242" name="Shape 7"/>
          <p:cNvSpPr/>
          <p:nvPr/>
        </p:nvSpPr>
        <p:spPr>
          <a:xfrm>
            <a:off x="6766560" y="275220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243" name="Text 8"/>
          <p:cNvSpPr/>
          <p:nvPr/>
        </p:nvSpPr>
        <p:spPr>
          <a:xfrm>
            <a:off x="7022520" y="2615040"/>
            <a:ext cx="463572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3A3A3A"/>
                </a:solidFill>
                <a:effectLst/>
                <a:uFillTx/>
                <a:latin typeface="Calibri"/>
                <a:ea typeface="Calibri"/>
              </a:rPr>
              <a:t>No special “memory object” — memory is just a list that survives between calls</a:t>
            </a:r>
            <a:endParaRPr lang="en-US" sz="1400" b="0" u="none" strike="noStrike">
              <a:solidFill>
                <a:srgbClr val="000000"/>
              </a:solidFill>
              <a:effectLst/>
              <a:uFillTx/>
              <a:latin typeface="Arial"/>
            </a:endParaRPr>
          </a:p>
        </p:txBody>
      </p:sp>
      <p:sp>
        <p:nvSpPr>
          <p:cNvPr id="244" name="Shape 9"/>
          <p:cNvSpPr/>
          <p:nvPr/>
        </p:nvSpPr>
        <p:spPr>
          <a:xfrm>
            <a:off x="6766560" y="4663440"/>
            <a:ext cx="4891680" cy="1005480"/>
          </a:xfrm>
          <a:prstGeom prst="roundRect">
            <a:avLst>
              <a:gd name="adj" fmla="val 10909"/>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5" name="Text 10"/>
          <p:cNvSpPr/>
          <p:nvPr/>
        </p:nvSpPr>
        <p:spPr>
          <a:xfrm>
            <a:off x="6995160" y="4800600"/>
            <a:ext cx="44802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i="1" u="none" strike="noStrike">
                <a:solidFill>
                  <a:srgbClr val="6B7280"/>
                </a:solidFill>
                <a:effectLst/>
                <a:uFillTx/>
                <a:latin typeface="Calibri"/>
                <a:ea typeface="Calibri"/>
              </a:rPr>
              <a:t>Phases 1–2 rebuilt messages = [...] every call — that's why those agents “forgot” everything instantly.</a:t>
            </a:r>
            <a:endParaRPr lang="en-US" sz="1250" b="0" u="none" strike="noStrike">
              <a:solidFill>
                <a:srgbClr val="000000"/>
              </a:solidFill>
              <a:effectLst/>
              <a:uFillTx/>
              <a:latin typeface="Arial"/>
            </a:endParaRPr>
          </a:p>
        </p:txBody>
      </p:sp>
      <p:sp>
        <p:nvSpPr>
          <p:cNvPr id="246" name="Text 11"/>
          <p:cNvSpPr/>
          <p:nvPr/>
        </p:nvSpPr>
        <p:spPr>
          <a:xfrm>
            <a:off x="548640" y="653796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9AA5B1"/>
                </a:solidFill>
                <a:effectLst/>
                <a:uFillTx/>
                <a:latin typeface="Calibri"/>
                <a:ea typeface="Calibri"/>
              </a:rPr>
              <a:t>AI Agent Development Workshop</a:t>
            </a:r>
            <a:endParaRPr lang="en-US" sz="1000" b="0" u="none" strike="noStrike">
              <a:solidFill>
                <a:srgbClr val="000000"/>
              </a:solidFill>
              <a:effectLst/>
              <a:uFillTx/>
              <a:latin typeface="Arial"/>
            </a:endParaRPr>
          </a:p>
        </p:txBody>
      </p:sp>
      <p:sp>
        <p:nvSpPr>
          <p:cNvPr id="247" name="Text 12"/>
          <p:cNvSpPr/>
          <p:nvPr/>
        </p:nvSpPr>
        <p:spPr>
          <a:xfrm>
            <a:off x="10881360" y="6537960"/>
            <a:ext cx="82260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9AA5B1"/>
                </a:solidFill>
                <a:effectLst/>
                <a:uFillTx/>
                <a:latin typeface="Calibri"/>
                <a:ea typeface="Calibri"/>
              </a:rPr>
              <a:t>13 / 19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8" name="Text 0"/>
          <p:cNvSpPr/>
          <p:nvPr/>
        </p:nvSpPr>
        <p:spPr>
          <a:xfrm>
            <a:off x="548640" y="411480"/>
            <a:ext cx="110638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1D3557"/>
                </a:solidFill>
                <a:effectLst/>
                <a:uFillTx/>
                <a:latin typeface="Bookman Old Style"/>
                <a:ea typeface="Bookman Old Style"/>
              </a:rPr>
              <a:t>Phase 4 — Chaining multiple steps</a:t>
            </a:r>
            <a:endParaRPr lang="en-US" sz="2800" b="0" u="none" strike="noStrike">
              <a:solidFill>
                <a:srgbClr val="000000"/>
              </a:solidFill>
              <a:effectLst/>
              <a:uFillTx/>
              <a:latin typeface="Arial"/>
            </a:endParaRPr>
          </a:p>
        </p:txBody>
      </p:sp>
      <p:sp>
        <p:nvSpPr>
          <p:cNvPr id="249" name="Shape 1"/>
          <p:cNvSpPr/>
          <p:nvPr/>
        </p:nvSpPr>
        <p:spPr>
          <a:xfrm>
            <a:off x="548640" y="1417320"/>
            <a:ext cx="5943240" cy="4708800"/>
          </a:xfrm>
          <a:prstGeom prst="roundRect">
            <a:avLst>
              <a:gd name="adj" fmla="val 1942"/>
            </a:avLst>
          </a:prstGeom>
          <a:solidFill>
            <a:srgbClr val="0F1E33"/>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0" name="Text 2"/>
          <p:cNvSpPr/>
          <p:nvPr/>
        </p:nvSpPr>
        <p:spPr>
          <a:xfrm>
            <a:off x="777240" y="155448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0" i="1" u="none" strike="noStrike">
                <a:solidFill>
                  <a:srgbClr val="D6E4F0"/>
                </a:solidFill>
                <a:effectLst/>
                <a:uFillTx/>
                <a:latin typeface="Calibri"/>
                <a:ea typeface="Calibri"/>
              </a:rPr>
              <a:t>phase_04_multi_step_task/agent_task_chain.py</a:t>
            </a:r>
            <a:endParaRPr lang="en-US" sz="1150" b="0" u="none" strike="noStrike">
              <a:solidFill>
                <a:srgbClr val="000000"/>
              </a:solidFill>
              <a:effectLst/>
              <a:uFillTx/>
              <a:latin typeface="Arial"/>
            </a:endParaRPr>
          </a:p>
        </p:txBody>
      </p:sp>
      <p:sp>
        <p:nvSpPr>
          <p:cNvPr id="251" name="Text 3"/>
          <p:cNvSpPr/>
          <p:nvPr/>
        </p:nvSpPr>
        <p:spPr>
          <a:xfrm>
            <a:off x="777240" y="1920240"/>
            <a:ext cx="5486040" cy="4023000"/>
          </a:xfrm>
          <a:prstGeom prst="rect">
            <a:avLst/>
          </a:prstGeom>
          <a:noFill/>
          <a:ln w="0">
            <a:noFill/>
          </a:ln>
        </p:spPr>
        <p:style>
          <a:lnRef idx="0"/>
          <a:fillRef idx="0"/>
          <a:effectRef idx="0"/>
          <a:fontRef idx="minor"/>
        </p:style>
        <p:txBody>
          <a:bodyPr lIns="0" tIns="0" rIns="0" bIns="0" anchor="ctr">
            <a:noAutofit/>
          </a:bodyPr>
          <a:p>
            <a:pPr defTabSz="914400">
              <a:lnSpc>
                <a:spcPct val="118000"/>
              </a:lnSpc>
              <a:tabLst>
                <a:tab pos="0" algn="l"/>
              </a:tabLst>
            </a:pPr>
            <a:r>
              <a:rPr lang="en-US" sz="1250" b="0" u="none" strike="noStrike">
                <a:solidFill>
                  <a:srgbClr val="E7ECF3"/>
                </a:solidFill>
                <a:effectLst/>
                <a:uFillTx/>
                <a:latin typeface="Courier New"/>
                <a:ea typeface="Courier New"/>
              </a:rPr>
              <a:t>for step in range(1, max_iterations + 1):</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ai_message = llm_with_tools.invoke(messages)</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messages.append(ai_message)</a:t>
            </a:r>
            <a:endParaRPr lang="en-US" sz="1250" b="0" u="none" strike="noStrike">
              <a:solidFill>
                <a:srgbClr val="000000"/>
              </a:solidFill>
              <a:effectLst/>
              <a:uFillTx/>
              <a:latin typeface="Arial"/>
            </a:endParaRPr>
          </a:p>
          <a:p>
            <a:pPr defTabSz="914400">
              <a:lnSpc>
                <a:spcPct val="118000"/>
              </a:lnSpc>
              <a:tabLst>
                <a:tab pos="0" algn="l"/>
              </a:tabLst>
            </a:pP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if not ai_message.tool_calls:</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6FD3C4"/>
                </a:solidFill>
                <a:effectLst/>
                <a:uFillTx/>
                <a:latin typeface="Courier New"/>
                <a:ea typeface="Courier New"/>
              </a:rPr>
              <a:t>        return ai_message.content</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8FB39A"/>
                </a:solidFill>
                <a:effectLst/>
                <a:uFillTx/>
                <a:latin typeface="Courier New"/>
                <a:ea typeface="Courier New"/>
              </a:rPr>
              <a:t>        # ^ the model decided it's done</a:t>
            </a:r>
            <a:endParaRPr lang="en-US" sz="1250" b="0" u="none" strike="noStrike">
              <a:solidFill>
                <a:srgbClr val="000000"/>
              </a:solidFill>
              <a:effectLst/>
              <a:uFillTx/>
              <a:latin typeface="Arial"/>
            </a:endParaRPr>
          </a:p>
          <a:p>
            <a:pPr defTabSz="914400">
              <a:lnSpc>
                <a:spcPct val="118000"/>
              </a:lnSpc>
              <a:tabLst>
                <a:tab pos="0" algn="l"/>
              </a:tabLst>
            </a:pP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for call in ai_message.tool_calls:</a:t>
            </a:r>
            <a:endParaRPr lang="en-US" sz="1250" b="0" u="none" strike="noStrike">
              <a:solidFill>
                <a:srgbClr val="000000"/>
              </a:solidFill>
              <a:effectLst/>
              <a:uFillTx/>
              <a:latin typeface="Arial"/>
            </a:endParaRPr>
          </a:p>
          <a:p>
            <a:pPr defTabSz="914400">
              <a:lnSpc>
                <a:spcPct val="118000"/>
              </a:lnSpc>
              <a:tabLst>
                <a:tab pos="0" algn="l"/>
              </a:tabLst>
            </a:pPr>
            <a:r>
              <a:rPr lang="en-US" sz="1250" b="0" u="none" strike="noStrike">
                <a:solidFill>
                  <a:srgbClr val="E7ECF3"/>
                </a:solidFill>
                <a:effectLst/>
                <a:uFillTx/>
                <a:latin typeface="Courier New"/>
                <a:ea typeface="Courier New"/>
              </a:rPr>
              <a:t>        ...</a:t>
            </a:r>
            <a:endParaRPr lang="en-US" sz="1250" b="0" u="none" strike="noStrike">
              <a:solidFill>
                <a:srgbClr val="000000"/>
              </a:solidFill>
              <a:effectLst/>
              <a:uFillTx/>
              <a:latin typeface="Arial"/>
            </a:endParaRPr>
          </a:p>
        </p:txBody>
      </p:sp>
      <p:sp>
        <p:nvSpPr>
          <p:cNvPr id="252" name="Text 4"/>
          <p:cNvSpPr/>
          <p:nvPr/>
        </p:nvSpPr>
        <p:spPr>
          <a:xfrm>
            <a:off x="6766560" y="1508760"/>
            <a:ext cx="48459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D3557"/>
                </a:solidFill>
                <a:effectLst/>
                <a:uFillTx/>
                <a:latin typeface="Calibri"/>
                <a:ea typeface="Calibri"/>
              </a:rPr>
              <a:t>The new idea</a:t>
            </a:r>
            <a:endParaRPr lang="en-US" sz="1600" b="0" u="none" strike="noStrike">
              <a:solidFill>
                <a:srgbClr val="000000"/>
              </a:solidFill>
              <a:effectLst/>
              <a:uFillTx/>
              <a:latin typeface="Arial"/>
            </a:endParaRPr>
          </a:p>
        </p:txBody>
      </p:sp>
      <p:sp>
        <p:nvSpPr>
          <p:cNvPr id="253" name="Shape 5"/>
          <p:cNvSpPr/>
          <p:nvPr/>
        </p:nvSpPr>
        <p:spPr>
          <a:xfrm>
            <a:off x="6766560" y="218556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254" name="Text 6"/>
          <p:cNvSpPr/>
          <p:nvPr/>
        </p:nvSpPr>
        <p:spPr>
          <a:xfrm>
            <a:off x="7022520" y="2048400"/>
            <a:ext cx="463572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3A3A3A"/>
                </a:solidFill>
                <a:effectLst/>
                <a:uFillTx/>
                <a:latin typeface="Calibri"/>
                <a:ea typeface="Calibri"/>
              </a:rPr>
              <a:t>Loop ROUNDS of tool-calling, not just one</a:t>
            </a:r>
            <a:endParaRPr lang="en-US" sz="1450" b="0" u="none" strike="noStrike">
              <a:solidFill>
                <a:srgbClr val="000000"/>
              </a:solidFill>
              <a:effectLst/>
              <a:uFillTx/>
              <a:latin typeface="Arial"/>
            </a:endParaRPr>
          </a:p>
        </p:txBody>
      </p:sp>
      <p:sp>
        <p:nvSpPr>
          <p:cNvPr id="255" name="Shape 7"/>
          <p:cNvSpPr/>
          <p:nvPr/>
        </p:nvSpPr>
        <p:spPr>
          <a:xfrm>
            <a:off x="6766560" y="275220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256" name="Text 8"/>
          <p:cNvSpPr/>
          <p:nvPr/>
        </p:nvSpPr>
        <p:spPr>
          <a:xfrm>
            <a:off x="7022520" y="2615040"/>
            <a:ext cx="463572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3A3A3A"/>
                </a:solidFill>
                <a:effectLst/>
                <a:uFillTx/>
                <a:latin typeface="Calibri"/>
                <a:ea typeface="Calibri"/>
              </a:rPr>
              <a:t>Stop condition: the LLM itself decides it's done — not you</a:t>
            </a:r>
            <a:endParaRPr lang="en-US" sz="1450" b="0" u="none" strike="noStrike">
              <a:solidFill>
                <a:srgbClr val="000000"/>
              </a:solidFill>
              <a:effectLst/>
              <a:uFillTx/>
              <a:latin typeface="Arial"/>
            </a:endParaRPr>
          </a:p>
        </p:txBody>
      </p:sp>
      <p:sp>
        <p:nvSpPr>
          <p:cNvPr id="257" name="Shape 9"/>
          <p:cNvSpPr/>
          <p:nvPr/>
        </p:nvSpPr>
        <p:spPr>
          <a:xfrm>
            <a:off x="6766560" y="331920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258" name="Text 10"/>
          <p:cNvSpPr/>
          <p:nvPr/>
        </p:nvSpPr>
        <p:spPr>
          <a:xfrm>
            <a:off x="7022520" y="3182040"/>
            <a:ext cx="4635720" cy="566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50" b="0" u="none" strike="noStrike">
                <a:solidFill>
                  <a:srgbClr val="3A3A3A"/>
                </a:solidFill>
                <a:effectLst/>
                <a:uFillTx/>
                <a:latin typeface="Calibri"/>
                <a:ea typeface="Calibri"/>
              </a:rPr>
              <a:t>max_iterations is a safety net, not the real stop signal</a:t>
            </a:r>
            <a:endParaRPr lang="en-US" sz="1450" b="0" u="none" strike="noStrike">
              <a:solidFill>
                <a:srgbClr val="000000"/>
              </a:solidFill>
              <a:effectLst/>
              <a:uFillTx/>
              <a:latin typeface="Arial"/>
            </a:endParaRPr>
          </a:p>
        </p:txBody>
      </p:sp>
      <p:sp>
        <p:nvSpPr>
          <p:cNvPr id="259" name="Shape 11"/>
          <p:cNvSpPr/>
          <p:nvPr/>
        </p:nvSpPr>
        <p:spPr>
          <a:xfrm>
            <a:off x="6766560" y="4800600"/>
            <a:ext cx="4891680" cy="1005480"/>
          </a:xfrm>
          <a:prstGeom prst="roundRect">
            <a:avLst>
              <a:gd name="adj" fmla="val 10909"/>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60" name="Text 12"/>
          <p:cNvSpPr/>
          <p:nvPr/>
        </p:nvSpPr>
        <p:spPr>
          <a:xfrm>
            <a:off x="6995160" y="4937760"/>
            <a:ext cx="44802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i="1" u="none" strike="noStrike">
                <a:solidFill>
                  <a:srgbClr val="6B7280"/>
                </a:solidFill>
                <a:effectLst/>
                <a:uFillTx/>
                <a:latin typeface="Calibri"/>
                <a:ea typeface="Calibri"/>
              </a:rPr>
              <a:t>Watch for the QUEUE_EMPTY sentinel pattern — how you tell the agent “there's nothing left.”</a:t>
            </a:r>
            <a:endParaRPr lang="en-US" sz="1250" b="0" u="none" strike="noStrike">
              <a:solidFill>
                <a:srgbClr val="000000"/>
              </a:solidFill>
              <a:effectLst/>
              <a:uFillTx/>
              <a:latin typeface="Arial"/>
            </a:endParaRPr>
          </a:p>
        </p:txBody>
      </p:sp>
      <p:sp>
        <p:nvSpPr>
          <p:cNvPr id="261" name="Text 13"/>
          <p:cNvSpPr/>
          <p:nvPr/>
        </p:nvSpPr>
        <p:spPr>
          <a:xfrm>
            <a:off x="548640" y="653796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9AA5B1"/>
                </a:solidFill>
                <a:effectLst/>
                <a:uFillTx/>
                <a:latin typeface="Calibri"/>
                <a:ea typeface="Calibri"/>
              </a:rPr>
              <a:t>AI Agent Development Workshop</a:t>
            </a:r>
            <a:endParaRPr lang="en-US" sz="1000" b="0" u="none" strike="noStrike">
              <a:solidFill>
                <a:srgbClr val="000000"/>
              </a:solidFill>
              <a:effectLst/>
              <a:uFillTx/>
              <a:latin typeface="Arial"/>
            </a:endParaRPr>
          </a:p>
        </p:txBody>
      </p:sp>
      <p:sp>
        <p:nvSpPr>
          <p:cNvPr id="262" name="Text 14"/>
          <p:cNvSpPr/>
          <p:nvPr/>
        </p:nvSpPr>
        <p:spPr>
          <a:xfrm>
            <a:off x="10881360" y="6537960"/>
            <a:ext cx="82260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9AA5B1"/>
                </a:solidFill>
                <a:effectLst/>
                <a:uFillTx/>
                <a:latin typeface="Calibri"/>
                <a:ea typeface="Calibri"/>
              </a:rPr>
              <a:t>14 / 19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63" name="Text 0"/>
          <p:cNvSpPr/>
          <p:nvPr/>
        </p:nvSpPr>
        <p:spPr>
          <a:xfrm>
            <a:off x="548640" y="411480"/>
            <a:ext cx="110638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D3557"/>
                </a:solidFill>
                <a:effectLst/>
                <a:uFillTx/>
                <a:latin typeface="Bookman Old Style"/>
                <a:ea typeface="Bookman Old Style"/>
              </a:rPr>
              <a:t>Today's three tracks</a:t>
            </a:r>
            <a:endParaRPr lang="en-US" sz="3200" b="0" u="none" strike="noStrike">
              <a:solidFill>
                <a:srgbClr val="000000"/>
              </a:solidFill>
              <a:effectLst/>
              <a:uFillTx/>
              <a:latin typeface="Arial"/>
            </a:endParaRPr>
          </a:p>
        </p:txBody>
      </p:sp>
      <p:sp>
        <p:nvSpPr>
          <p:cNvPr id="264" name="Shape 1"/>
          <p:cNvSpPr/>
          <p:nvPr/>
        </p:nvSpPr>
        <p:spPr>
          <a:xfrm>
            <a:off x="548640" y="1600200"/>
            <a:ext cx="3611520" cy="4480200"/>
          </a:xfrm>
          <a:prstGeom prst="roundRect">
            <a:avLst>
              <a:gd name="adj" fmla="val 3038"/>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65" name="Shape 2"/>
          <p:cNvSpPr/>
          <p:nvPr/>
        </p:nvSpPr>
        <p:spPr>
          <a:xfrm>
            <a:off x="777240" y="1828800"/>
            <a:ext cx="502560" cy="50256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6" name="Text 3"/>
          <p:cNvSpPr/>
          <p:nvPr/>
        </p:nvSpPr>
        <p:spPr>
          <a:xfrm>
            <a:off x="777240" y="182880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RO</a:t>
            </a:r>
            <a:endParaRPr lang="en-US" sz="1200" b="0" u="none" strike="noStrike">
              <a:solidFill>
                <a:srgbClr val="000000"/>
              </a:solidFill>
              <a:effectLst/>
              <a:uFillTx/>
              <a:latin typeface="Arial"/>
            </a:endParaRPr>
          </a:p>
        </p:txBody>
      </p:sp>
      <p:sp>
        <p:nvSpPr>
          <p:cNvPr id="267" name="Text 4"/>
          <p:cNvSpPr/>
          <p:nvPr/>
        </p:nvSpPr>
        <p:spPr>
          <a:xfrm>
            <a:off x="1417320" y="1847160"/>
            <a:ext cx="251424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6B7280"/>
                </a:solidFill>
                <a:effectLst/>
                <a:uFillTx/>
                <a:latin typeface="Calibri"/>
                <a:ea typeface="Calibri"/>
              </a:rPr>
              <a:t>Robotics</a:t>
            </a:r>
            <a:endParaRPr lang="en-US" sz="1300" b="0" u="none" strike="noStrike">
              <a:solidFill>
                <a:srgbClr val="000000"/>
              </a:solidFill>
              <a:effectLst/>
              <a:uFillTx/>
              <a:latin typeface="Arial"/>
            </a:endParaRPr>
          </a:p>
        </p:txBody>
      </p:sp>
      <p:sp>
        <p:nvSpPr>
          <p:cNvPr id="268" name="Text 5"/>
          <p:cNvSpPr/>
          <p:nvPr/>
        </p:nvSpPr>
        <p:spPr>
          <a:xfrm>
            <a:off x="822960" y="2423160"/>
            <a:ext cx="306288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i="1" u="none" strike="noStrike">
                <a:solidFill>
                  <a:srgbClr val="1D3557"/>
                </a:solidFill>
                <a:effectLst/>
                <a:uFillTx/>
                <a:latin typeface="Bookman Old Style"/>
                <a:ea typeface="Bookman Old Style"/>
              </a:rPr>
              <a:t>The Rescue Drone Triage Agent</a:t>
            </a:r>
            <a:endParaRPr lang="en-US" sz="1550" b="0" u="none" strike="noStrike">
              <a:solidFill>
                <a:srgbClr val="000000"/>
              </a:solidFill>
              <a:effectLst/>
              <a:uFillTx/>
              <a:latin typeface="Arial"/>
            </a:endParaRPr>
          </a:p>
        </p:txBody>
      </p:sp>
      <p:sp>
        <p:nvSpPr>
          <p:cNvPr id="269" name="Text 6"/>
          <p:cNvSpPr/>
          <p:nvPr/>
        </p:nvSpPr>
        <p:spPr>
          <a:xfrm>
            <a:off x="822960" y="3246120"/>
            <a:ext cx="306288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3A3A3A"/>
                </a:solidFill>
                <a:effectLst/>
                <a:uFillTx/>
                <a:latin typeface="Calibri"/>
                <a:ea typeface="Calibri"/>
              </a:rPr>
              <a:t>Damage reports come in after an earthquake; the agent ranks them into a live dispatch list.</a:t>
            </a:r>
            <a:endParaRPr lang="en-US" sz="1200" b="0" u="none" strike="noStrike">
              <a:solidFill>
                <a:srgbClr val="000000"/>
              </a:solidFill>
              <a:effectLst/>
              <a:uFillTx/>
              <a:latin typeface="Arial"/>
            </a:endParaRPr>
          </a:p>
        </p:txBody>
      </p:sp>
      <p:sp>
        <p:nvSpPr>
          <p:cNvPr id="270" name="Text 7"/>
          <p:cNvSpPr/>
          <p:nvPr/>
        </p:nvSpPr>
        <p:spPr>
          <a:xfrm>
            <a:off x="822960" y="4343400"/>
            <a:ext cx="306288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2A9D8F"/>
                </a:solidFill>
                <a:effectLst/>
                <a:uFillTx/>
                <a:latin typeface="Calibri"/>
                <a:ea typeface="Calibri"/>
              </a:rPr>
              <a:t>DONE =</a:t>
            </a:r>
            <a:endParaRPr lang="en-US" sz="1100" b="0" u="none" strike="noStrike">
              <a:solidFill>
                <a:srgbClr val="000000"/>
              </a:solidFill>
              <a:effectLst/>
              <a:uFillTx/>
              <a:latin typeface="Arial"/>
            </a:endParaRPr>
          </a:p>
        </p:txBody>
      </p:sp>
      <p:sp>
        <p:nvSpPr>
          <p:cNvPr id="271" name="Text 8"/>
          <p:cNvSpPr/>
          <p:nvPr/>
        </p:nvSpPr>
        <p:spPr>
          <a:xfrm>
            <a:off x="822960" y="4617720"/>
            <a:ext cx="3062880" cy="137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0" i="1" u="none" strike="noStrike">
                <a:solidFill>
                  <a:srgbClr val="3A3A3A"/>
                </a:solidFill>
                <a:effectLst/>
                <a:uFillTx/>
                <a:latin typeface="Calibri"/>
                <a:ea typeface="Calibri"/>
              </a:rPr>
              <a:t>Paste in a new report live — watch it slot into the ranking with visible reasoning.</a:t>
            </a:r>
            <a:endParaRPr lang="en-US" sz="1150" b="0" u="none" strike="noStrike">
              <a:solidFill>
                <a:srgbClr val="000000"/>
              </a:solidFill>
              <a:effectLst/>
              <a:uFillTx/>
              <a:latin typeface="Arial"/>
            </a:endParaRPr>
          </a:p>
        </p:txBody>
      </p:sp>
      <p:sp>
        <p:nvSpPr>
          <p:cNvPr id="272" name="Shape 9"/>
          <p:cNvSpPr/>
          <p:nvPr/>
        </p:nvSpPr>
        <p:spPr>
          <a:xfrm>
            <a:off x="4343400" y="1600200"/>
            <a:ext cx="3611520" cy="4480200"/>
          </a:xfrm>
          <a:prstGeom prst="roundRect">
            <a:avLst>
              <a:gd name="adj" fmla="val 3038"/>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73" name="Shape 10"/>
          <p:cNvSpPr/>
          <p:nvPr/>
        </p:nvSpPr>
        <p:spPr>
          <a:xfrm>
            <a:off x="4572000" y="1828800"/>
            <a:ext cx="502560" cy="50256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4" name="Text 11"/>
          <p:cNvSpPr/>
          <p:nvPr/>
        </p:nvSpPr>
        <p:spPr>
          <a:xfrm>
            <a:off x="4572000" y="182880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AI</a:t>
            </a:r>
            <a:endParaRPr lang="en-US" sz="1200" b="0" u="none" strike="noStrike">
              <a:solidFill>
                <a:srgbClr val="000000"/>
              </a:solidFill>
              <a:effectLst/>
              <a:uFillTx/>
              <a:latin typeface="Arial"/>
            </a:endParaRPr>
          </a:p>
        </p:txBody>
      </p:sp>
      <p:sp>
        <p:nvSpPr>
          <p:cNvPr id="275" name="Text 12"/>
          <p:cNvSpPr/>
          <p:nvPr/>
        </p:nvSpPr>
        <p:spPr>
          <a:xfrm>
            <a:off x="5212080" y="1847160"/>
            <a:ext cx="251424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6B7280"/>
                </a:solidFill>
                <a:effectLst/>
                <a:uFillTx/>
                <a:latin typeface="Calibri"/>
                <a:ea typeface="Calibri"/>
              </a:rPr>
              <a:t>AI / General</a:t>
            </a:r>
            <a:endParaRPr lang="en-US" sz="1300" b="0" u="none" strike="noStrike">
              <a:solidFill>
                <a:srgbClr val="000000"/>
              </a:solidFill>
              <a:effectLst/>
              <a:uFillTx/>
              <a:latin typeface="Arial"/>
            </a:endParaRPr>
          </a:p>
        </p:txBody>
      </p:sp>
      <p:sp>
        <p:nvSpPr>
          <p:cNvPr id="276" name="Text 13"/>
          <p:cNvSpPr/>
          <p:nvPr/>
        </p:nvSpPr>
        <p:spPr>
          <a:xfrm>
            <a:off x="4617720" y="2423160"/>
            <a:ext cx="306288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i="1" u="none" strike="noStrike">
                <a:solidFill>
                  <a:srgbClr val="1D3557"/>
                </a:solidFill>
                <a:effectLst/>
                <a:uFillTx/>
                <a:latin typeface="Bookman Old Style"/>
                <a:ea typeface="Bookman Old Style"/>
              </a:rPr>
              <a:t>The Study Group That Never Sleeps</a:t>
            </a:r>
            <a:endParaRPr lang="en-US" sz="1550" b="0" u="none" strike="noStrike">
              <a:solidFill>
                <a:srgbClr val="000000"/>
              </a:solidFill>
              <a:effectLst/>
              <a:uFillTx/>
              <a:latin typeface="Arial"/>
            </a:endParaRPr>
          </a:p>
        </p:txBody>
      </p:sp>
      <p:sp>
        <p:nvSpPr>
          <p:cNvPr id="277" name="Text 14"/>
          <p:cNvSpPr/>
          <p:nvPr/>
        </p:nvSpPr>
        <p:spPr>
          <a:xfrm>
            <a:off x="4617720" y="3246120"/>
            <a:ext cx="306288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3A3A3A"/>
                </a:solidFill>
                <a:effectLst/>
                <a:uFillTx/>
                <a:latin typeface="Calibri"/>
                <a:ea typeface="Calibri"/>
              </a:rPr>
              <a:t>One agent explains a concept, a second attacks it, a third fixes it.</a:t>
            </a:r>
            <a:endParaRPr lang="en-US" sz="1200" b="0" u="none" strike="noStrike">
              <a:solidFill>
                <a:srgbClr val="000000"/>
              </a:solidFill>
              <a:effectLst/>
              <a:uFillTx/>
              <a:latin typeface="Arial"/>
            </a:endParaRPr>
          </a:p>
        </p:txBody>
      </p:sp>
      <p:sp>
        <p:nvSpPr>
          <p:cNvPr id="278" name="Text 15"/>
          <p:cNvSpPr/>
          <p:nvPr/>
        </p:nvSpPr>
        <p:spPr>
          <a:xfrm>
            <a:off x="4617720" y="4343400"/>
            <a:ext cx="306288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2A9D8F"/>
                </a:solidFill>
                <a:effectLst/>
                <a:uFillTx/>
                <a:latin typeface="Calibri"/>
                <a:ea typeface="Calibri"/>
              </a:rPr>
              <a:t>DONE =</a:t>
            </a:r>
            <a:endParaRPr lang="en-US" sz="1100" b="0" u="none" strike="noStrike">
              <a:solidFill>
                <a:srgbClr val="000000"/>
              </a:solidFill>
              <a:effectLst/>
              <a:uFillTx/>
              <a:latin typeface="Arial"/>
            </a:endParaRPr>
          </a:p>
        </p:txBody>
      </p:sp>
      <p:sp>
        <p:nvSpPr>
          <p:cNvPr id="279" name="Text 16"/>
          <p:cNvSpPr/>
          <p:nvPr/>
        </p:nvSpPr>
        <p:spPr>
          <a:xfrm>
            <a:off x="4617720" y="4617720"/>
            <a:ext cx="3062880" cy="137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0" i="1" u="none" strike="noStrike">
                <a:solidFill>
                  <a:srgbClr val="3A3A3A"/>
                </a:solidFill>
                <a:effectLst/>
                <a:uFillTx/>
                <a:latin typeface="Calibri"/>
                <a:ea typeface="Calibri"/>
              </a:rPr>
              <a:t>A visible draft → challenge → revise exchange, on a topic you supply live.</a:t>
            </a:r>
            <a:endParaRPr lang="en-US" sz="1150" b="0" u="none" strike="noStrike">
              <a:solidFill>
                <a:srgbClr val="000000"/>
              </a:solidFill>
              <a:effectLst/>
              <a:uFillTx/>
              <a:latin typeface="Arial"/>
            </a:endParaRPr>
          </a:p>
        </p:txBody>
      </p:sp>
      <p:sp>
        <p:nvSpPr>
          <p:cNvPr id="280" name="Shape 17"/>
          <p:cNvSpPr/>
          <p:nvPr/>
        </p:nvSpPr>
        <p:spPr>
          <a:xfrm>
            <a:off x="8138160" y="1600200"/>
            <a:ext cx="3611520" cy="4480200"/>
          </a:xfrm>
          <a:prstGeom prst="roundRect">
            <a:avLst>
              <a:gd name="adj" fmla="val 3038"/>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1" name="Shape 18"/>
          <p:cNvSpPr/>
          <p:nvPr/>
        </p:nvSpPr>
        <p:spPr>
          <a:xfrm>
            <a:off x="8366760" y="1828800"/>
            <a:ext cx="502560" cy="50256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2" name="Text 19"/>
          <p:cNvSpPr/>
          <p:nvPr/>
        </p:nvSpPr>
        <p:spPr>
          <a:xfrm>
            <a:off x="8366760" y="1828800"/>
            <a:ext cx="502560" cy="502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CY</a:t>
            </a:r>
            <a:endParaRPr lang="en-US" sz="1200" b="0" u="none" strike="noStrike">
              <a:solidFill>
                <a:srgbClr val="000000"/>
              </a:solidFill>
              <a:effectLst/>
              <a:uFillTx/>
              <a:latin typeface="Arial"/>
            </a:endParaRPr>
          </a:p>
        </p:txBody>
      </p:sp>
      <p:sp>
        <p:nvSpPr>
          <p:cNvPr id="283" name="Text 20"/>
          <p:cNvSpPr/>
          <p:nvPr/>
        </p:nvSpPr>
        <p:spPr>
          <a:xfrm>
            <a:off x="9006840" y="1847160"/>
            <a:ext cx="251424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6B7280"/>
                </a:solidFill>
                <a:effectLst/>
                <a:uFillTx/>
                <a:latin typeface="Calibri"/>
                <a:ea typeface="Calibri"/>
              </a:rPr>
              <a:t>Cybersecurity</a:t>
            </a:r>
            <a:endParaRPr lang="en-US" sz="1300" b="0" u="none" strike="noStrike">
              <a:solidFill>
                <a:srgbClr val="000000"/>
              </a:solidFill>
              <a:effectLst/>
              <a:uFillTx/>
              <a:latin typeface="Arial"/>
            </a:endParaRPr>
          </a:p>
        </p:txBody>
      </p:sp>
      <p:sp>
        <p:nvSpPr>
          <p:cNvPr id="284" name="Text 21"/>
          <p:cNvSpPr/>
          <p:nvPr/>
        </p:nvSpPr>
        <p:spPr>
          <a:xfrm>
            <a:off x="8412480" y="2423160"/>
            <a:ext cx="306288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i="1" u="none" strike="noStrike">
                <a:solidFill>
                  <a:srgbClr val="1D3557"/>
                </a:solidFill>
                <a:effectLst/>
                <a:uFillTx/>
                <a:latin typeface="Bookman Old Style"/>
                <a:ea typeface="Bookman Old Style"/>
              </a:rPr>
              <a:t>Catch the Intruder</a:t>
            </a:r>
            <a:endParaRPr lang="en-US" sz="1550" b="0" u="none" strike="noStrike">
              <a:solidFill>
                <a:srgbClr val="000000"/>
              </a:solidFill>
              <a:effectLst/>
              <a:uFillTx/>
              <a:latin typeface="Arial"/>
            </a:endParaRPr>
          </a:p>
        </p:txBody>
      </p:sp>
      <p:sp>
        <p:nvSpPr>
          <p:cNvPr id="285" name="Text 22"/>
          <p:cNvSpPr/>
          <p:nvPr/>
        </p:nvSpPr>
        <p:spPr>
          <a:xfrm>
            <a:off x="8412480" y="3246120"/>
            <a:ext cx="306288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3A3A3A"/>
                </a:solidFill>
                <a:effectLst/>
                <a:uFillTx/>
                <a:latin typeface="Calibri"/>
                <a:ea typeface="Calibri"/>
              </a:rPr>
              <a:t>The agent watches a stream of login attempts and flags brute-force patterns and impossible travel.</a:t>
            </a:r>
            <a:endParaRPr lang="en-US" sz="1200" b="0" u="none" strike="noStrike">
              <a:solidFill>
                <a:srgbClr val="000000"/>
              </a:solidFill>
              <a:effectLst/>
              <a:uFillTx/>
              <a:latin typeface="Arial"/>
            </a:endParaRPr>
          </a:p>
        </p:txBody>
      </p:sp>
      <p:sp>
        <p:nvSpPr>
          <p:cNvPr id="286" name="Text 23"/>
          <p:cNvSpPr/>
          <p:nvPr/>
        </p:nvSpPr>
        <p:spPr>
          <a:xfrm>
            <a:off x="8412480" y="4343400"/>
            <a:ext cx="306288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2A9D8F"/>
                </a:solidFill>
                <a:effectLst/>
                <a:uFillTx/>
                <a:latin typeface="Calibri"/>
                <a:ea typeface="Calibri"/>
              </a:rPr>
              <a:t>DONE =</a:t>
            </a:r>
            <a:endParaRPr lang="en-US" sz="1100" b="0" u="none" strike="noStrike">
              <a:solidFill>
                <a:srgbClr val="000000"/>
              </a:solidFill>
              <a:effectLst/>
              <a:uFillTx/>
              <a:latin typeface="Arial"/>
            </a:endParaRPr>
          </a:p>
        </p:txBody>
      </p:sp>
      <p:sp>
        <p:nvSpPr>
          <p:cNvPr id="287" name="Text 24"/>
          <p:cNvSpPr/>
          <p:nvPr/>
        </p:nvSpPr>
        <p:spPr>
          <a:xfrm>
            <a:off x="8412480" y="4617720"/>
            <a:ext cx="3062880" cy="137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0" i="1" u="none" strike="noStrike">
                <a:solidFill>
                  <a:srgbClr val="3A3A3A"/>
                </a:solidFill>
                <a:effectLst/>
                <a:uFillTx/>
                <a:latin typeface="Calibri"/>
                <a:ea typeface="Calibri"/>
              </a:rPr>
              <a:t>Slip in an obvious attack live — watch it get caught and explained.</a:t>
            </a:r>
            <a:endParaRPr lang="en-US" sz="1150" b="0" u="none" strike="noStrike">
              <a:solidFill>
                <a:srgbClr val="000000"/>
              </a:solidFill>
              <a:effectLst/>
              <a:uFillTx/>
              <a:latin typeface="Arial"/>
            </a:endParaRPr>
          </a:p>
        </p:txBody>
      </p:sp>
      <p:sp>
        <p:nvSpPr>
          <p:cNvPr id="288" name="Text 25"/>
          <p:cNvSpPr/>
          <p:nvPr/>
        </p:nvSpPr>
        <p:spPr>
          <a:xfrm>
            <a:off x="548640" y="653796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9AA5B1"/>
                </a:solidFill>
                <a:effectLst/>
                <a:uFillTx/>
                <a:latin typeface="Calibri"/>
                <a:ea typeface="Calibri"/>
              </a:rPr>
              <a:t>AI Agent Development Workshop</a:t>
            </a:r>
            <a:endParaRPr lang="en-US" sz="1000" b="0" u="none" strike="noStrike">
              <a:solidFill>
                <a:srgbClr val="000000"/>
              </a:solidFill>
              <a:effectLst/>
              <a:uFillTx/>
              <a:latin typeface="Arial"/>
            </a:endParaRPr>
          </a:p>
        </p:txBody>
      </p:sp>
      <p:sp>
        <p:nvSpPr>
          <p:cNvPr id="289" name="Text 26"/>
          <p:cNvSpPr/>
          <p:nvPr/>
        </p:nvSpPr>
        <p:spPr>
          <a:xfrm>
            <a:off x="10881360" y="6537960"/>
            <a:ext cx="82260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9AA5B1"/>
                </a:solidFill>
                <a:effectLst/>
                <a:uFillTx/>
                <a:latin typeface="Calibri"/>
                <a:ea typeface="Calibri"/>
              </a:rPr>
              <a:t>15 / 19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90" name="Text 0"/>
          <p:cNvSpPr/>
          <p:nvPr/>
        </p:nvSpPr>
        <p:spPr>
          <a:xfrm>
            <a:off x="548640" y="411480"/>
            <a:ext cx="110638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D3557"/>
                </a:solidFill>
                <a:effectLst/>
                <a:uFillTx/>
                <a:latin typeface="Bookman Old Style"/>
                <a:ea typeface="Bookman Old Style"/>
              </a:rPr>
              <a:t>Tools you need</a:t>
            </a:r>
            <a:endParaRPr lang="en-US" sz="3200" b="0" u="none" strike="noStrike">
              <a:solidFill>
                <a:srgbClr val="000000"/>
              </a:solidFill>
              <a:effectLst/>
              <a:uFillTx/>
              <a:latin typeface="Arial"/>
            </a:endParaRPr>
          </a:p>
        </p:txBody>
      </p:sp>
      <p:sp>
        <p:nvSpPr>
          <p:cNvPr id="291" name="Shape 1"/>
          <p:cNvSpPr/>
          <p:nvPr/>
        </p:nvSpPr>
        <p:spPr>
          <a:xfrm>
            <a:off x="640080" y="1920240"/>
            <a:ext cx="594000" cy="59400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2" name="Text 2"/>
          <p:cNvSpPr/>
          <p:nvPr/>
        </p:nvSpPr>
        <p:spPr>
          <a:xfrm>
            <a:off x="640080" y="1920240"/>
            <a:ext cx="594000" cy="594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FFFFFF"/>
                </a:solidFill>
                <a:effectLst/>
                <a:uFillTx/>
                <a:latin typeface="Calibri"/>
                <a:ea typeface="Calibri"/>
              </a:rPr>
              <a:t>1</a:t>
            </a:r>
            <a:endParaRPr lang="en-US" sz="1800" b="0" u="none" strike="noStrike">
              <a:solidFill>
                <a:srgbClr val="000000"/>
              </a:solidFill>
              <a:effectLst/>
              <a:uFillTx/>
              <a:latin typeface="Arial"/>
            </a:endParaRPr>
          </a:p>
        </p:txBody>
      </p:sp>
      <p:sp>
        <p:nvSpPr>
          <p:cNvPr id="293" name="Text 3"/>
          <p:cNvSpPr/>
          <p:nvPr/>
        </p:nvSpPr>
        <p:spPr>
          <a:xfrm>
            <a:off x="1508760" y="1938600"/>
            <a:ext cx="86864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1D3557"/>
                </a:solidFill>
                <a:effectLst/>
                <a:uFillTx/>
                <a:latin typeface="Calibri"/>
                <a:ea typeface="Calibri"/>
              </a:rPr>
              <a:t>A free Groq API key</a:t>
            </a:r>
            <a:endParaRPr lang="en-US" sz="1900" b="0" u="none" strike="noStrike">
              <a:solidFill>
                <a:srgbClr val="000000"/>
              </a:solidFill>
              <a:effectLst/>
              <a:uFillTx/>
              <a:latin typeface="Arial"/>
            </a:endParaRPr>
          </a:p>
        </p:txBody>
      </p:sp>
      <p:sp>
        <p:nvSpPr>
          <p:cNvPr id="294" name="Text 4"/>
          <p:cNvSpPr/>
          <p:nvPr/>
        </p:nvSpPr>
        <p:spPr>
          <a:xfrm>
            <a:off x="1508760" y="2423160"/>
            <a:ext cx="8686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2A9D8F"/>
                </a:solidFill>
                <a:effectLst/>
                <a:uFillTx/>
                <a:latin typeface="Calibri"/>
                <a:ea typeface="Calibri"/>
              </a:rPr>
              <a:t>console.groq.com/keys</a:t>
            </a:r>
            <a:endParaRPr lang="en-US" sz="1400" b="0" u="none" strike="noStrike">
              <a:solidFill>
                <a:srgbClr val="000000"/>
              </a:solidFill>
              <a:effectLst/>
              <a:uFillTx/>
              <a:latin typeface="Arial"/>
            </a:endParaRPr>
          </a:p>
        </p:txBody>
      </p:sp>
      <p:sp>
        <p:nvSpPr>
          <p:cNvPr id="295" name="Shape 5"/>
          <p:cNvSpPr/>
          <p:nvPr/>
        </p:nvSpPr>
        <p:spPr>
          <a:xfrm>
            <a:off x="640080" y="3337560"/>
            <a:ext cx="594000" cy="59400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6" name="Text 6"/>
          <p:cNvSpPr/>
          <p:nvPr/>
        </p:nvSpPr>
        <p:spPr>
          <a:xfrm>
            <a:off x="640080" y="3337560"/>
            <a:ext cx="594000" cy="594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FFFFFF"/>
                </a:solidFill>
                <a:effectLst/>
                <a:uFillTx/>
                <a:latin typeface="Calibri"/>
                <a:ea typeface="Calibri"/>
              </a:rPr>
              <a:t>2</a:t>
            </a:r>
            <a:endParaRPr lang="en-US" sz="1800" b="0" u="none" strike="noStrike">
              <a:solidFill>
                <a:srgbClr val="000000"/>
              </a:solidFill>
              <a:effectLst/>
              <a:uFillTx/>
              <a:latin typeface="Arial"/>
            </a:endParaRPr>
          </a:p>
        </p:txBody>
      </p:sp>
      <p:sp>
        <p:nvSpPr>
          <p:cNvPr id="297" name="Text 7"/>
          <p:cNvSpPr/>
          <p:nvPr/>
        </p:nvSpPr>
        <p:spPr>
          <a:xfrm>
            <a:off x="1508760" y="3355920"/>
            <a:ext cx="86864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1D3557"/>
                </a:solidFill>
                <a:effectLst/>
                <a:uFillTx/>
                <a:latin typeface="Calibri"/>
                <a:ea typeface="Calibri"/>
              </a:rPr>
              <a:t>Google Antigravity (or your preferred AI-assisted IDE)</a:t>
            </a:r>
            <a:endParaRPr lang="en-US" sz="1900" b="0" u="none" strike="noStrike">
              <a:solidFill>
                <a:srgbClr val="000000"/>
              </a:solidFill>
              <a:effectLst/>
              <a:uFillTx/>
              <a:latin typeface="Arial"/>
            </a:endParaRPr>
          </a:p>
        </p:txBody>
      </p:sp>
      <p:sp>
        <p:nvSpPr>
          <p:cNvPr id="298" name="Shape 8"/>
          <p:cNvSpPr/>
          <p:nvPr/>
        </p:nvSpPr>
        <p:spPr>
          <a:xfrm>
            <a:off x="640080" y="4754880"/>
            <a:ext cx="10789560" cy="1234080"/>
          </a:xfrm>
          <a:prstGeom prst="roundRect">
            <a:avLst>
              <a:gd name="adj" fmla="val 8889"/>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99" name="Text 9"/>
          <p:cNvSpPr/>
          <p:nvPr/>
        </p:nvSpPr>
        <p:spPr>
          <a:xfrm>
            <a:off x="914400" y="4937760"/>
            <a:ext cx="1024092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D3557"/>
                </a:solidFill>
                <a:effectLst/>
                <a:uFillTx/>
                <a:latin typeface="Calibri"/>
                <a:ea typeface="Calibri"/>
              </a:rPr>
              <a:t>Both should already be set up — if not, do it in the next 2 minutes while I finish talking.</a:t>
            </a:r>
            <a:endParaRPr lang="en-US" sz="1500" b="0" u="none" strike="noStrike">
              <a:solidFill>
                <a:srgbClr val="000000"/>
              </a:solidFill>
              <a:effectLst/>
              <a:uFillTx/>
              <a:latin typeface="Arial"/>
            </a:endParaRPr>
          </a:p>
        </p:txBody>
      </p:sp>
      <p:sp>
        <p:nvSpPr>
          <p:cNvPr id="300" name="Text 10"/>
          <p:cNvSpPr/>
          <p:nvPr/>
        </p:nvSpPr>
        <p:spPr>
          <a:xfrm>
            <a:off x="914400" y="5349240"/>
            <a:ext cx="1024092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i="1" u="none" strike="noStrike">
                <a:solidFill>
                  <a:srgbClr val="6B7280"/>
                </a:solidFill>
                <a:effectLst/>
                <a:uFillTx/>
                <a:latin typeface="Calibri"/>
                <a:ea typeface="Calibri"/>
              </a:rPr>
              <a:t>Confirm your key actually works with phase_00_setup/check_environment.py</a:t>
            </a:r>
            <a:endParaRPr lang="en-US" sz="1250" b="0" u="none" strike="noStrike">
              <a:solidFill>
                <a:srgbClr val="000000"/>
              </a:solidFill>
              <a:effectLst/>
              <a:uFillTx/>
              <a:latin typeface="Arial"/>
            </a:endParaRPr>
          </a:p>
        </p:txBody>
      </p:sp>
      <p:sp>
        <p:nvSpPr>
          <p:cNvPr id="301" name="Text 11"/>
          <p:cNvSpPr/>
          <p:nvPr/>
        </p:nvSpPr>
        <p:spPr>
          <a:xfrm>
            <a:off x="548640" y="653796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9AA5B1"/>
                </a:solidFill>
                <a:effectLst/>
                <a:uFillTx/>
                <a:latin typeface="Calibri"/>
                <a:ea typeface="Calibri"/>
              </a:rPr>
              <a:t>AI Agent Development Workshop</a:t>
            </a:r>
            <a:endParaRPr lang="en-US" sz="1000" b="0" u="none" strike="noStrike">
              <a:solidFill>
                <a:srgbClr val="000000"/>
              </a:solidFill>
              <a:effectLst/>
              <a:uFillTx/>
              <a:latin typeface="Arial"/>
            </a:endParaRPr>
          </a:p>
        </p:txBody>
      </p:sp>
      <p:sp>
        <p:nvSpPr>
          <p:cNvPr id="302" name="Text 12"/>
          <p:cNvSpPr/>
          <p:nvPr/>
        </p:nvSpPr>
        <p:spPr>
          <a:xfrm>
            <a:off x="10881360" y="6537960"/>
            <a:ext cx="82260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9AA5B1"/>
                </a:solidFill>
                <a:effectLst/>
                <a:uFillTx/>
                <a:latin typeface="Calibri"/>
                <a:ea typeface="Calibri"/>
              </a:rPr>
              <a:t>16 / 19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3" name="Text 0"/>
          <p:cNvSpPr/>
          <p:nvPr/>
        </p:nvSpPr>
        <p:spPr>
          <a:xfrm>
            <a:off x="548640" y="411480"/>
            <a:ext cx="110638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D3557"/>
                </a:solidFill>
                <a:effectLst/>
                <a:uFillTx/>
                <a:latin typeface="Bookman Old Style"/>
                <a:ea typeface="Bookman Old Style"/>
              </a:rPr>
              <a:t>How the next hour works</a:t>
            </a:r>
            <a:endParaRPr lang="en-US" sz="3200" b="0" u="none" strike="noStrike">
              <a:solidFill>
                <a:srgbClr val="000000"/>
              </a:solidFill>
              <a:effectLst/>
              <a:uFillTx/>
              <a:latin typeface="Arial"/>
            </a:endParaRPr>
          </a:p>
        </p:txBody>
      </p:sp>
      <p:sp>
        <p:nvSpPr>
          <p:cNvPr id="304" name="Shape 1"/>
          <p:cNvSpPr/>
          <p:nvPr/>
        </p:nvSpPr>
        <p:spPr>
          <a:xfrm>
            <a:off x="1843920" y="2194560"/>
            <a:ext cx="1188360" cy="118836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5" name="Text 2"/>
          <p:cNvSpPr/>
          <p:nvPr/>
        </p:nvSpPr>
        <p:spPr>
          <a:xfrm>
            <a:off x="1843920" y="2194560"/>
            <a:ext cx="118836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600" b="1" u="none" strike="noStrike">
                <a:solidFill>
                  <a:srgbClr val="FFFFFF"/>
                </a:solidFill>
                <a:effectLst/>
                <a:uFillTx/>
                <a:latin typeface="Calibri"/>
                <a:ea typeface="Calibri"/>
              </a:rPr>
              <a:t>1</a:t>
            </a:r>
            <a:endParaRPr lang="en-US" sz="2600" b="0" u="none" strike="noStrike">
              <a:solidFill>
                <a:srgbClr val="000000"/>
              </a:solidFill>
              <a:effectLst/>
              <a:uFillTx/>
              <a:latin typeface="Arial"/>
            </a:endParaRPr>
          </a:p>
        </p:txBody>
      </p:sp>
      <p:sp>
        <p:nvSpPr>
          <p:cNvPr id="306" name="Text 3"/>
          <p:cNvSpPr/>
          <p:nvPr/>
        </p:nvSpPr>
        <p:spPr>
          <a:xfrm>
            <a:off x="1478160" y="3520440"/>
            <a:ext cx="1919880" cy="639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1D3557"/>
                </a:solidFill>
                <a:effectLst/>
                <a:uFillTx/>
                <a:latin typeface="Calibri"/>
                <a:ea typeface="Calibri"/>
              </a:rPr>
              <a:t>Clone</a:t>
            </a:r>
            <a:endParaRPr lang="en-US"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D3557"/>
                </a:solidFill>
                <a:effectLst/>
                <a:uFillTx/>
                <a:latin typeface="Calibri"/>
                <a:ea typeface="Calibri"/>
              </a:rPr>
              <a:t>the repo</a:t>
            </a:r>
            <a:endParaRPr lang="en-US" sz="1300" b="0" u="none" strike="noStrike">
              <a:solidFill>
                <a:srgbClr val="000000"/>
              </a:solidFill>
              <a:effectLst/>
              <a:uFillTx/>
              <a:latin typeface="Arial"/>
            </a:endParaRPr>
          </a:p>
        </p:txBody>
      </p:sp>
      <p:sp>
        <p:nvSpPr>
          <p:cNvPr id="307" name="Text 4"/>
          <p:cNvSpPr/>
          <p:nvPr/>
        </p:nvSpPr>
        <p:spPr>
          <a:xfrm>
            <a:off x="3032640" y="2194560"/>
            <a:ext cx="63972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2A9D8F"/>
                </a:solidFill>
                <a:effectLst/>
                <a:uFillTx/>
                <a:latin typeface="Calibri"/>
                <a:ea typeface="Calibri"/>
              </a:rPr>
              <a:t>→</a:t>
            </a:r>
            <a:endParaRPr lang="en-US" sz="2200" b="0" u="none" strike="noStrike">
              <a:solidFill>
                <a:srgbClr val="000000"/>
              </a:solidFill>
              <a:effectLst/>
              <a:uFillTx/>
              <a:latin typeface="Arial"/>
            </a:endParaRPr>
          </a:p>
        </p:txBody>
      </p:sp>
      <p:sp>
        <p:nvSpPr>
          <p:cNvPr id="308" name="Shape 5"/>
          <p:cNvSpPr/>
          <p:nvPr/>
        </p:nvSpPr>
        <p:spPr>
          <a:xfrm>
            <a:off x="3672720" y="2194560"/>
            <a:ext cx="1188360" cy="118836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9" name="Text 6"/>
          <p:cNvSpPr/>
          <p:nvPr/>
        </p:nvSpPr>
        <p:spPr>
          <a:xfrm>
            <a:off x="3672720" y="2194560"/>
            <a:ext cx="118836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600" b="1" u="none" strike="noStrike">
                <a:solidFill>
                  <a:srgbClr val="FFFFFF"/>
                </a:solidFill>
                <a:effectLst/>
                <a:uFillTx/>
                <a:latin typeface="Calibri"/>
                <a:ea typeface="Calibri"/>
              </a:rPr>
              <a:t>2</a:t>
            </a:r>
            <a:endParaRPr lang="en-US" sz="2600" b="0" u="none" strike="noStrike">
              <a:solidFill>
                <a:srgbClr val="000000"/>
              </a:solidFill>
              <a:effectLst/>
              <a:uFillTx/>
              <a:latin typeface="Arial"/>
            </a:endParaRPr>
          </a:p>
        </p:txBody>
      </p:sp>
      <p:sp>
        <p:nvSpPr>
          <p:cNvPr id="310" name="Text 7"/>
          <p:cNvSpPr/>
          <p:nvPr/>
        </p:nvSpPr>
        <p:spPr>
          <a:xfrm>
            <a:off x="3306960" y="3520440"/>
            <a:ext cx="1919880" cy="639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1D3557"/>
                </a:solidFill>
                <a:effectLst/>
                <a:uFillTx/>
                <a:latin typeface="Calibri"/>
                <a:ea typeface="Calibri"/>
              </a:rPr>
              <a:t>Pick a</a:t>
            </a:r>
            <a:endParaRPr lang="en-US"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D3557"/>
                </a:solidFill>
                <a:effectLst/>
                <a:uFillTx/>
                <a:latin typeface="Calibri"/>
                <a:ea typeface="Calibri"/>
              </a:rPr>
              <a:t>track</a:t>
            </a:r>
            <a:endParaRPr lang="en-US" sz="1300" b="0" u="none" strike="noStrike">
              <a:solidFill>
                <a:srgbClr val="000000"/>
              </a:solidFill>
              <a:effectLst/>
              <a:uFillTx/>
              <a:latin typeface="Arial"/>
            </a:endParaRPr>
          </a:p>
        </p:txBody>
      </p:sp>
      <p:sp>
        <p:nvSpPr>
          <p:cNvPr id="311" name="Text 8"/>
          <p:cNvSpPr/>
          <p:nvPr/>
        </p:nvSpPr>
        <p:spPr>
          <a:xfrm>
            <a:off x="4861440" y="2194560"/>
            <a:ext cx="63972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2A9D8F"/>
                </a:solidFill>
                <a:effectLst/>
                <a:uFillTx/>
                <a:latin typeface="Calibri"/>
                <a:ea typeface="Calibri"/>
              </a:rPr>
              <a:t>→</a:t>
            </a:r>
            <a:endParaRPr lang="en-US" sz="2200" b="0" u="none" strike="noStrike">
              <a:solidFill>
                <a:srgbClr val="000000"/>
              </a:solidFill>
              <a:effectLst/>
              <a:uFillTx/>
              <a:latin typeface="Arial"/>
            </a:endParaRPr>
          </a:p>
        </p:txBody>
      </p:sp>
      <p:sp>
        <p:nvSpPr>
          <p:cNvPr id="312" name="Shape 9"/>
          <p:cNvSpPr/>
          <p:nvPr/>
        </p:nvSpPr>
        <p:spPr>
          <a:xfrm>
            <a:off x="5501520" y="2194560"/>
            <a:ext cx="1188360" cy="118836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3" name="Text 10"/>
          <p:cNvSpPr/>
          <p:nvPr/>
        </p:nvSpPr>
        <p:spPr>
          <a:xfrm>
            <a:off x="5501520" y="2194560"/>
            <a:ext cx="118836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600" b="1" u="none" strike="noStrike">
                <a:solidFill>
                  <a:srgbClr val="FFFFFF"/>
                </a:solidFill>
                <a:effectLst/>
                <a:uFillTx/>
                <a:latin typeface="Calibri"/>
                <a:ea typeface="Calibri"/>
              </a:rPr>
              <a:t>3</a:t>
            </a:r>
            <a:endParaRPr lang="en-US" sz="2600" b="0" u="none" strike="noStrike">
              <a:solidFill>
                <a:srgbClr val="000000"/>
              </a:solidFill>
              <a:effectLst/>
              <a:uFillTx/>
              <a:latin typeface="Arial"/>
            </a:endParaRPr>
          </a:p>
        </p:txBody>
      </p:sp>
      <p:sp>
        <p:nvSpPr>
          <p:cNvPr id="314" name="Text 11"/>
          <p:cNvSpPr/>
          <p:nvPr/>
        </p:nvSpPr>
        <p:spPr>
          <a:xfrm>
            <a:off x="5135760" y="3520440"/>
            <a:ext cx="1919880" cy="639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1D3557"/>
                </a:solidFill>
                <a:effectLst/>
                <a:uFillTx/>
                <a:latin typeface="Calibri"/>
                <a:ea typeface="Calibri"/>
              </a:rPr>
              <a:t>Build from</a:t>
            </a:r>
            <a:endParaRPr lang="en-US"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D3557"/>
                </a:solidFill>
                <a:effectLst/>
                <a:uFillTx/>
                <a:latin typeface="Calibri"/>
                <a:ea typeface="Calibri"/>
              </a:rPr>
              <a:t>starter/</a:t>
            </a:r>
            <a:endParaRPr lang="en-US" sz="1300" b="0" u="none" strike="noStrike">
              <a:solidFill>
                <a:srgbClr val="000000"/>
              </a:solidFill>
              <a:effectLst/>
              <a:uFillTx/>
              <a:latin typeface="Arial"/>
            </a:endParaRPr>
          </a:p>
        </p:txBody>
      </p:sp>
      <p:sp>
        <p:nvSpPr>
          <p:cNvPr id="315" name="Text 12"/>
          <p:cNvSpPr/>
          <p:nvPr/>
        </p:nvSpPr>
        <p:spPr>
          <a:xfrm>
            <a:off x="6690240" y="2194560"/>
            <a:ext cx="63972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2A9D8F"/>
                </a:solidFill>
                <a:effectLst/>
                <a:uFillTx/>
                <a:latin typeface="Calibri"/>
                <a:ea typeface="Calibri"/>
              </a:rPr>
              <a:t>→</a:t>
            </a:r>
            <a:endParaRPr lang="en-US" sz="2200" b="0" u="none" strike="noStrike">
              <a:solidFill>
                <a:srgbClr val="000000"/>
              </a:solidFill>
              <a:effectLst/>
              <a:uFillTx/>
              <a:latin typeface="Arial"/>
            </a:endParaRPr>
          </a:p>
        </p:txBody>
      </p:sp>
      <p:sp>
        <p:nvSpPr>
          <p:cNvPr id="316" name="Shape 13"/>
          <p:cNvSpPr/>
          <p:nvPr/>
        </p:nvSpPr>
        <p:spPr>
          <a:xfrm>
            <a:off x="7330320" y="2194560"/>
            <a:ext cx="1188360" cy="118836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7" name="Text 14"/>
          <p:cNvSpPr/>
          <p:nvPr/>
        </p:nvSpPr>
        <p:spPr>
          <a:xfrm>
            <a:off x="7330320" y="2194560"/>
            <a:ext cx="118836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600" b="1" u="none" strike="noStrike">
                <a:solidFill>
                  <a:srgbClr val="FFFFFF"/>
                </a:solidFill>
                <a:effectLst/>
                <a:uFillTx/>
                <a:latin typeface="Calibri"/>
                <a:ea typeface="Calibri"/>
              </a:rPr>
              <a:t>4</a:t>
            </a:r>
            <a:endParaRPr lang="en-US" sz="2600" b="0" u="none" strike="noStrike">
              <a:solidFill>
                <a:srgbClr val="000000"/>
              </a:solidFill>
              <a:effectLst/>
              <a:uFillTx/>
              <a:latin typeface="Arial"/>
            </a:endParaRPr>
          </a:p>
        </p:txBody>
      </p:sp>
      <p:sp>
        <p:nvSpPr>
          <p:cNvPr id="318" name="Text 15"/>
          <p:cNvSpPr/>
          <p:nvPr/>
        </p:nvSpPr>
        <p:spPr>
          <a:xfrm>
            <a:off x="6964560" y="3520440"/>
            <a:ext cx="1919880" cy="639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1D3557"/>
                </a:solidFill>
                <a:effectLst/>
                <a:uFillTx/>
                <a:latin typeface="Calibri"/>
                <a:ea typeface="Calibri"/>
              </a:rPr>
              <a:t>Ask for</a:t>
            </a:r>
            <a:endParaRPr lang="en-US"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D3557"/>
                </a:solidFill>
                <a:effectLst/>
                <a:uFillTx/>
                <a:latin typeface="Calibri"/>
                <a:ea typeface="Calibri"/>
              </a:rPr>
              <a:t>help</a:t>
            </a:r>
            <a:endParaRPr lang="en-US" sz="1300" b="0" u="none" strike="noStrike">
              <a:solidFill>
                <a:srgbClr val="000000"/>
              </a:solidFill>
              <a:effectLst/>
              <a:uFillTx/>
              <a:latin typeface="Arial"/>
            </a:endParaRPr>
          </a:p>
        </p:txBody>
      </p:sp>
      <p:sp>
        <p:nvSpPr>
          <p:cNvPr id="319" name="Text 16"/>
          <p:cNvSpPr/>
          <p:nvPr/>
        </p:nvSpPr>
        <p:spPr>
          <a:xfrm>
            <a:off x="8519040" y="2194560"/>
            <a:ext cx="63972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2A9D8F"/>
                </a:solidFill>
                <a:effectLst/>
                <a:uFillTx/>
                <a:latin typeface="Calibri"/>
                <a:ea typeface="Calibri"/>
              </a:rPr>
              <a:t>→</a:t>
            </a:r>
            <a:endParaRPr lang="en-US" sz="2200" b="0" u="none" strike="noStrike">
              <a:solidFill>
                <a:srgbClr val="000000"/>
              </a:solidFill>
              <a:effectLst/>
              <a:uFillTx/>
              <a:latin typeface="Arial"/>
            </a:endParaRPr>
          </a:p>
        </p:txBody>
      </p:sp>
      <p:sp>
        <p:nvSpPr>
          <p:cNvPr id="320" name="Shape 17"/>
          <p:cNvSpPr/>
          <p:nvPr/>
        </p:nvSpPr>
        <p:spPr>
          <a:xfrm>
            <a:off x="9159120" y="2194560"/>
            <a:ext cx="1188360" cy="1188360"/>
          </a:xfrm>
          <a:prstGeom prst="ellipse">
            <a:avLst/>
          </a:prstGeom>
          <a:solidFill>
            <a:srgbClr val="1D355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1" name="Text 18"/>
          <p:cNvSpPr/>
          <p:nvPr/>
        </p:nvSpPr>
        <p:spPr>
          <a:xfrm>
            <a:off x="9159120" y="2194560"/>
            <a:ext cx="1188360" cy="1188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600" b="1" u="none" strike="noStrike">
                <a:solidFill>
                  <a:srgbClr val="FFFFFF"/>
                </a:solidFill>
                <a:effectLst/>
                <a:uFillTx/>
                <a:latin typeface="Calibri"/>
                <a:ea typeface="Calibri"/>
              </a:rPr>
              <a:t>5</a:t>
            </a:r>
            <a:endParaRPr lang="en-US" sz="2600" b="0" u="none" strike="noStrike">
              <a:solidFill>
                <a:srgbClr val="000000"/>
              </a:solidFill>
              <a:effectLst/>
              <a:uFillTx/>
              <a:latin typeface="Arial"/>
            </a:endParaRPr>
          </a:p>
        </p:txBody>
      </p:sp>
      <p:sp>
        <p:nvSpPr>
          <p:cNvPr id="322" name="Text 19"/>
          <p:cNvSpPr/>
          <p:nvPr/>
        </p:nvSpPr>
        <p:spPr>
          <a:xfrm>
            <a:off x="8793360" y="3520440"/>
            <a:ext cx="1919880" cy="639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1D3557"/>
                </a:solidFill>
                <a:effectLst/>
                <a:uFillTx/>
                <a:latin typeface="Calibri"/>
                <a:ea typeface="Calibri"/>
              </a:rPr>
              <a:t>Demo at</a:t>
            </a:r>
            <a:endParaRPr lang="en-US"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D3557"/>
                </a:solidFill>
                <a:effectLst/>
                <a:uFillTx/>
                <a:latin typeface="Calibri"/>
                <a:ea typeface="Calibri"/>
              </a:rPr>
              <a:t>3:45</a:t>
            </a:r>
            <a:endParaRPr lang="en-US" sz="1300" b="0" u="none" strike="noStrike">
              <a:solidFill>
                <a:srgbClr val="000000"/>
              </a:solidFill>
              <a:effectLst/>
              <a:uFillTx/>
              <a:latin typeface="Arial"/>
            </a:endParaRPr>
          </a:p>
        </p:txBody>
      </p:sp>
      <p:sp>
        <p:nvSpPr>
          <p:cNvPr id="323" name="Shape 20"/>
          <p:cNvSpPr/>
          <p:nvPr/>
        </p:nvSpPr>
        <p:spPr>
          <a:xfrm>
            <a:off x="640080" y="4617720"/>
            <a:ext cx="10881000" cy="1462680"/>
          </a:xfrm>
          <a:prstGeom prst="roundRect">
            <a:avLst>
              <a:gd name="adj" fmla="val 7500"/>
            </a:avLst>
          </a:prstGeom>
          <a:solidFill>
            <a:srgbClr val="F1F5F9"/>
          </a:solidFill>
          <a:ln w="0">
            <a:noFill/>
          </a:ln>
          <a:effectLst>
            <a:outerShdw algn="bl" blurRad="76320" dir="5400000" dist="25560" kx="0" ky="0" rotWithShape="0" sx="100000" sy="100000">
              <a:srgbClr val="1D3557">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24" name="Text 21"/>
          <p:cNvSpPr/>
          <p:nvPr/>
        </p:nvSpPr>
        <p:spPr>
          <a:xfrm>
            <a:off x="914400" y="4800600"/>
            <a:ext cx="10332360" cy="1096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i="1" u="none" strike="noStrike">
                <a:solidFill>
                  <a:srgbClr val="3A3A3A"/>
                </a:solidFill>
                <a:effectLst/>
                <a:uFillTx/>
                <a:latin typeface="Calibri"/>
                <a:ea typeface="Calibri"/>
              </a:rPr>
              <a:t>If you don't finish, that's fine — jump to whichever phase matches your remaining time, phase_00 through phase_04 each work standalone. Stuck? reference_solution/ is there to check against, not to copy first.</a:t>
            </a:r>
            <a:endParaRPr lang="en-US" sz="1400" b="0" u="none" strike="noStrike">
              <a:solidFill>
                <a:srgbClr val="000000"/>
              </a:solidFill>
              <a:effectLst/>
              <a:uFillTx/>
              <a:latin typeface="Arial"/>
            </a:endParaRPr>
          </a:p>
        </p:txBody>
      </p:sp>
      <p:sp>
        <p:nvSpPr>
          <p:cNvPr id="325" name="Text 22"/>
          <p:cNvSpPr/>
          <p:nvPr/>
        </p:nvSpPr>
        <p:spPr>
          <a:xfrm>
            <a:off x="548640" y="6537960"/>
            <a:ext cx="548604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9AA5B1"/>
                </a:solidFill>
                <a:effectLst/>
                <a:uFillTx/>
                <a:latin typeface="Calibri"/>
                <a:ea typeface="Calibri"/>
              </a:rPr>
              <a:t>AI Agent Development Workshop</a:t>
            </a:r>
            <a:endParaRPr lang="en-US" sz="1000" b="0" u="none" strike="noStrike">
              <a:solidFill>
                <a:srgbClr val="000000"/>
              </a:solidFill>
              <a:effectLst/>
              <a:uFillTx/>
              <a:latin typeface="Arial"/>
            </a:endParaRPr>
          </a:p>
        </p:txBody>
      </p:sp>
      <p:sp>
        <p:nvSpPr>
          <p:cNvPr id="326" name="Text 23"/>
          <p:cNvSpPr/>
          <p:nvPr/>
        </p:nvSpPr>
        <p:spPr>
          <a:xfrm>
            <a:off x="10881360" y="6537960"/>
            <a:ext cx="822600" cy="27396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000" b="0" u="none" strike="noStrike">
                <a:solidFill>
                  <a:srgbClr val="9AA5B1"/>
                </a:solidFill>
                <a:effectLst/>
                <a:uFillTx/>
                <a:latin typeface="Calibri"/>
                <a:ea typeface="Calibri"/>
              </a:rPr>
              <a:t>17 / 19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D3557"/>
        </a:solidFill>
      </p:bgPr>
    </p:bg>
    <p:spTree>
      <p:nvGrpSpPr>
        <p:cNvPr id="1" name=""/>
        <p:cNvGrpSpPr/>
        <p:nvPr/>
      </p:nvGrpSpPr>
      <p:grpSpPr>
        <a:xfrm>
          <a:off x="0" y="0"/>
          <a:ext cx="0" cy="0"/>
          <a:chOff x="0" y="0"/>
          <a:chExt cx="0" cy="0"/>
        </a:xfrm>
      </p:grpSpPr>
      <p:sp>
        <p:nvSpPr>
          <p:cNvPr id="327" name="Shape 0"/>
          <p:cNvSpPr/>
          <p:nvPr/>
        </p:nvSpPr>
        <p:spPr>
          <a:xfrm>
            <a:off x="8778240" y="-2011680"/>
            <a:ext cx="5486040" cy="5486040"/>
          </a:xfrm>
          <a:prstGeom prst="ellipse">
            <a:avLst/>
          </a:prstGeom>
          <a:solidFill>
            <a:srgbClr val="2A9D8F">
              <a:alpha val="12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8" name="Shape 1"/>
          <p:cNvSpPr/>
          <p:nvPr/>
        </p:nvSpPr>
        <p:spPr>
          <a:xfrm>
            <a:off x="-2103120" y="4480560"/>
            <a:ext cx="3840120" cy="3840120"/>
          </a:xfrm>
          <a:prstGeom prst="ellipse">
            <a:avLst/>
          </a:prstGeom>
          <a:solidFill>
            <a:srgbClr val="2A9D8F">
              <a:alpha val="10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9" name="Text 2"/>
          <p:cNvSpPr/>
          <p:nvPr/>
        </p:nvSpPr>
        <p:spPr>
          <a:xfrm>
            <a:off x="822960" y="1371600"/>
            <a:ext cx="100580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D6E4F0"/>
                </a:solidFill>
                <a:effectLst/>
                <a:uFillTx/>
                <a:latin typeface="Calibri"/>
                <a:ea typeface="Calibri"/>
              </a:rPr>
              <a:t>ONE MORE THING</a:t>
            </a:r>
            <a:endParaRPr lang="en-US" sz="1500" b="0" u="none" strike="noStrike">
              <a:solidFill>
                <a:srgbClr val="FFFFFF"/>
              </a:solidFill>
              <a:effectLst/>
              <a:uFillTx/>
              <a:latin typeface="Arial"/>
            </a:endParaRPr>
          </a:p>
        </p:txBody>
      </p:sp>
      <p:sp>
        <p:nvSpPr>
          <p:cNvPr id="330" name="Text 3"/>
          <p:cNvSpPr/>
          <p:nvPr/>
        </p:nvSpPr>
        <p:spPr>
          <a:xfrm>
            <a:off x="822960" y="1965960"/>
            <a:ext cx="10332360" cy="1371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300" b="1" u="none" strike="noStrike">
                <a:solidFill>
                  <a:srgbClr val="FFFFFF"/>
                </a:solidFill>
                <a:effectLst/>
                <a:uFillTx/>
                <a:latin typeface="Bookman Old Style"/>
                <a:ea typeface="Bookman Old Style"/>
              </a:rPr>
              <a:t>This entire workshop was built by an AI agent.</a:t>
            </a:r>
            <a:endParaRPr lang="en-US" sz="3300" b="0" u="none" strike="noStrike">
              <a:solidFill>
                <a:srgbClr val="FFFFFF"/>
              </a:solidFill>
              <a:effectLst/>
              <a:uFillTx/>
              <a:latin typeface="Arial"/>
            </a:endParaRPr>
          </a:p>
        </p:txBody>
      </p:sp>
      <p:sp>
        <p:nvSpPr>
          <p:cNvPr id="331" name="Text 4"/>
          <p:cNvSpPr/>
          <p:nvPr/>
        </p:nvSpPr>
        <p:spPr>
          <a:xfrm>
            <a:off x="822960" y="3429000"/>
            <a:ext cx="10058040" cy="1188360"/>
          </a:xfrm>
          <a:prstGeom prst="rect">
            <a:avLst/>
          </a:prstGeom>
          <a:noFill/>
          <a:ln w="0">
            <a:noFill/>
          </a:ln>
        </p:spPr>
        <p:style>
          <a:lnRef idx="0"/>
          <a:fillRef idx="0"/>
          <a:effectRef idx="0"/>
          <a:fontRef idx="minor"/>
        </p:style>
        <p:txBody>
          <a:bodyPr lIns="0" tIns="0" rIns="0" bIns="0" anchor="ctr">
            <a:noAutofit/>
          </a:bodyPr>
          <a:p>
            <a:pPr defTabSz="914400">
              <a:lnSpc>
                <a:spcPct val="130000"/>
              </a:lnSpc>
              <a:tabLst>
                <a:tab pos="0" algn="l"/>
              </a:tabLst>
            </a:pPr>
            <a:r>
              <a:rPr lang="en-US" sz="1700" b="0" i="1" u="none" strike="noStrike">
                <a:solidFill>
                  <a:srgbClr val="D6E4F0"/>
                </a:solidFill>
                <a:effectLst/>
                <a:uFillTx/>
                <a:latin typeface="Calibri"/>
                <a:ea typeface="Calibri"/>
              </a:rPr>
              <a:t>The slides. The phase-by-phase code. The three track projects. This cheat sheet.</a:t>
            </a:r>
            <a:endParaRPr lang="en-US" sz="1700" b="0" u="none" strike="noStrike">
              <a:solidFill>
                <a:srgbClr val="FFFFFF"/>
              </a:solidFill>
              <a:effectLst/>
              <a:uFillTx/>
              <a:latin typeface="Arial"/>
            </a:endParaRPr>
          </a:p>
          <a:p>
            <a:pPr defTabSz="914400">
              <a:lnSpc>
                <a:spcPct val="130000"/>
              </a:lnSpc>
              <a:tabLst>
                <a:tab pos="0" algn="l"/>
              </a:tabLst>
            </a:pPr>
            <a:r>
              <a:rPr lang="en-US" sz="1700" b="0" i="1" u="none" strike="noStrike">
                <a:solidFill>
                  <a:srgbClr val="D6E4F0"/>
                </a:solidFill>
                <a:effectLst/>
                <a:uFillTx/>
                <a:latin typeface="Calibri"/>
                <a:ea typeface="Calibri"/>
              </a:rPr>
              <a:t>Me as the human in the loop — the exact same agent loop you just watched in phases 1–4.</a:t>
            </a:r>
            <a:endParaRPr lang="en-US" sz="17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D3557"/>
        </a:solidFill>
      </p:bgPr>
    </p:bg>
    <p:spTree>
      <p:nvGrpSpPr>
        <p:cNvPr id="1" name=""/>
        <p:cNvGrpSpPr/>
        <p:nvPr/>
      </p:nvGrpSpPr>
      <p:grpSpPr>
        <a:xfrm>
          <a:off x="0" y="0"/>
          <a:ext cx="0" cy="0"/>
          <a:chOff x="0" y="0"/>
          <a:chExt cx="0" cy="0"/>
        </a:xfrm>
      </p:grpSpPr>
      <p:sp>
        <p:nvSpPr>
          <p:cNvPr id="332" name="Shape 0"/>
          <p:cNvSpPr/>
          <p:nvPr/>
        </p:nvSpPr>
        <p:spPr>
          <a:xfrm>
            <a:off x="8778240" y="-2011680"/>
            <a:ext cx="5486040" cy="5486040"/>
          </a:xfrm>
          <a:prstGeom prst="ellipse">
            <a:avLst/>
          </a:prstGeom>
          <a:solidFill>
            <a:srgbClr val="2A9D8F">
              <a:alpha val="12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3" name="Shape 1"/>
          <p:cNvSpPr/>
          <p:nvPr/>
        </p:nvSpPr>
        <p:spPr>
          <a:xfrm>
            <a:off x="-2103120" y="4480560"/>
            <a:ext cx="3840120" cy="3840120"/>
          </a:xfrm>
          <a:prstGeom prst="ellipse">
            <a:avLst/>
          </a:prstGeom>
          <a:solidFill>
            <a:srgbClr val="2A9D8F">
              <a:alpha val="10000"/>
            </a:srgbClr>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4" name="Text 2"/>
          <p:cNvSpPr/>
          <p:nvPr/>
        </p:nvSpPr>
        <p:spPr>
          <a:xfrm>
            <a:off x="822960" y="1005840"/>
            <a:ext cx="100580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D6E4F0"/>
                </a:solidFill>
                <a:effectLst/>
                <a:uFillTx/>
                <a:latin typeface="Calibri"/>
                <a:ea typeface="Calibri"/>
              </a:rPr>
              <a:t>THE TAKEAWAY</a:t>
            </a:r>
            <a:endParaRPr lang="en-US" sz="1500" b="0" u="none" strike="noStrike">
              <a:solidFill>
                <a:srgbClr val="FFFFFF"/>
              </a:solidFill>
              <a:effectLst/>
              <a:uFillTx/>
              <a:latin typeface="Arial"/>
            </a:endParaRPr>
          </a:p>
        </p:txBody>
      </p:sp>
      <p:sp>
        <p:nvSpPr>
          <p:cNvPr id="335" name="Shape 3"/>
          <p:cNvSpPr/>
          <p:nvPr/>
        </p:nvSpPr>
        <p:spPr>
          <a:xfrm>
            <a:off x="822960" y="168264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336" name="Text 4"/>
          <p:cNvSpPr/>
          <p:nvPr/>
        </p:nvSpPr>
        <p:spPr>
          <a:xfrm>
            <a:off x="1078920" y="1545480"/>
            <a:ext cx="961920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FFFFFF"/>
                </a:solidFill>
                <a:effectLst/>
                <a:uFillTx/>
                <a:latin typeface="Calibri"/>
                <a:ea typeface="Calibri"/>
              </a:rPr>
              <a:t>A one-page cheat sheet: core steps, prompt template, key links, “stuck at X → jump to phase Y”</a:t>
            </a:r>
            <a:endParaRPr lang="en-US" sz="1600" b="0" u="none" strike="noStrike">
              <a:solidFill>
                <a:srgbClr val="FFFFFF"/>
              </a:solidFill>
              <a:effectLst/>
              <a:uFillTx/>
              <a:latin typeface="Arial"/>
            </a:endParaRPr>
          </a:p>
        </p:txBody>
      </p:sp>
      <p:sp>
        <p:nvSpPr>
          <p:cNvPr id="337" name="Shape 5"/>
          <p:cNvSpPr/>
          <p:nvPr/>
        </p:nvSpPr>
        <p:spPr>
          <a:xfrm>
            <a:off x="822960" y="2277000"/>
            <a:ext cx="100080" cy="100080"/>
          </a:xfrm>
          <a:prstGeom prst="ellipse">
            <a:avLst/>
          </a:prstGeom>
          <a:solidFill>
            <a:srgbClr val="2A9D8F"/>
          </a:solidFill>
          <a:ln w="0">
            <a:noFill/>
          </a:ln>
        </p:spPr>
        <p:style>
          <a:lnRef idx="0"/>
          <a:fillRef idx="0"/>
          <a:effectRef idx="0"/>
          <a:fontRef idx="minor"/>
        </p:style>
        <p:txBody>
          <a:bodyPr lIns="90000" tIns="26280" rIns="90000" bIns="26280" anchor="t">
            <a:noAutofit/>
          </a:bodyPr>
          <a:p>
            <a:endParaRPr lang="en-US" sz="1800" b="0" u="none" strike="noStrike">
              <a:solidFill>
                <a:srgbClr val="FFFFFF"/>
              </a:solidFill>
              <a:effectLst/>
              <a:uFillTx/>
              <a:latin typeface="Arial"/>
            </a:endParaRPr>
          </a:p>
        </p:txBody>
      </p:sp>
      <p:sp>
        <p:nvSpPr>
          <p:cNvPr id="338" name="Text 6"/>
          <p:cNvSpPr/>
          <p:nvPr/>
        </p:nvSpPr>
        <p:spPr>
          <a:xfrm>
            <a:off x="1078920" y="2139840"/>
            <a:ext cx="961920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FFFFFF"/>
                </a:solidFill>
                <a:effectLst/>
                <a:uFillTx/>
                <a:latin typeface="Calibri"/>
                <a:ea typeface="Calibri"/>
              </a:rPr>
              <a:t>template/new_agent_template.py — a reusable scaffold for your next agent project, after today</a:t>
            </a:r>
            <a:endParaRPr lang="en-US" sz="1600" b="0" u="none" strike="noStrike">
              <a:solidFill>
                <a:srgbClr val="FFFFFF"/>
              </a:solidFill>
              <a:effectLst/>
              <a:uFillTx/>
              <a:latin typeface="Arial"/>
            </a:endParaRPr>
          </a:p>
        </p:txBody>
      </p:sp>
      <p:sp>
        <p:nvSpPr>
          <p:cNvPr id="339" name="Text 7"/>
          <p:cNvSpPr/>
          <p:nvPr/>
        </p:nvSpPr>
        <p:spPr>
          <a:xfrm>
            <a:off x="822960" y="4114800"/>
            <a:ext cx="10332360" cy="1462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5600" b="1" u="none" strike="noStrike">
                <a:solidFill>
                  <a:srgbClr val="FFFFFF"/>
                </a:solidFill>
                <a:effectLst/>
                <a:uFillTx/>
                <a:latin typeface="Bookman Old Style"/>
                <a:ea typeface="Bookman Old Style"/>
              </a:rPr>
              <a:t>Let's build.</a:t>
            </a:r>
            <a:endParaRPr lang="en-US" sz="5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LibreOffice/26.2.5.2$Windows_X86_64 LibreOffice_project/cd7284b4cbbfeb507e630c1aac019f4157393acb</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2026-09-03T20:24:21Z</dcterms:created>
  <dc:creator>PptxGenJS</dc:creator>
  <dc:description/>
  <dc:language>en-US</dc:language>
  <cp:lastModifiedBy/>
  <dcterms:modified xsi:type="dcterms:W3CDTF">2026-09-04T02:03:45Z</dcterms:modified>
  <cp:revision>2</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19</vt:i4>
  </property>
  <property fmtid="{D5CDD505-2E9C-101B-9397-08002B2CF9AE}" pid="3" name="PresentationFormat">
    <vt:lpwstr>On-screen Show (16:9)</vt:lpwstr>
  </property>
  <property fmtid="{D5CDD505-2E9C-101B-9397-08002B2CF9AE}" pid="4" name="Slides">
    <vt:i4>19</vt:i4>
  </property>
</Properties>
</file>